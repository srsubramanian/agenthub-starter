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2"/>
    <p:sldId id="258" r:id="rId3"/>
    <p:sldId id="259" r:id="rId4"/>
    <p:sldId id="260" r:id="rId5"/>
    <p:sldId id="282" r:id="rId6"/>
    <p:sldId id="287" r:id="rId7"/>
    <p:sldId id="288" r:id="rId8"/>
    <p:sldId id="289" r:id="rId9"/>
    <p:sldId id="265" r:id="rId10"/>
    <p:sldId id="266" r:id="rId11"/>
    <p:sldId id="267" r:id="rId12"/>
    <p:sldId id="268" r:id="rId13"/>
    <p:sldId id="269" r:id="rId14"/>
    <p:sldId id="279" r:id="rId15"/>
    <p:sldId id="280" r:id="rId16"/>
    <p:sldId id="281" r:id="rId17"/>
    <p:sldId id="273" r:id="rId18"/>
    <p:sldId id="274" r:id="rId19"/>
    <p:sldId id="275" r:id="rId20"/>
    <p:sldId id="276" r:id="rId21"/>
    <p:sldId id="277"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68"/>
    <p:restoredTop sz="94674"/>
  </p:normalViewPr>
  <p:slideViewPr>
    <p:cSldViewPr snapToGrid="0">
      <p:cViewPr varScale="1">
        <p:scale>
          <a:sx n="188" d="100"/>
          <a:sy n="188" d="100"/>
        </p:scale>
        <p:origin x="208"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A2DD3-910F-9E3B-066F-F3D0D97F93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2A1722-7868-5A3B-AC42-5A4DE16810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9FDE19-83CB-56E9-C7E3-AB2D4B3FA94A}"/>
              </a:ext>
            </a:extLst>
          </p:cNvPr>
          <p:cNvSpPr>
            <a:spLocks noGrp="1"/>
          </p:cNvSpPr>
          <p:nvPr>
            <p:ph type="dt" sz="half" idx="10"/>
          </p:nvPr>
        </p:nvSpPr>
        <p:spPr/>
        <p:txBody>
          <a:bodyPr/>
          <a:lstStyle/>
          <a:p>
            <a:fld id="{EAD72DF8-68C0-184C-9752-27DB4A78AEAC}" type="datetimeFigureOut">
              <a:rPr lang="en-US" smtClean="0"/>
              <a:t>5/4/2026</a:t>
            </a:fld>
            <a:endParaRPr lang="en-US"/>
          </a:p>
        </p:txBody>
      </p:sp>
      <p:sp>
        <p:nvSpPr>
          <p:cNvPr id="5" name="Footer Placeholder 4">
            <a:extLst>
              <a:ext uri="{FF2B5EF4-FFF2-40B4-BE49-F238E27FC236}">
                <a16:creationId xmlns:a16="http://schemas.microsoft.com/office/drawing/2014/main" id="{664DAE3E-7547-7B43-29BD-C2CC5129C8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9350B6-283D-22AA-ED15-5EE2BD7DF5F1}"/>
              </a:ext>
            </a:extLst>
          </p:cNvPr>
          <p:cNvSpPr>
            <a:spLocks noGrp="1"/>
          </p:cNvSpPr>
          <p:nvPr>
            <p:ph type="sldNum" sz="quarter" idx="12"/>
          </p:nvPr>
        </p:nvSpPr>
        <p:spPr/>
        <p:txBody>
          <a:bodyPr/>
          <a:lstStyle/>
          <a:p>
            <a:fld id="{BAFEA47C-CEBF-324A-81B5-5C590EF3FB7D}" type="slidenum">
              <a:rPr lang="en-US" smtClean="0"/>
              <a:t>‹#›</a:t>
            </a:fld>
            <a:endParaRPr lang="en-US"/>
          </a:p>
        </p:txBody>
      </p:sp>
    </p:spTree>
    <p:extLst>
      <p:ext uri="{BB962C8B-B14F-4D97-AF65-F5344CB8AC3E}">
        <p14:creationId xmlns:p14="http://schemas.microsoft.com/office/powerpoint/2010/main" val="3251259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BFCEB-2840-7B54-F9D6-C48D531F68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D4D2F1-73FB-67CF-DCC2-1DA249952C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E56E0-B356-9D7B-D97F-1D6D8B04A0DF}"/>
              </a:ext>
            </a:extLst>
          </p:cNvPr>
          <p:cNvSpPr>
            <a:spLocks noGrp="1"/>
          </p:cNvSpPr>
          <p:nvPr>
            <p:ph type="dt" sz="half" idx="10"/>
          </p:nvPr>
        </p:nvSpPr>
        <p:spPr/>
        <p:txBody>
          <a:bodyPr/>
          <a:lstStyle/>
          <a:p>
            <a:fld id="{EAD72DF8-68C0-184C-9752-27DB4A78AEAC}" type="datetimeFigureOut">
              <a:rPr lang="en-US" smtClean="0"/>
              <a:t>5/4/2026</a:t>
            </a:fld>
            <a:endParaRPr lang="en-US"/>
          </a:p>
        </p:txBody>
      </p:sp>
      <p:sp>
        <p:nvSpPr>
          <p:cNvPr id="5" name="Footer Placeholder 4">
            <a:extLst>
              <a:ext uri="{FF2B5EF4-FFF2-40B4-BE49-F238E27FC236}">
                <a16:creationId xmlns:a16="http://schemas.microsoft.com/office/drawing/2014/main" id="{FD700536-41B0-E237-719C-0ED030D10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DDCEC7-D673-1CF9-4C79-EC58600C4A23}"/>
              </a:ext>
            </a:extLst>
          </p:cNvPr>
          <p:cNvSpPr>
            <a:spLocks noGrp="1"/>
          </p:cNvSpPr>
          <p:nvPr>
            <p:ph type="sldNum" sz="quarter" idx="12"/>
          </p:nvPr>
        </p:nvSpPr>
        <p:spPr/>
        <p:txBody>
          <a:bodyPr/>
          <a:lstStyle/>
          <a:p>
            <a:fld id="{BAFEA47C-CEBF-324A-81B5-5C590EF3FB7D}" type="slidenum">
              <a:rPr lang="en-US" smtClean="0"/>
              <a:t>‹#›</a:t>
            </a:fld>
            <a:endParaRPr lang="en-US"/>
          </a:p>
        </p:txBody>
      </p:sp>
    </p:spTree>
    <p:extLst>
      <p:ext uri="{BB962C8B-B14F-4D97-AF65-F5344CB8AC3E}">
        <p14:creationId xmlns:p14="http://schemas.microsoft.com/office/powerpoint/2010/main" val="4203947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DE19A-7CD1-208C-D9B0-CDD3885CAA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294D02-99D8-0C4F-78AB-C42AFDB0E0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2581C2-CFF9-E69F-3F76-0FA42D96926B}"/>
              </a:ext>
            </a:extLst>
          </p:cNvPr>
          <p:cNvSpPr>
            <a:spLocks noGrp="1"/>
          </p:cNvSpPr>
          <p:nvPr>
            <p:ph type="dt" sz="half" idx="10"/>
          </p:nvPr>
        </p:nvSpPr>
        <p:spPr/>
        <p:txBody>
          <a:bodyPr/>
          <a:lstStyle/>
          <a:p>
            <a:fld id="{EAD72DF8-68C0-184C-9752-27DB4A78AEAC}" type="datetimeFigureOut">
              <a:rPr lang="en-US" smtClean="0"/>
              <a:t>5/4/2026</a:t>
            </a:fld>
            <a:endParaRPr lang="en-US"/>
          </a:p>
        </p:txBody>
      </p:sp>
      <p:sp>
        <p:nvSpPr>
          <p:cNvPr id="5" name="Footer Placeholder 4">
            <a:extLst>
              <a:ext uri="{FF2B5EF4-FFF2-40B4-BE49-F238E27FC236}">
                <a16:creationId xmlns:a16="http://schemas.microsoft.com/office/drawing/2014/main" id="{9230E7C3-D7C1-F03C-0BA0-FBEE8D497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9A6974-0393-94A9-3805-8602F027DE49}"/>
              </a:ext>
            </a:extLst>
          </p:cNvPr>
          <p:cNvSpPr>
            <a:spLocks noGrp="1"/>
          </p:cNvSpPr>
          <p:nvPr>
            <p:ph type="sldNum" sz="quarter" idx="12"/>
          </p:nvPr>
        </p:nvSpPr>
        <p:spPr/>
        <p:txBody>
          <a:bodyPr/>
          <a:lstStyle/>
          <a:p>
            <a:fld id="{BAFEA47C-CEBF-324A-81B5-5C590EF3FB7D}" type="slidenum">
              <a:rPr lang="en-US" smtClean="0"/>
              <a:t>‹#›</a:t>
            </a:fld>
            <a:endParaRPr lang="en-US"/>
          </a:p>
        </p:txBody>
      </p:sp>
    </p:spTree>
    <p:extLst>
      <p:ext uri="{BB962C8B-B14F-4D97-AF65-F5344CB8AC3E}">
        <p14:creationId xmlns:p14="http://schemas.microsoft.com/office/powerpoint/2010/main" val="4199408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BC3FB-1312-1B16-A6A5-41A5234129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B796EF-7333-800C-CBD4-D8EDC1379D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9773EED-A595-FFAB-278B-44C0F290ED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485F31-6DCF-9823-66DB-CE40B620D2FE}"/>
              </a:ext>
            </a:extLst>
          </p:cNvPr>
          <p:cNvSpPr>
            <a:spLocks noGrp="1"/>
          </p:cNvSpPr>
          <p:nvPr>
            <p:ph type="dt" sz="half" idx="10"/>
          </p:nvPr>
        </p:nvSpPr>
        <p:spPr/>
        <p:txBody>
          <a:bodyPr/>
          <a:lstStyle/>
          <a:p>
            <a:fld id="{EAD72DF8-68C0-184C-9752-27DB4A78AEAC}" type="datetimeFigureOut">
              <a:rPr lang="en-US" smtClean="0"/>
              <a:t>5/4/2026</a:t>
            </a:fld>
            <a:endParaRPr lang="en-US"/>
          </a:p>
        </p:txBody>
      </p:sp>
      <p:sp>
        <p:nvSpPr>
          <p:cNvPr id="6" name="Footer Placeholder 5">
            <a:extLst>
              <a:ext uri="{FF2B5EF4-FFF2-40B4-BE49-F238E27FC236}">
                <a16:creationId xmlns:a16="http://schemas.microsoft.com/office/drawing/2014/main" id="{95AFCC3E-81A9-A499-F3FB-362543CD97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CADBA9-9F74-84E6-B8F7-8E70988C7547}"/>
              </a:ext>
            </a:extLst>
          </p:cNvPr>
          <p:cNvSpPr>
            <a:spLocks noGrp="1"/>
          </p:cNvSpPr>
          <p:nvPr>
            <p:ph type="sldNum" sz="quarter" idx="12"/>
          </p:nvPr>
        </p:nvSpPr>
        <p:spPr/>
        <p:txBody>
          <a:bodyPr/>
          <a:lstStyle/>
          <a:p>
            <a:fld id="{BAFEA47C-CEBF-324A-81B5-5C590EF3FB7D}" type="slidenum">
              <a:rPr lang="en-US" smtClean="0"/>
              <a:t>‹#›</a:t>
            </a:fld>
            <a:endParaRPr lang="en-US"/>
          </a:p>
        </p:txBody>
      </p:sp>
    </p:spTree>
    <p:extLst>
      <p:ext uri="{BB962C8B-B14F-4D97-AF65-F5344CB8AC3E}">
        <p14:creationId xmlns:p14="http://schemas.microsoft.com/office/powerpoint/2010/main" val="3345311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1E853-8CE7-1334-6CC3-F78E4CEB14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431759-70D8-3DEB-EAFC-1208E42BD4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5CF76F-2059-F291-C977-59423CE728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81B6AA-5652-F4C7-EFB4-5AF1E7B87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61C344-895C-503E-FF15-FDCA5A79A1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E77889-CD47-5255-EE40-17D5042155FB}"/>
              </a:ext>
            </a:extLst>
          </p:cNvPr>
          <p:cNvSpPr>
            <a:spLocks noGrp="1"/>
          </p:cNvSpPr>
          <p:nvPr>
            <p:ph type="dt" sz="half" idx="10"/>
          </p:nvPr>
        </p:nvSpPr>
        <p:spPr/>
        <p:txBody>
          <a:bodyPr/>
          <a:lstStyle/>
          <a:p>
            <a:fld id="{EAD72DF8-68C0-184C-9752-27DB4A78AEAC}" type="datetimeFigureOut">
              <a:rPr lang="en-US" smtClean="0"/>
              <a:t>5/4/2026</a:t>
            </a:fld>
            <a:endParaRPr lang="en-US"/>
          </a:p>
        </p:txBody>
      </p:sp>
      <p:sp>
        <p:nvSpPr>
          <p:cNvPr id="8" name="Footer Placeholder 7">
            <a:extLst>
              <a:ext uri="{FF2B5EF4-FFF2-40B4-BE49-F238E27FC236}">
                <a16:creationId xmlns:a16="http://schemas.microsoft.com/office/drawing/2014/main" id="{09BB05B3-4BC5-1E0E-DD91-E5A5C028F3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6519C7-1133-E2E3-B90E-CB47188585F2}"/>
              </a:ext>
            </a:extLst>
          </p:cNvPr>
          <p:cNvSpPr>
            <a:spLocks noGrp="1"/>
          </p:cNvSpPr>
          <p:nvPr>
            <p:ph type="sldNum" sz="quarter" idx="12"/>
          </p:nvPr>
        </p:nvSpPr>
        <p:spPr/>
        <p:txBody>
          <a:bodyPr/>
          <a:lstStyle/>
          <a:p>
            <a:fld id="{BAFEA47C-CEBF-324A-81B5-5C590EF3FB7D}" type="slidenum">
              <a:rPr lang="en-US" smtClean="0"/>
              <a:t>‹#›</a:t>
            </a:fld>
            <a:endParaRPr lang="en-US"/>
          </a:p>
        </p:txBody>
      </p:sp>
    </p:spTree>
    <p:extLst>
      <p:ext uri="{BB962C8B-B14F-4D97-AF65-F5344CB8AC3E}">
        <p14:creationId xmlns:p14="http://schemas.microsoft.com/office/powerpoint/2010/main" val="2366288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DBFE8-F5D8-BBE1-8113-5D985568FFA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3C39E2-236C-3C5F-A661-AC30A62D5F18}"/>
              </a:ext>
            </a:extLst>
          </p:cNvPr>
          <p:cNvSpPr>
            <a:spLocks noGrp="1"/>
          </p:cNvSpPr>
          <p:nvPr>
            <p:ph type="dt" sz="half" idx="10"/>
          </p:nvPr>
        </p:nvSpPr>
        <p:spPr/>
        <p:txBody>
          <a:bodyPr/>
          <a:lstStyle/>
          <a:p>
            <a:fld id="{EAD72DF8-68C0-184C-9752-27DB4A78AEAC}" type="datetimeFigureOut">
              <a:rPr lang="en-US" smtClean="0"/>
              <a:t>5/4/2026</a:t>
            </a:fld>
            <a:endParaRPr lang="en-US"/>
          </a:p>
        </p:txBody>
      </p:sp>
      <p:sp>
        <p:nvSpPr>
          <p:cNvPr id="4" name="Footer Placeholder 3">
            <a:extLst>
              <a:ext uri="{FF2B5EF4-FFF2-40B4-BE49-F238E27FC236}">
                <a16:creationId xmlns:a16="http://schemas.microsoft.com/office/drawing/2014/main" id="{FF49D945-CC02-E7C2-0ACB-3FBB2B7F5A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001CB4-F035-62EB-6CD3-C131475F10FF}"/>
              </a:ext>
            </a:extLst>
          </p:cNvPr>
          <p:cNvSpPr>
            <a:spLocks noGrp="1"/>
          </p:cNvSpPr>
          <p:nvPr>
            <p:ph type="sldNum" sz="quarter" idx="12"/>
          </p:nvPr>
        </p:nvSpPr>
        <p:spPr/>
        <p:txBody>
          <a:bodyPr/>
          <a:lstStyle/>
          <a:p>
            <a:fld id="{BAFEA47C-CEBF-324A-81B5-5C590EF3FB7D}" type="slidenum">
              <a:rPr lang="en-US" smtClean="0"/>
              <a:t>‹#›</a:t>
            </a:fld>
            <a:endParaRPr lang="en-US"/>
          </a:p>
        </p:txBody>
      </p:sp>
    </p:spTree>
    <p:extLst>
      <p:ext uri="{BB962C8B-B14F-4D97-AF65-F5344CB8AC3E}">
        <p14:creationId xmlns:p14="http://schemas.microsoft.com/office/powerpoint/2010/main" val="3372145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73B4B1-7C50-8CAC-8093-7095ED38894D}"/>
              </a:ext>
            </a:extLst>
          </p:cNvPr>
          <p:cNvSpPr>
            <a:spLocks noGrp="1"/>
          </p:cNvSpPr>
          <p:nvPr>
            <p:ph type="dt" sz="half" idx="10"/>
          </p:nvPr>
        </p:nvSpPr>
        <p:spPr/>
        <p:txBody>
          <a:bodyPr/>
          <a:lstStyle/>
          <a:p>
            <a:fld id="{EAD72DF8-68C0-184C-9752-27DB4A78AEAC}" type="datetimeFigureOut">
              <a:rPr lang="en-US" smtClean="0"/>
              <a:t>5/4/2026</a:t>
            </a:fld>
            <a:endParaRPr lang="en-US"/>
          </a:p>
        </p:txBody>
      </p:sp>
      <p:sp>
        <p:nvSpPr>
          <p:cNvPr id="3" name="Footer Placeholder 2">
            <a:extLst>
              <a:ext uri="{FF2B5EF4-FFF2-40B4-BE49-F238E27FC236}">
                <a16:creationId xmlns:a16="http://schemas.microsoft.com/office/drawing/2014/main" id="{0A6A9DF5-134E-304E-B69F-E7D7566C6C3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3C2AE3-33F7-FA5A-FB45-54304E4D3EF0}"/>
              </a:ext>
            </a:extLst>
          </p:cNvPr>
          <p:cNvSpPr>
            <a:spLocks noGrp="1"/>
          </p:cNvSpPr>
          <p:nvPr>
            <p:ph type="sldNum" sz="quarter" idx="12"/>
          </p:nvPr>
        </p:nvSpPr>
        <p:spPr/>
        <p:txBody>
          <a:bodyPr/>
          <a:lstStyle/>
          <a:p>
            <a:fld id="{BAFEA47C-CEBF-324A-81B5-5C590EF3FB7D}" type="slidenum">
              <a:rPr lang="en-US" smtClean="0"/>
              <a:t>‹#›</a:t>
            </a:fld>
            <a:endParaRPr lang="en-US"/>
          </a:p>
        </p:txBody>
      </p:sp>
    </p:spTree>
    <p:extLst>
      <p:ext uri="{BB962C8B-B14F-4D97-AF65-F5344CB8AC3E}">
        <p14:creationId xmlns:p14="http://schemas.microsoft.com/office/powerpoint/2010/main" val="1573481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3C846-713E-4E0D-65C8-8D47FF307D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AE645F-3C06-4165-B8F9-CEAD69B404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66248D-A085-CD71-4227-E3339C967B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AAB6A4-674C-7CE5-71EA-7E09CDA3CD30}"/>
              </a:ext>
            </a:extLst>
          </p:cNvPr>
          <p:cNvSpPr>
            <a:spLocks noGrp="1"/>
          </p:cNvSpPr>
          <p:nvPr>
            <p:ph type="dt" sz="half" idx="10"/>
          </p:nvPr>
        </p:nvSpPr>
        <p:spPr/>
        <p:txBody>
          <a:bodyPr/>
          <a:lstStyle/>
          <a:p>
            <a:fld id="{EAD72DF8-68C0-184C-9752-27DB4A78AEAC}" type="datetimeFigureOut">
              <a:rPr lang="en-US" smtClean="0"/>
              <a:t>5/4/2026</a:t>
            </a:fld>
            <a:endParaRPr lang="en-US"/>
          </a:p>
        </p:txBody>
      </p:sp>
      <p:sp>
        <p:nvSpPr>
          <p:cNvPr id="6" name="Footer Placeholder 5">
            <a:extLst>
              <a:ext uri="{FF2B5EF4-FFF2-40B4-BE49-F238E27FC236}">
                <a16:creationId xmlns:a16="http://schemas.microsoft.com/office/drawing/2014/main" id="{92BB4DF3-027F-F9E2-F987-135AEEC236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4F6BBE-45E1-25B9-648D-DFF6E3B9FB6B}"/>
              </a:ext>
            </a:extLst>
          </p:cNvPr>
          <p:cNvSpPr>
            <a:spLocks noGrp="1"/>
          </p:cNvSpPr>
          <p:nvPr>
            <p:ph type="sldNum" sz="quarter" idx="12"/>
          </p:nvPr>
        </p:nvSpPr>
        <p:spPr/>
        <p:txBody>
          <a:bodyPr/>
          <a:lstStyle/>
          <a:p>
            <a:fld id="{BAFEA47C-CEBF-324A-81B5-5C590EF3FB7D}" type="slidenum">
              <a:rPr lang="en-US" smtClean="0"/>
              <a:t>‹#›</a:t>
            </a:fld>
            <a:endParaRPr lang="en-US"/>
          </a:p>
        </p:txBody>
      </p:sp>
    </p:spTree>
    <p:extLst>
      <p:ext uri="{BB962C8B-B14F-4D97-AF65-F5344CB8AC3E}">
        <p14:creationId xmlns:p14="http://schemas.microsoft.com/office/powerpoint/2010/main" val="4207198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C6554-D417-73E9-3388-9050CB12E9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4756D7-2C88-8CA0-BE2F-FC42C29B3E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8CC384-0E7D-8ACA-3E47-CC7A94D2DD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2A78FA-B3D7-E6F9-AE69-B7E57262C187}"/>
              </a:ext>
            </a:extLst>
          </p:cNvPr>
          <p:cNvSpPr>
            <a:spLocks noGrp="1"/>
          </p:cNvSpPr>
          <p:nvPr>
            <p:ph type="dt" sz="half" idx="10"/>
          </p:nvPr>
        </p:nvSpPr>
        <p:spPr/>
        <p:txBody>
          <a:bodyPr/>
          <a:lstStyle/>
          <a:p>
            <a:fld id="{EAD72DF8-68C0-184C-9752-27DB4A78AEAC}" type="datetimeFigureOut">
              <a:rPr lang="en-US" smtClean="0"/>
              <a:t>5/4/2026</a:t>
            </a:fld>
            <a:endParaRPr lang="en-US"/>
          </a:p>
        </p:txBody>
      </p:sp>
      <p:sp>
        <p:nvSpPr>
          <p:cNvPr id="6" name="Footer Placeholder 5">
            <a:extLst>
              <a:ext uri="{FF2B5EF4-FFF2-40B4-BE49-F238E27FC236}">
                <a16:creationId xmlns:a16="http://schemas.microsoft.com/office/drawing/2014/main" id="{26B8DE95-D77E-8C6F-91EF-F178D35ADA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8CED0A-5D4B-D0FE-A0CE-EAF29C284928}"/>
              </a:ext>
            </a:extLst>
          </p:cNvPr>
          <p:cNvSpPr>
            <a:spLocks noGrp="1"/>
          </p:cNvSpPr>
          <p:nvPr>
            <p:ph type="sldNum" sz="quarter" idx="12"/>
          </p:nvPr>
        </p:nvSpPr>
        <p:spPr/>
        <p:txBody>
          <a:bodyPr/>
          <a:lstStyle/>
          <a:p>
            <a:fld id="{BAFEA47C-CEBF-324A-81B5-5C590EF3FB7D}" type="slidenum">
              <a:rPr lang="en-US" smtClean="0"/>
              <a:t>‹#›</a:t>
            </a:fld>
            <a:endParaRPr lang="en-US"/>
          </a:p>
        </p:txBody>
      </p:sp>
    </p:spTree>
    <p:extLst>
      <p:ext uri="{BB962C8B-B14F-4D97-AF65-F5344CB8AC3E}">
        <p14:creationId xmlns:p14="http://schemas.microsoft.com/office/powerpoint/2010/main" val="1173626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F1E19-012B-C4BE-8F3E-2E5DFDEF4A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3BB1FA-4003-BA73-EE81-31B1A2A3DF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61C40B-9559-DF47-F807-E0B930EFBF16}"/>
              </a:ext>
            </a:extLst>
          </p:cNvPr>
          <p:cNvSpPr>
            <a:spLocks noGrp="1"/>
          </p:cNvSpPr>
          <p:nvPr>
            <p:ph type="dt" sz="half" idx="10"/>
          </p:nvPr>
        </p:nvSpPr>
        <p:spPr/>
        <p:txBody>
          <a:bodyPr/>
          <a:lstStyle/>
          <a:p>
            <a:fld id="{EAD72DF8-68C0-184C-9752-27DB4A78AEAC}" type="datetimeFigureOut">
              <a:rPr lang="en-US" smtClean="0"/>
              <a:t>5/4/2026</a:t>
            </a:fld>
            <a:endParaRPr lang="en-US"/>
          </a:p>
        </p:txBody>
      </p:sp>
      <p:sp>
        <p:nvSpPr>
          <p:cNvPr id="5" name="Footer Placeholder 4">
            <a:extLst>
              <a:ext uri="{FF2B5EF4-FFF2-40B4-BE49-F238E27FC236}">
                <a16:creationId xmlns:a16="http://schemas.microsoft.com/office/drawing/2014/main" id="{AFDB93DE-DB52-CB45-2552-72646B70F9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FD1C8C-1B2A-9DBA-373C-C6DB3DCB5079}"/>
              </a:ext>
            </a:extLst>
          </p:cNvPr>
          <p:cNvSpPr>
            <a:spLocks noGrp="1"/>
          </p:cNvSpPr>
          <p:nvPr>
            <p:ph type="sldNum" sz="quarter" idx="12"/>
          </p:nvPr>
        </p:nvSpPr>
        <p:spPr/>
        <p:txBody>
          <a:bodyPr/>
          <a:lstStyle/>
          <a:p>
            <a:fld id="{BAFEA47C-CEBF-324A-81B5-5C590EF3FB7D}" type="slidenum">
              <a:rPr lang="en-US" smtClean="0"/>
              <a:t>‹#›</a:t>
            </a:fld>
            <a:endParaRPr lang="en-US"/>
          </a:p>
        </p:txBody>
      </p:sp>
    </p:spTree>
    <p:extLst>
      <p:ext uri="{BB962C8B-B14F-4D97-AF65-F5344CB8AC3E}">
        <p14:creationId xmlns:p14="http://schemas.microsoft.com/office/powerpoint/2010/main" val="1354023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C26C9B-18F0-D6E6-43D0-20A22BA7C3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6F00E5C-2FAB-2930-BFE0-DFF8966770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FDD797-2CC7-3151-1502-7B1736E7F77E}"/>
              </a:ext>
            </a:extLst>
          </p:cNvPr>
          <p:cNvSpPr>
            <a:spLocks noGrp="1"/>
          </p:cNvSpPr>
          <p:nvPr>
            <p:ph type="dt" sz="half" idx="10"/>
          </p:nvPr>
        </p:nvSpPr>
        <p:spPr/>
        <p:txBody>
          <a:bodyPr/>
          <a:lstStyle/>
          <a:p>
            <a:fld id="{EAD72DF8-68C0-184C-9752-27DB4A78AEAC}" type="datetimeFigureOut">
              <a:rPr lang="en-US" smtClean="0"/>
              <a:t>5/4/2026</a:t>
            </a:fld>
            <a:endParaRPr lang="en-US"/>
          </a:p>
        </p:txBody>
      </p:sp>
      <p:sp>
        <p:nvSpPr>
          <p:cNvPr id="5" name="Footer Placeholder 4">
            <a:extLst>
              <a:ext uri="{FF2B5EF4-FFF2-40B4-BE49-F238E27FC236}">
                <a16:creationId xmlns:a16="http://schemas.microsoft.com/office/drawing/2014/main" id="{9035EAA5-40A3-2952-6637-B18F24EBD7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531E1-8369-5E1C-CE2C-E4B5934AFC29}"/>
              </a:ext>
            </a:extLst>
          </p:cNvPr>
          <p:cNvSpPr>
            <a:spLocks noGrp="1"/>
          </p:cNvSpPr>
          <p:nvPr>
            <p:ph type="sldNum" sz="quarter" idx="12"/>
          </p:nvPr>
        </p:nvSpPr>
        <p:spPr/>
        <p:txBody>
          <a:bodyPr/>
          <a:lstStyle/>
          <a:p>
            <a:fld id="{BAFEA47C-CEBF-324A-81B5-5C590EF3FB7D}" type="slidenum">
              <a:rPr lang="en-US" smtClean="0"/>
              <a:t>‹#›</a:t>
            </a:fld>
            <a:endParaRPr lang="en-US"/>
          </a:p>
        </p:txBody>
      </p:sp>
    </p:spTree>
    <p:extLst>
      <p:ext uri="{BB962C8B-B14F-4D97-AF65-F5344CB8AC3E}">
        <p14:creationId xmlns:p14="http://schemas.microsoft.com/office/powerpoint/2010/main" val="957730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54458E-A659-808C-D2FA-2C92A519F5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42AFE41-545A-BE99-2DD9-022820F305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2DE1FE-9BF5-C59F-0A1B-B2BD8EF9EE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D72DF8-68C0-184C-9752-27DB4A78AEAC}" type="datetimeFigureOut">
              <a:rPr lang="en-US" smtClean="0"/>
              <a:t>5/4/2026</a:t>
            </a:fld>
            <a:endParaRPr lang="en-US"/>
          </a:p>
        </p:txBody>
      </p:sp>
      <p:sp>
        <p:nvSpPr>
          <p:cNvPr id="5" name="Footer Placeholder 4">
            <a:extLst>
              <a:ext uri="{FF2B5EF4-FFF2-40B4-BE49-F238E27FC236}">
                <a16:creationId xmlns:a16="http://schemas.microsoft.com/office/drawing/2014/main" id="{98BA31D4-C668-A99D-A582-F9AB864F0F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F96F3AC-C3DC-263F-5946-A37A20A3ED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FEA47C-CEBF-324A-81B5-5C590EF3FB7D}" type="slidenum">
              <a:rPr lang="en-US" smtClean="0"/>
              <a:t>‹#›</a:t>
            </a:fld>
            <a:endParaRPr lang="en-US"/>
          </a:p>
        </p:txBody>
      </p:sp>
    </p:spTree>
    <p:extLst>
      <p:ext uri="{BB962C8B-B14F-4D97-AF65-F5344CB8AC3E}">
        <p14:creationId xmlns:p14="http://schemas.microsoft.com/office/powerpoint/2010/main" val="36338249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A1A1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A1A1A"/>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B66F75-2D48-D54A-808F-846D88E254CA}"/>
              </a:ext>
            </a:extLst>
          </p:cNvPr>
          <p:cNvSpPr/>
          <p:nvPr/>
        </p:nvSpPr>
        <p:spPr>
          <a:xfrm>
            <a:off x="762000" y="762000"/>
            <a:ext cx="1524000" cy="127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AAE27932-E969-494F-BB5E-04481A5A2C36}"/>
              </a:ext>
            </a:extLst>
          </p:cNvPr>
          <p:cNvSpPr/>
          <p:nvPr/>
        </p:nvSpPr>
        <p:spPr>
          <a:xfrm>
            <a:off x="762000" y="2540000"/>
            <a:ext cx="25400" cy="22860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2489BE62-2511-8C49-B41F-8A6538A803D0}"/>
              </a:ext>
            </a:extLst>
          </p:cNvPr>
          <p:cNvSpPr txBox="1"/>
          <p:nvPr/>
        </p:nvSpPr>
        <p:spPr>
          <a:xfrm>
            <a:off x="1016000" y="2540000"/>
            <a:ext cx="8890000" cy="279400"/>
          </a:xfrm>
          <a:prstGeom prst="rect">
            <a:avLst/>
          </a:prstGeom>
          <a:noFill/>
        </p:spPr>
        <p:txBody>
          <a:bodyPr vertOverflow="overflow" vert="horz" wrap="square" rtlCol="0" anchor="t">
            <a:noAutofit/>
          </a:bodyPr>
          <a:lstStyle/>
          <a:p>
            <a:pPr algn="l"/>
            <a:r>
              <a:rPr lang="en-US" sz="1400" i="1">
                <a:solidFill>
                  <a:srgbClr val="6B6B6B"/>
                </a:solidFill>
                <a:latin typeface="Georgia"/>
              </a:rPr>
              <a:t>A defense-in-depth control for chat-with-data agents</a:t>
            </a:r>
          </a:p>
        </p:txBody>
      </p:sp>
      <p:sp>
        <p:nvSpPr>
          <p:cNvPr id="13" name="TextBox 12">
            <a:extLst>
              <a:ext uri="{FF2B5EF4-FFF2-40B4-BE49-F238E27FC236}">
                <a16:creationId xmlns:a16="http://schemas.microsoft.com/office/drawing/2014/main" id="{42E8AF01-FE58-414F-AFA6-FC4B079E5588}"/>
              </a:ext>
            </a:extLst>
          </p:cNvPr>
          <p:cNvSpPr txBox="1"/>
          <p:nvPr/>
        </p:nvSpPr>
        <p:spPr>
          <a:xfrm>
            <a:off x="1016000" y="2921000"/>
            <a:ext cx="10160000" cy="2032000"/>
          </a:xfrm>
          <a:prstGeom prst="rect">
            <a:avLst/>
          </a:prstGeom>
          <a:noFill/>
        </p:spPr>
        <p:txBody>
          <a:bodyPr vertOverflow="overflow" vert="horz" wrap="square" rtlCol="0" anchor="t">
            <a:noAutofit/>
          </a:bodyPr>
          <a:lstStyle/>
          <a:p>
            <a:pPr algn="l"/>
            <a:r>
              <a:rPr lang="en-US" sz="7200">
                <a:solidFill>
                  <a:srgbClr val="1A1A1A"/>
                </a:solidFill>
                <a:latin typeface="Georgia"/>
              </a:rPr>
              <a:t>The SQL
Firewall.</a:t>
            </a:r>
          </a:p>
        </p:txBody>
      </p:sp>
      <p:sp>
        <p:nvSpPr>
          <p:cNvPr id="14" name="TextBox 13">
            <a:extLst>
              <a:ext uri="{FF2B5EF4-FFF2-40B4-BE49-F238E27FC236}">
                <a16:creationId xmlns:a16="http://schemas.microsoft.com/office/drawing/2014/main" id="{8FF60BCB-393F-E54C-A8D8-7BBB9B1DC1E0}"/>
              </a:ext>
            </a:extLst>
          </p:cNvPr>
          <p:cNvSpPr txBox="1"/>
          <p:nvPr/>
        </p:nvSpPr>
        <p:spPr>
          <a:xfrm>
            <a:off x="1016000" y="5207000"/>
            <a:ext cx="8890000" cy="508000"/>
          </a:xfrm>
          <a:prstGeom prst="rect">
            <a:avLst/>
          </a:prstGeom>
          <a:noFill/>
        </p:spPr>
        <p:txBody>
          <a:bodyPr vertOverflow="overflow" vert="horz" wrap="square" rtlCol="0" anchor="t">
            <a:noAutofit/>
          </a:bodyPr>
          <a:lstStyle/>
          <a:p>
            <a:pPr algn="l"/>
            <a:r>
              <a:rPr lang="en-US" sz="2200" i="1">
                <a:solidFill>
                  <a:srgbClr val="6B6B6B"/>
                </a:solidFill>
                <a:latin typeface="Georgia"/>
              </a:rPr>
              <a:t>Validating LLM-generated queries before they reach the warehouse.</a:t>
            </a:r>
          </a:p>
        </p:txBody>
      </p:sp>
      <p:sp>
        <p:nvSpPr>
          <p:cNvPr id="15" name="Rectangle 14">
            <a:extLst>
              <a:ext uri="{FF2B5EF4-FFF2-40B4-BE49-F238E27FC236}">
                <a16:creationId xmlns:a16="http://schemas.microsoft.com/office/drawing/2014/main" id="{DAA4E7B9-E311-2A4A-877C-0AD7D2450086}"/>
              </a:ext>
            </a:extLst>
          </p:cNvPr>
          <p:cNvSpPr/>
          <p:nvPr/>
        </p:nvSpPr>
        <p:spPr>
          <a:xfrm>
            <a:off x="762000" y="6197600"/>
            <a:ext cx="10668000" cy="6350"/>
          </a:xfrm>
          <a:prstGeom prst="rect">
            <a:avLst/>
          </a:prstGeom>
          <a:solidFill>
            <a:srgbClr val="1A1A1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36F6D602-BF8F-E746-9721-89B5CFBC7B57}"/>
              </a:ext>
            </a:extLst>
          </p:cNvPr>
          <p:cNvSpPr txBox="1"/>
          <p:nvPr/>
        </p:nvSpPr>
        <p:spPr>
          <a:xfrm>
            <a:off x="762000" y="6350000"/>
            <a:ext cx="10668000" cy="228600"/>
          </a:xfrm>
          <a:prstGeom prst="rect">
            <a:avLst/>
          </a:prstGeom>
          <a:noFill/>
        </p:spPr>
        <p:txBody>
          <a:bodyPr vertOverflow="overflow" vert="horz" wrap="square" rtlCol="0" anchor="t">
            <a:noAutofit/>
          </a:bodyPr>
          <a:lstStyle/>
          <a:p>
            <a:pPr algn="l"/>
            <a:r>
              <a:rPr lang="en-US" sz="1000">
                <a:solidFill>
                  <a:srgbClr val="6B6B6B"/>
                </a:solidFill>
                <a:latin typeface="Calibri"/>
                <a:cs typeface="Calibri"/>
              </a:rPr>
              <a:t>2026</a:t>
            </a:r>
          </a:p>
        </p:txBody>
      </p:sp>
      <p:sp>
        <p:nvSpPr>
          <p:cNvPr id="18" name="TextBox 17">
            <a:extLst>
              <a:ext uri="{FF2B5EF4-FFF2-40B4-BE49-F238E27FC236}">
                <a16:creationId xmlns:a16="http://schemas.microsoft.com/office/drawing/2014/main" id="{8FC199F8-A2F5-0741-A4D5-F149105547A9}"/>
              </a:ext>
            </a:extLst>
          </p:cNvPr>
          <p:cNvSpPr txBox="1"/>
          <p:nvPr/>
        </p:nvSpPr>
        <p:spPr>
          <a:xfrm>
            <a:off x="6350000" y="6350000"/>
            <a:ext cx="5080000" cy="228600"/>
          </a:xfrm>
          <a:prstGeom prst="rect">
            <a:avLst/>
          </a:prstGeom>
          <a:noFill/>
        </p:spPr>
        <p:txBody>
          <a:bodyPr vertOverflow="overflow" vert="horz" wrap="square" rtlCol="0" anchor="t">
            <a:noAutofit/>
          </a:bodyPr>
          <a:lstStyle/>
          <a:p>
            <a:pPr algn="l"/>
            <a:r>
              <a:rPr lang="en-US" sz="1000">
                <a:solidFill>
                  <a:srgbClr val="6B6B6B"/>
                </a:solidFill>
                <a:latin typeface="Calibri"/>
                <a:cs typeface="Calibri"/>
              </a:rPr>
              <a:t>BRIEF / 22 PAGES</a:t>
            </a:r>
          </a:p>
        </p:txBody>
      </p:sp>
    </p:spTree>
    <p:extLst>
      <p:ext uri="{BB962C8B-B14F-4D97-AF65-F5344CB8AC3E}">
        <p14:creationId xmlns:p14="http://schemas.microsoft.com/office/powerpoint/2010/main" val="2554053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197CD0D-EAB6-8444-A6D5-76F33E10E3B7}"/>
              </a:ext>
            </a:extLst>
          </p:cNvPr>
          <p:cNvSpPr/>
          <p:nvPr/>
        </p:nvSpPr>
        <p:spPr>
          <a:xfrm>
            <a:off x="762000" y="762000"/>
            <a:ext cx="1524000" cy="127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81620342-A9EF-6D4C-B676-7DEF8D3DB5F6}"/>
              </a:ext>
            </a:extLst>
          </p:cNvPr>
          <p:cNvSpPr txBox="1"/>
          <p:nvPr/>
        </p:nvSpPr>
        <p:spPr>
          <a:xfrm>
            <a:off x="762000" y="914400"/>
            <a:ext cx="7620000" cy="2794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00  ·  PREMISE</a:t>
            </a:r>
          </a:p>
        </p:txBody>
      </p:sp>
      <p:sp>
        <p:nvSpPr>
          <p:cNvPr id="11" name="TextBox 10">
            <a:extLst>
              <a:ext uri="{FF2B5EF4-FFF2-40B4-BE49-F238E27FC236}">
                <a16:creationId xmlns:a16="http://schemas.microsoft.com/office/drawing/2014/main" id="{0FA0B33E-C96C-A542-BBAD-D28DE5D925DA}"/>
              </a:ext>
            </a:extLst>
          </p:cNvPr>
          <p:cNvSpPr txBox="1"/>
          <p:nvPr/>
        </p:nvSpPr>
        <p:spPr>
          <a:xfrm>
            <a:off x="635000" y="1397000"/>
            <a:ext cx="2540000" cy="3048000"/>
          </a:xfrm>
          <a:prstGeom prst="rect">
            <a:avLst/>
          </a:prstGeom>
          <a:noFill/>
        </p:spPr>
        <p:txBody>
          <a:bodyPr vertOverflow="overflow" vert="horz" wrap="none" rtlCol="0" anchor="t">
            <a:noAutofit/>
          </a:bodyPr>
          <a:lstStyle/>
          <a:p>
            <a:pPr algn="l"/>
            <a:r>
              <a:rPr lang="en-US" sz="28000">
                <a:solidFill>
                  <a:srgbClr val="8B2E2E"/>
                </a:solidFill>
                <a:latin typeface="Georgia"/>
              </a:rPr>
              <a:t>“</a:t>
            </a:r>
          </a:p>
        </p:txBody>
      </p:sp>
      <p:sp>
        <p:nvSpPr>
          <p:cNvPr id="12" name="TextBox 11">
            <a:extLst>
              <a:ext uri="{FF2B5EF4-FFF2-40B4-BE49-F238E27FC236}">
                <a16:creationId xmlns:a16="http://schemas.microsoft.com/office/drawing/2014/main" id="{A4FB7C07-3B45-6A4B-865D-FC84CBFD1292}"/>
              </a:ext>
            </a:extLst>
          </p:cNvPr>
          <p:cNvSpPr txBox="1"/>
          <p:nvPr/>
        </p:nvSpPr>
        <p:spPr>
          <a:xfrm>
            <a:off x="2540000" y="2032000"/>
            <a:ext cx="8890000" cy="457200"/>
          </a:xfrm>
          <a:prstGeom prst="rect">
            <a:avLst/>
          </a:prstGeom>
          <a:noFill/>
        </p:spPr>
        <p:txBody>
          <a:bodyPr vertOverflow="overflow" vert="horz" wrap="square" rtlCol="0" anchor="t">
            <a:noAutofit/>
          </a:bodyPr>
          <a:lstStyle/>
          <a:p>
            <a:pPr algn="l"/>
            <a:r>
              <a:rPr lang="en-US" sz="2200" i="1">
                <a:solidFill>
                  <a:srgbClr val="6B6B6B"/>
                </a:solidFill>
                <a:latin typeface="Georgia"/>
              </a:rPr>
              <a:t>The model is not the security boundary.</a:t>
            </a:r>
          </a:p>
        </p:txBody>
      </p:sp>
      <p:sp>
        <p:nvSpPr>
          <p:cNvPr id="13" name="TextBox 12">
            <a:extLst>
              <a:ext uri="{FF2B5EF4-FFF2-40B4-BE49-F238E27FC236}">
                <a16:creationId xmlns:a16="http://schemas.microsoft.com/office/drawing/2014/main" id="{C4DA604D-AD9C-9C41-9F3F-D4BCCFDCD526}"/>
              </a:ext>
            </a:extLst>
          </p:cNvPr>
          <p:cNvSpPr txBox="1"/>
          <p:nvPr/>
        </p:nvSpPr>
        <p:spPr>
          <a:xfrm>
            <a:off x="2540000" y="2794000"/>
            <a:ext cx="8636000" cy="2540000"/>
          </a:xfrm>
          <a:prstGeom prst="rect">
            <a:avLst/>
          </a:prstGeom>
          <a:noFill/>
        </p:spPr>
        <p:txBody>
          <a:bodyPr vertOverflow="overflow" vert="horz" wrap="square" rtlCol="0" anchor="t">
            <a:noAutofit/>
          </a:bodyPr>
          <a:lstStyle/>
          <a:p>
            <a:pPr algn="l"/>
            <a:r>
              <a:rPr lang="en-US" sz="2600">
                <a:solidFill>
                  <a:srgbClr val="1A1A1A"/>
                </a:solidFill>
                <a:latin typeface="Georgia"/>
              </a:rPr>
              <a:t>An agent that produces SQL will, eventually, produce SQL we wouldn’t approve. The job is not to make the model better — it is to ensure the queries it produces never escape what we have already decided is safe.</a:t>
            </a:r>
          </a:p>
        </p:txBody>
      </p:sp>
      <p:sp>
        <p:nvSpPr>
          <p:cNvPr id="14" name="Rectangle 13">
            <a:extLst>
              <a:ext uri="{FF2B5EF4-FFF2-40B4-BE49-F238E27FC236}">
                <a16:creationId xmlns:a16="http://schemas.microsoft.com/office/drawing/2014/main" id="{AE4060E5-BA23-1A4D-A052-64711BB1C130}"/>
              </a:ext>
            </a:extLst>
          </p:cNvPr>
          <p:cNvSpPr/>
          <p:nvPr/>
        </p:nvSpPr>
        <p:spPr>
          <a:xfrm>
            <a:off x="2540000" y="5588000"/>
            <a:ext cx="508000" cy="127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1F7CF53A-0334-B74A-951F-A53F5D2BAC5D}"/>
              </a:ext>
            </a:extLst>
          </p:cNvPr>
          <p:cNvSpPr txBox="1"/>
          <p:nvPr/>
        </p:nvSpPr>
        <p:spPr>
          <a:xfrm>
            <a:off x="3175000" y="5486400"/>
            <a:ext cx="5080000" cy="228600"/>
          </a:xfrm>
          <a:prstGeom prst="rect">
            <a:avLst/>
          </a:prstGeom>
          <a:noFill/>
        </p:spPr>
        <p:txBody>
          <a:bodyPr vertOverflow="overflow" vert="horz" wrap="square" rtlCol="0" anchor="t">
            <a:noAutofit/>
          </a:bodyPr>
          <a:lstStyle/>
          <a:p>
            <a:pPr algn="l"/>
            <a:r>
              <a:rPr lang="en-US" sz="1000" b="1">
                <a:solidFill>
                  <a:srgbClr val="6B6B6B"/>
                </a:solidFill>
                <a:latin typeface="Calibri"/>
                <a:cs typeface="Calibri"/>
              </a:rPr>
              <a:t>WORKING PRINCIPLE</a:t>
            </a:r>
          </a:p>
        </p:txBody>
      </p:sp>
      <p:sp>
        <p:nvSpPr>
          <p:cNvPr id="16" name="Rectangle 15">
            <a:extLst>
              <a:ext uri="{FF2B5EF4-FFF2-40B4-BE49-F238E27FC236}">
                <a16:creationId xmlns:a16="http://schemas.microsoft.com/office/drawing/2014/main" id="{724860AB-BFEC-1148-AF65-69D4D52E01BF}"/>
              </a:ext>
            </a:extLst>
          </p:cNvPr>
          <p:cNvSpPr/>
          <p:nvPr/>
        </p:nvSpPr>
        <p:spPr>
          <a:xfrm>
            <a:off x="762000" y="6350000"/>
            <a:ext cx="10668000" cy="6350"/>
          </a:xfrm>
          <a:prstGeom prst="rect">
            <a:avLst/>
          </a:prstGeom>
          <a:solidFill>
            <a:srgbClr val="1A1A1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2D9EB1AC-4ED0-F04F-8BE9-4A541BB1B71F}"/>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18" name="TextBox 17">
            <a:extLst>
              <a:ext uri="{FF2B5EF4-FFF2-40B4-BE49-F238E27FC236}">
                <a16:creationId xmlns:a16="http://schemas.microsoft.com/office/drawing/2014/main" id="{931EEA20-F31D-6846-9A13-C5C2632964D0}"/>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02 / 22</a:t>
            </a:r>
          </a:p>
        </p:txBody>
      </p:sp>
    </p:spTree>
    <p:extLst>
      <p:ext uri="{BB962C8B-B14F-4D97-AF65-F5344CB8AC3E}">
        <p14:creationId xmlns:p14="http://schemas.microsoft.com/office/powerpoint/2010/main" val="1155216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993BF4B-0B35-C140-8A98-C4F9F00EF71F}"/>
              </a:ext>
            </a:extLst>
          </p:cNvPr>
          <p:cNvSpPr/>
          <p:nvPr/>
        </p:nvSpPr>
        <p:spPr>
          <a:xfrm>
            <a:off x="762000" y="762000"/>
            <a:ext cx="1524000" cy="127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9657F86D-6DDA-B44E-853E-1312ADE05ED4}"/>
              </a:ext>
            </a:extLst>
          </p:cNvPr>
          <p:cNvSpPr txBox="1"/>
          <p:nvPr/>
        </p:nvSpPr>
        <p:spPr>
          <a:xfrm>
            <a:off x="762000" y="914400"/>
            <a:ext cx="7620000" cy="2286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01  ·  POSITIONING</a:t>
            </a:r>
          </a:p>
        </p:txBody>
      </p:sp>
      <p:sp>
        <p:nvSpPr>
          <p:cNvPr id="3" name="TextBox 2">
            <a:extLst>
              <a:ext uri="{FF2B5EF4-FFF2-40B4-BE49-F238E27FC236}">
                <a16:creationId xmlns:a16="http://schemas.microsoft.com/office/drawing/2014/main" id="{6570559C-3855-1343-871E-136E1DEC4452}"/>
              </a:ext>
            </a:extLst>
          </p:cNvPr>
          <p:cNvSpPr txBox="1"/>
          <p:nvPr/>
        </p:nvSpPr>
        <p:spPr>
          <a:xfrm>
            <a:off x="762000" y="1460500"/>
            <a:ext cx="10668000" cy="635000"/>
          </a:xfrm>
          <a:prstGeom prst="rect">
            <a:avLst/>
          </a:prstGeom>
          <a:noFill/>
        </p:spPr>
        <p:txBody>
          <a:bodyPr vertOverflow="overflow" vert="horz" wrap="square" rtlCol="0" anchor="t">
            <a:noAutofit/>
          </a:bodyPr>
          <a:lstStyle/>
          <a:p>
            <a:pPr algn="l"/>
            <a:r>
              <a:rPr lang="en-US" sz="2800">
                <a:solidFill>
                  <a:srgbClr val="1A1A1A"/>
                </a:solidFill>
                <a:latin typeface="Georgia"/>
              </a:rPr>
              <a:t>One control in a layered defense</a:t>
            </a:r>
          </a:p>
        </p:txBody>
      </p:sp>
      <p:sp>
        <p:nvSpPr>
          <p:cNvPr id="4" name="Rectangle 3">
            <a:extLst>
              <a:ext uri="{FF2B5EF4-FFF2-40B4-BE49-F238E27FC236}">
                <a16:creationId xmlns:a16="http://schemas.microsoft.com/office/drawing/2014/main" id="{341F8086-69CC-7347-9CAD-B5E61B66A936}"/>
              </a:ext>
            </a:extLst>
          </p:cNvPr>
          <p:cNvSpPr/>
          <p:nvPr/>
        </p:nvSpPr>
        <p:spPr>
          <a:xfrm>
            <a:off x="889000" y="2159000"/>
            <a:ext cx="4572000" cy="889000"/>
          </a:xfrm>
          <a:prstGeom prst="rect">
            <a:avLst/>
          </a:prstGeom>
          <a:solidFill>
            <a:srgbClr val="EDEAE3"/>
          </a:solidFill>
          <a:ln w="19050" cap="flat" cmpd="sng" algn="ctr">
            <a:solidFill>
              <a:srgbClr val="8B2E2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AF22B33B-3466-8143-AF93-442B97040BFB}"/>
              </a:ext>
            </a:extLst>
          </p:cNvPr>
          <p:cNvSpPr txBox="1"/>
          <p:nvPr/>
        </p:nvSpPr>
        <p:spPr>
          <a:xfrm>
            <a:off x="1092200" y="2311400"/>
            <a:ext cx="4165600" cy="330200"/>
          </a:xfrm>
          <a:prstGeom prst="rect">
            <a:avLst/>
          </a:prstGeom>
          <a:noFill/>
        </p:spPr>
        <p:txBody>
          <a:bodyPr vertOverflow="overflow" vert="horz" wrap="square" rtlCol="0" anchor="t">
            <a:noAutofit/>
          </a:bodyPr>
          <a:lstStyle/>
          <a:p>
            <a:pPr algn="l"/>
            <a:r>
              <a:rPr lang="en-US">
                <a:solidFill>
                  <a:srgbClr val="8B2E2E"/>
                </a:solidFill>
                <a:latin typeface="Georgia"/>
              </a:rPr>
              <a:t>SQL Firewall</a:t>
            </a:r>
          </a:p>
        </p:txBody>
      </p:sp>
      <p:sp>
        <p:nvSpPr>
          <p:cNvPr id="6" name="TextBox 5">
            <a:extLst>
              <a:ext uri="{FF2B5EF4-FFF2-40B4-BE49-F238E27FC236}">
                <a16:creationId xmlns:a16="http://schemas.microsoft.com/office/drawing/2014/main" id="{EE1759CA-96FF-1C40-B96C-F596FD254A89}"/>
              </a:ext>
            </a:extLst>
          </p:cNvPr>
          <p:cNvSpPr txBox="1"/>
          <p:nvPr/>
        </p:nvSpPr>
        <p:spPr>
          <a:xfrm>
            <a:off x="1092200" y="2641600"/>
            <a:ext cx="4165600" cy="279400"/>
          </a:xfrm>
          <a:prstGeom prst="rect">
            <a:avLst/>
          </a:prstGeom>
          <a:noFill/>
        </p:spPr>
        <p:txBody>
          <a:bodyPr vertOverflow="overflow" vert="horz" wrap="square" rtlCol="0" anchor="t">
            <a:noAutofit/>
          </a:bodyPr>
          <a:lstStyle/>
          <a:p>
            <a:pPr algn="l"/>
            <a:r>
              <a:rPr lang="en-US" sz="1200" i="1">
                <a:solidFill>
                  <a:srgbClr val="6B6B6B"/>
                </a:solidFill>
                <a:latin typeface="Calibri"/>
                <a:cs typeface="Calibri"/>
              </a:rPr>
              <a:t>structural validation</a:t>
            </a:r>
          </a:p>
        </p:txBody>
      </p:sp>
      <p:sp>
        <p:nvSpPr>
          <p:cNvPr id="7" name="TextBox 6">
            <a:extLst>
              <a:ext uri="{FF2B5EF4-FFF2-40B4-BE49-F238E27FC236}">
                <a16:creationId xmlns:a16="http://schemas.microsoft.com/office/drawing/2014/main" id="{E0FD9E60-23C2-C34A-BE05-3CA63DEA5234}"/>
              </a:ext>
            </a:extLst>
          </p:cNvPr>
          <p:cNvSpPr txBox="1"/>
          <p:nvPr/>
        </p:nvSpPr>
        <p:spPr>
          <a:xfrm>
            <a:off x="3048000" y="3111500"/>
            <a:ext cx="254000" cy="254000"/>
          </a:xfrm>
          <a:prstGeom prst="rect">
            <a:avLst/>
          </a:prstGeom>
          <a:noFill/>
        </p:spPr>
        <p:txBody>
          <a:bodyPr vertOverflow="overflow" vert="horz" wrap="square" rtlCol="0" anchor="t">
            <a:noAutofit/>
          </a:bodyPr>
          <a:lstStyle/>
          <a:p>
            <a:pPr algn="l"/>
            <a:r>
              <a:rPr lang="en-US" sz="1400">
                <a:solidFill>
                  <a:srgbClr val="6B6B6B"/>
                </a:solidFill>
                <a:latin typeface="Calibri"/>
                <a:cs typeface="Calibri"/>
              </a:rPr>
              <a:t>↓</a:t>
            </a:r>
          </a:p>
        </p:txBody>
      </p:sp>
      <p:sp>
        <p:nvSpPr>
          <p:cNvPr id="8" name="Rectangle 7">
            <a:extLst>
              <a:ext uri="{FF2B5EF4-FFF2-40B4-BE49-F238E27FC236}">
                <a16:creationId xmlns:a16="http://schemas.microsoft.com/office/drawing/2014/main" id="{6B4D5BCD-2543-3344-922A-FEA4FEA410FD}"/>
              </a:ext>
            </a:extLst>
          </p:cNvPr>
          <p:cNvSpPr/>
          <p:nvPr/>
        </p:nvSpPr>
        <p:spPr>
          <a:xfrm>
            <a:off x="889000" y="3429000"/>
            <a:ext cx="4572000" cy="889000"/>
          </a:xfrm>
          <a:prstGeom prst="rect">
            <a:avLst/>
          </a:prstGeom>
          <a:solidFill>
            <a:srgbClr val="EDEAE3"/>
          </a:solidFill>
          <a:ln w="12700" cap="flat" cmpd="sng" algn="ctr">
            <a:solidFill>
              <a:srgbClr val="1A1A1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05DD9D1F-27D8-EC47-9E0D-5E78E0796190}"/>
              </a:ext>
            </a:extLst>
          </p:cNvPr>
          <p:cNvSpPr txBox="1"/>
          <p:nvPr/>
        </p:nvSpPr>
        <p:spPr>
          <a:xfrm>
            <a:off x="1092200" y="3581400"/>
            <a:ext cx="4165600" cy="330200"/>
          </a:xfrm>
          <a:prstGeom prst="rect">
            <a:avLst/>
          </a:prstGeom>
          <a:noFill/>
        </p:spPr>
        <p:txBody>
          <a:bodyPr vertOverflow="overflow" vert="horz" wrap="square" rtlCol="0" anchor="t">
            <a:noAutofit/>
          </a:bodyPr>
          <a:lstStyle/>
          <a:p>
            <a:pPr algn="l"/>
            <a:r>
              <a:rPr lang="en-US">
                <a:solidFill>
                  <a:srgbClr val="1A1A1A"/>
                </a:solidFill>
                <a:latin typeface="Georgia"/>
              </a:rPr>
              <a:t>Connection module</a:t>
            </a:r>
          </a:p>
        </p:txBody>
      </p:sp>
      <p:sp>
        <p:nvSpPr>
          <p:cNvPr id="10" name="TextBox 9">
            <a:extLst>
              <a:ext uri="{FF2B5EF4-FFF2-40B4-BE49-F238E27FC236}">
                <a16:creationId xmlns:a16="http://schemas.microsoft.com/office/drawing/2014/main" id="{C2329728-EFB5-6B44-B03E-29F8B7D9CF38}"/>
              </a:ext>
            </a:extLst>
          </p:cNvPr>
          <p:cNvSpPr txBox="1"/>
          <p:nvPr/>
        </p:nvSpPr>
        <p:spPr>
          <a:xfrm>
            <a:off x="1092200" y="3911600"/>
            <a:ext cx="4165600" cy="279400"/>
          </a:xfrm>
          <a:prstGeom prst="rect">
            <a:avLst/>
          </a:prstGeom>
          <a:noFill/>
        </p:spPr>
        <p:txBody>
          <a:bodyPr vertOverflow="overflow" vert="horz" wrap="square" rtlCol="0" anchor="t">
            <a:noAutofit/>
          </a:bodyPr>
          <a:lstStyle/>
          <a:p>
            <a:pPr algn="l"/>
            <a:r>
              <a:rPr lang="en-US" sz="1200" i="1">
                <a:solidFill>
                  <a:srgbClr val="6B6B6B"/>
                </a:solidFill>
                <a:latin typeface="Calibri"/>
                <a:cs typeface="Calibri"/>
              </a:rPr>
              <a:t>identity binding</a:t>
            </a:r>
          </a:p>
        </p:txBody>
      </p:sp>
      <p:sp>
        <p:nvSpPr>
          <p:cNvPr id="11" name="TextBox 10">
            <a:extLst>
              <a:ext uri="{FF2B5EF4-FFF2-40B4-BE49-F238E27FC236}">
                <a16:creationId xmlns:a16="http://schemas.microsoft.com/office/drawing/2014/main" id="{7E9703EB-FD93-124A-A6BC-0BCE49F53D8B}"/>
              </a:ext>
            </a:extLst>
          </p:cNvPr>
          <p:cNvSpPr txBox="1"/>
          <p:nvPr/>
        </p:nvSpPr>
        <p:spPr>
          <a:xfrm>
            <a:off x="3048000" y="4381500"/>
            <a:ext cx="254000" cy="254000"/>
          </a:xfrm>
          <a:prstGeom prst="rect">
            <a:avLst/>
          </a:prstGeom>
          <a:noFill/>
        </p:spPr>
        <p:txBody>
          <a:bodyPr vertOverflow="overflow" vert="horz" wrap="square" rtlCol="0" anchor="t">
            <a:noAutofit/>
          </a:bodyPr>
          <a:lstStyle/>
          <a:p>
            <a:pPr algn="l"/>
            <a:r>
              <a:rPr lang="en-US" sz="1400">
                <a:solidFill>
                  <a:srgbClr val="6B6B6B"/>
                </a:solidFill>
                <a:latin typeface="Calibri"/>
                <a:cs typeface="Calibri"/>
              </a:rPr>
              <a:t>↓</a:t>
            </a:r>
          </a:p>
        </p:txBody>
      </p:sp>
      <p:sp>
        <p:nvSpPr>
          <p:cNvPr id="12" name="Rectangle 11">
            <a:extLst>
              <a:ext uri="{FF2B5EF4-FFF2-40B4-BE49-F238E27FC236}">
                <a16:creationId xmlns:a16="http://schemas.microsoft.com/office/drawing/2014/main" id="{3A388C30-637A-4745-A180-10243AC5066F}"/>
              </a:ext>
            </a:extLst>
          </p:cNvPr>
          <p:cNvSpPr/>
          <p:nvPr/>
        </p:nvSpPr>
        <p:spPr>
          <a:xfrm>
            <a:off x="889000" y="4699000"/>
            <a:ext cx="4572000" cy="889000"/>
          </a:xfrm>
          <a:prstGeom prst="rect">
            <a:avLst/>
          </a:prstGeom>
          <a:solidFill>
            <a:srgbClr val="EDEAE3"/>
          </a:solidFill>
          <a:ln w="12700" cap="flat" cmpd="sng" algn="ctr">
            <a:solidFill>
              <a:srgbClr val="1A1A1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A238E393-4BF0-2946-BA1B-AF0AE0AE8BCF}"/>
              </a:ext>
            </a:extLst>
          </p:cNvPr>
          <p:cNvSpPr txBox="1"/>
          <p:nvPr/>
        </p:nvSpPr>
        <p:spPr>
          <a:xfrm>
            <a:off x="1092200" y="4851400"/>
            <a:ext cx="4165600" cy="330200"/>
          </a:xfrm>
          <a:prstGeom prst="rect">
            <a:avLst/>
          </a:prstGeom>
          <a:noFill/>
        </p:spPr>
        <p:txBody>
          <a:bodyPr vertOverflow="overflow" vert="horz" wrap="square" rtlCol="0" anchor="t">
            <a:noAutofit/>
          </a:bodyPr>
          <a:lstStyle/>
          <a:p>
            <a:pPr algn="l"/>
            <a:r>
              <a:rPr lang="en-US">
                <a:solidFill>
                  <a:srgbClr val="1A1A1A"/>
                </a:solidFill>
                <a:latin typeface="Georgia"/>
              </a:rPr>
              <a:t>Snowflake row access policy</a:t>
            </a:r>
          </a:p>
        </p:txBody>
      </p:sp>
      <p:sp>
        <p:nvSpPr>
          <p:cNvPr id="14" name="TextBox 13">
            <a:extLst>
              <a:ext uri="{FF2B5EF4-FFF2-40B4-BE49-F238E27FC236}">
                <a16:creationId xmlns:a16="http://schemas.microsoft.com/office/drawing/2014/main" id="{54458177-77C0-3C46-9C51-091553B76ACF}"/>
              </a:ext>
            </a:extLst>
          </p:cNvPr>
          <p:cNvSpPr txBox="1"/>
          <p:nvPr/>
        </p:nvSpPr>
        <p:spPr>
          <a:xfrm>
            <a:off x="1092200" y="5181600"/>
            <a:ext cx="4165600" cy="279400"/>
          </a:xfrm>
          <a:prstGeom prst="rect">
            <a:avLst/>
          </a:prstGeom>
          <a:noFill/>
        </p:spPr>
        <p:txBody>
          <a:bodyPr vertOverflow="overflow" vert="horz" wrap="square" rtlCol="0" anchor="t">
            <a:noAutofit/>
          </a:bodyPr>
          <a:lstStyle/>
          <a:p>
            <a:pPr algn="l"/>
            <a:r>
              <a:rPr lang="en-US" sz="1200" i="1">
                <a:solidFill>
                  <a:srgbClr val="6B6B6B"/>
                </a:solidFill>
                <a:latin typeface="Calibri"/>
                <a:cs typeface="Calibri"/>
              </a:rPr>
              <a:t>row-level enforcement</a:t>
            </a:r>
          </a:p>
        </p:txBody>
      </p:sp>
      <p:sp>
        <p:nvSpPr>
          <p:cNvPr id="15" name="TextBox 14">
            <a:extLst>
              <a:ext uri="{FF2B5EF4-FFF2-40B4-BE49-F238E27FC236}">
                <a16:creationId xmlns:a16="http://schemas.microsoft.com/office/drawing/2014/main" id="{0D7A49E0-3BF0-C345-9513-FCA1DD6D1166}"/>
              </a:ext>
            </a:extLst>
          </p:cNvPr>
          <p:cNvSpPr txBox="1"/>
          <p:nvPr/>
        </p:nvSpPr>
        <p:spPr>
          <a:xfrm>
            <a:off x="889000" y="5689600"/>
            <a:ext cx="4572000" cy="228600"/>
          </a:xfrm>
          <a:prstGeom prst="rect">
            <a:avLst/>
          </a:prstGeom>
          <a:noFill/>
        </p:spPr>
        <p:txBody>
          <a:bodyPr vertOverflow="overflow" vert="horz" wrap="square" rtlCol="0" anchor="t">
            <a:noAutofit/>
          </a:bodyPr>
          <a:lstStyle/>
          <a:p>
            <a:pPr algn="l"/>
            <a:r>
              <a:rPr lang="en-US" sz="1100" i="1">
                <a:solidFill>
                  <a:srgbClr val="6B6B6B"/>
                </a:solidFill>
                <a:latin typeface="Calibri"/>
                <a:cs typeface="Calibri"/>
              </a:rPr>
              <a:t>↓  data returned</a:t>
            </a:r>
          </a:p>
        </p:txBody>
      </p:sp>
      <p:sp>
        <p:nvSpPr>
          <p:cNvPr id="16" name="TextBox 15">
            <a:extLst>
              <a:ext uri="{FF2B5EF4-FFF2-40B4-BE49-F238E27FC236}">
                <a16:creationId xmlns:a16="http://schemas.microsoft.com/office/drawing/2014/main" id="{856B479C-56F0-7846-B611-C20CAAAF824F}"/>
              </a:ext>
            </a:extLst>
          </p:cNvPr>
          <p:cNvSpPr txBox="1"/>
          <p:nvPr/>
        </p:nvSpPr>
        <p:spPr>
          <a:xfrm>
            <a:off x="6223000" y="2540000"/>
            <a:ext cx="5207000" cy="3556000"/>
          </a:xfrm>
          <a:prstGeom prst="rect">
            <a:avLst/>
          </a:prstGeom>
          <a:noFill/>
        </p:spPr>
        <p:txBody>
          <a:bodyPr vertOverflow="overflow" vert="horz" wrap="square" rtlCol="0" anchor="t">
            <a:noAutofit/>
          </a:bodyPr>
          <a:lstStyle/>
          <a:p>
            <a:pPr algn="l"/>
            <a:r>
              <a:rPr lang="en-US" sz="1600">
                <a:solidFill>
                  <a:srgbClr val="1A1A1A"/>
                </a:solidFill>
                <a:latin typeface="Georgia"/>
              </a:rPr>
              <a:t>The SQL Firewall is the first wall. It catches structurally invalid queries before they consume any database resources, before they touch any session state, before they reach any policy. It is the cheapest defense in the stack and the one that fires most often.</a:t>
            </a:r>
          </a:p>
        </p:txBody>
      </p:sp>
      <p:sp>
        <p:nvSpPr>
          <p:cNvPr id="17" name="Rectangle 16">
            <a:extLst>
              <a:ext uri="{FF2B5EF4-FFF2-40B4-BE49-F238E27FC236}">
                <a16:creationId xmlns:a16="http://schemas.microsoft.com/office/drawing/2014/main" id="{FDE83F14-AF05-3D43-8F30-E8BE628A6E9F}"/>
              </a:ext>
            </a:extLst>
          </p:cNvPr>
          <p:cNvSpPr/>
          <p:nvPr/>
        </p:nvSpPr>
        <p:spPr>
          <a:xfrm>
            <a:off x="762000" y="6350000"/>
            <a:ext cx="10668000" cy="6350"/>
          </a:xfrm>
          <a:prstGeom prst="rect">
            <a:avLst/>
          </a:prstGeom>
          <a:solidFill>
            <a:srgbClr val="1A1A1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7BB8C372-8D41-BC4E-8D7F-E841A6E6A40E}"/>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19" name="TextBox 18">
            <a:extLst>
              <a:ext uri="{FF2B5EF4-FFF2-40B4-BE49-F238E27FC236}">
                <a16:creationId xmlns:a16="http://schemas.microsoft.com/office/drawing/2014/main" id="{EA9D33DD-A08E-2E46-AA03-001311ECE8C8}"/>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03 / 22</a:t>
            </a:r>
          </a:p>
        </p:txBody>
      </p:sp>
    </p:spTree>
    <p:extLst>
      <p:ext uri="{BB962C8B-B14F-4D97-AF65-F5344CB8AC3E}">
        <p14:creationId xmlns:p14="http://schemas.microsoft.com/office/powerpoint/2010/main" val="1164043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3FBE0B-C50B-0C4E-9943-1EEACE99459B}"/>
              </a:ext>
            </a:extLst>
          </p:cNvPr>
          <p:cNvSpPr/>
          <p:nvPr/>
        </p:nvSpPr>
        <p:spPr>
          <a:xfrm>
            <a:off x="762000" y="762000"/>
            <a:ext cx="1524000" cy="127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FD23C770-6A71-7748-94B0-398C486F6438}"/>
              </a:ext>
            </a:extLst>
          </p:cNvPr>
          <p:cNvSpPr txBox="1"/>
          <p:nvPr/>
        </p:nvSpPr>
        <p:spPr>
          <a:xfrm>
            <a:off x="762000" y="914400"/>
            <a:ext cx="7620000" cy="2794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THREAT MODEL</a:t>
            </a:r>
          </a:p>
        </p:txBody>
      </p:sp>
      <p:sp>
        <p:nvSpPr>
          <p:cNvPr id="6" name="TextBox 5">
            <a:extLst>
              <a:ext uri="{FF2B5EF4-FFF2-40B4-BE49-F238E27FC236}">
                <a16:creationId xmlns:a16="http://schemas.microsoft.com/office/drawing/2014/main" id="{F6ABC1F0-5F24-8C4F-AB17-64D892696EC4}"/>
              </a:ext>
            </a:extLst>
          </p:cNvPr>
          <p:cNvSpPr txBox="1"/>
          <p:nvPr/>
        </p:nvSpPr>
        <p:spPr>
          <a:xfrm>
            <a:off x="4572000" y="1397000"/>
            <a:ext cx="6858000" cy="4572000"/>
          </a:xfrm>
          <a:prstGeom prst="rect">
            <a:avLst/>
          </a:prstGeom>
          <a:noFill/>
        </p:spPr>
        <p:txBody>
          <a:bodyPr vertOverflow="overflow" vert="horz" wrap="none" rtlCol="0" anchor="t" anchorCtr="0">
            <a:noAutofit/>
          </a:bodyPr>
          <a:lstStyle/>
          <a:p>
            <a:pPr algn="l"/>
            <a:r>
              <a:rPr lang="en-US" sz="36000">
                <a:solidFill>
                  <a:srgbClr val="EFD9D9"/>
                </a:solidFill>
                <a:latin typeface="Georgia"/>
              </a:rPr>
              <a:t>02</a:t>
            </a:r>
          </a:p>
        </p:txBody>
      </p:sp>
      <p:sp>
        <p:nvSpPr>
          <p:cNvPr id="7" name="Rectangle 6">
            <a:extLst>
              <a:ext uri="{FF2B5EF4-FFF2-40B4-BE49-F238E27FC236}">
                <a16:creationId xmlns:a16="http://schemas.microsoft.com/office/drawing/2014/main" id="{1A4CB5B6-7BDE-CB4F-9DC0-64A3337ABE3D}"/>
              </a:ext>
            </a:extLst>
          </p:cNvPr>
          <p:cNvSpPr/>
          <p:nvPr/>
        </p:nvSpPr>
        <p:spPr>
          <a:xfrm>
            <a:off x="762000" y="4064000"/>
            <a:ext cx="25400" cy="10160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1B1607E8-E1E5-F845-95B2-64C8646C1725}"/>
              </a:ext>
            </a:extLst>
          </p:cNvPr>
          <p:cNvSpPr txBox="1"/>
          <p:nvPr/>
        </p:nvSpPr>
        <p:spPr>
          <a:xfrm>
            <a:off x="1016000" y="4064000"/>
            <a:ext cx="5080000" cy="279400"/>
          </a:xfrm>
          <a:prstGeom prst="rect">
            <a:avLst/>
          </a:prstGeom>
          <a:noFill/>
        </p:spPr>
        <p:txBody>
          <a:bodyPr vertOverflow="overflow" vert="horz" wrap="square" rtlCol="0" anchor="t">
            <a:noAutofit/>
          </a:bodyPr>
          <a:lstStyle/>
          <a:p>
            <a:pPr algn="l"/>
            <a:r>
              <a:rPr lang="en-US" sz="1400" i="1">
                <a:solidFill>
                  <a:srgbClr val="6B6B6B"/>
                </a:solidFill>
                <a:latin typeface="Georgia"/>
              </a:rPr>
              <a:t>§ 02</a:t>
            </a:r>
          </a:p>
        </p:txBody>
      </p:sp>
      <p:sp>
        <p:nvSpPr>
          <p:cNvPr id="9" name="TextBox 8">
            <a:extLst>
              <a:ext uri="{FF2B5EF4-FFF2-40B4-BE49-F238E27FC236}">
                <a16:creationId xmlns:a16="http://schemas.microsoft.com/office/drawing/2014/main" id="{922C957A-1AAE-7A4B-B076-92D760657DBA}"/>
              </a:ext>
            </a:extLst>
          </p:cNvPr>
          <p:cNvSpPr txBox="1"/>
          <p:nvPr/>
        </p:nvSpPr>
        <p:spPr>
          <a:xfrm>
            <a:off x="1016000" y="4419600"/>
            <a:ext cx="6858000" cy="762000"/>
          </a:xfrm>
          <a:prstGeom prst="rect">
            <a:avLst/>
          </a:prstGeom>
          <a:noFill/>
        </p:spPr>
        <p:txBody>
          <a:bodyPr vertOverflow="overflow" vert="horz" wrap="square" rtlCol="0" anchor="t">
            <a:noAutofit/>
          </a:bodyPr>
          <a:lstStyle/>
          <a:p>
            <a:pPr algn="l"/>
            <a:r>
              <a:rPr lang="en-US" sz="3600" i="1">
                <a:solidFill>
                  <a:srgbClr val="1A1A1A"/>
                </a:solidFill>
                <a:latin typeface="Georgia"/>
              </a:rPr>
              <a:t>The threat being defended</a:t>
            </a:r>
          </a:p>
        </p:txBody>
      </p:sp>
    </p:spTree>
    <p:extLst>
      <p:ext uri="{BB962C8B-B14F-4D97-AF65-F5344CB8AC3E}">
        <p14:creationId xmlns:p14="http://schemas.microsoft.com/office/powerpoint/2010/main" val="2198579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60646F2B-1BB1-3C4E-98DB-588D4DE8A9AC}"/>
              </a:ext>
            </a:extLst>
          </p:cNvPr>
          <p:cNvSpPr/>
          <p:nvPr/>
        </p:nvSpPr>
        <p:spPr>
          <a:xfrm>
            <a:off x="762000" y="762000"/>
            <a:ext cx="1524000" cy="127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A6FE49DC-D26F-5945-A332-4AD2C36E6680}"/>
              </a:ext>
            </a:extLst>
          </p:cNvPr>
          <p:cNvSpPr txBox="1"/>
          <p:nvPr/>
        </p:nvSpPr>
        <p:spPr>
          <a:xfrm>
            <a:off x="762000" y="914400"/>
            <a:ext cx="7620000" cy="2286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02  ·  THREAT MODEL</a:t>
            </a:r>
          </a:p>
        </p:txBody>
      </p:sp>
      <p:sp>
        <p:nvSpPr>
          <p:cNvPr id="3" name="TextBox 2">
            <a:extLst>
              <a:ext uri="{FF2B5EF4-FFF2-40B4-BE49-F238E27FC236}">
                <a16:creationId xmlns:a16="http://schemas.microsoft.com/office/drawing/2014/main" id="{DF49F714-A66E-5E43-A5D9-798A71FC468B}"/>
              </a:ext>
            </a:extLst>
          </p:cNvPr>
          <p:cNvSpPr txBox="1"/>
          <p:nvPr/>
        </p:nvSpPr>
        <p:spPr>
          <a:xfrm>
            <a:off x="762000" y="1460500"/>
            <a:ext cx="10668000" cy="635000"/>
          </a:xfrm>
          <a:prstGeom prst="rect">
            <a:avLst/>
          </a:prstGeom>
          <a:noFill/>
        </p:spPr>
        <p:txBody>
          <a:bodyPr vertOverflow="overflow" vert="horz" wrap="square" rtlCol="0" anchor="t">
            <a:noAutofit/>
          </a:bodyPr>
          <a:lstStyle/>
          <a:p>
            <a:pPr algn="l"/>
            <a:r>
              <a:rPr lang="en-US" sz="2800">
                <a:solidFill>
                  <a:srgbClr val="1A1A1A"/>
                </a:solidFill>
                <a:latin typeface="Georgia"/>
              </a:rPr>
              <a:t>What an attacker — or a confused model — produces</a:t>
            </a:r>
          </a:p>
        </p:txBody>
      </p:sp>
      <p:sp>
        <p:nvSpPr>
          <p:cNvPr id="4" name="Rectangle 3">
            <a:extLst>
              <a:ext uri="{FF2B5EF4-FFF2-40B4-BE49-F238E27FC236}">
                <a16:creationId xmlns:a16="http://schemas.microsoft.com/office/drawing/2014/main" id="{17FEDA90-0DB3-7E4B-A4F9-5D7504CB83E6}"/>
              </a:ext>
            </a:extLst>
          </p:cNvPr>
          <p:cNvSpPr/>
          <p:nvPr/>
        </p:nvSpPr>
        <p:spPr>
          <a:xfrm>
            <a:off x="762000" y="2032000"/>
            <a:ext cx="5080000" cy="1270000"/>
          </a:xfrm>
          <a:prstGeom prst="rect">
            <a:avLst/>
          </a:prstGeom>
          <a:solidFill>
            <a:srgbClr val="FFFFFF"/>
          </a:solidFill>
          <a:ln w="952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D15BD503-2D0F-2246-99BC-3FFAF16D5BA4}"/>
              </a:ext>
            </a:extLst>
          </p:cNvPr>
          <p:cNvSpPr txBox="1"/>
          <p:nvPr/>
        </p:nvSpPr>
        <p:spPr>
          <a:xfrm>
            <a:off x="939800" y="2184400"/>
            <a:ext cx="4724400" cy="304800"/>
          </a:xfrm>
          <a:prstGeom prst="rect">
            <a:avLst/>
          </a:prstGeom>
          <a:noFill/>
        </p:spPr>
        <p:txBody>
          <a:bodyPr vertOverflow="overflow" vert="horz" wrap="square" rtlCol="0" anchor="t">
            <a:noAutofit/>
          </a:bodyPr>
          <a:lstStyle/>
          <a:p>
            <a:pPr algn="l"/>
            <a:r>
              <a:rPr lang="en-US" sz="1600">
                <a:solidFill>
                  <a:srgbClr val="8B2E2E"/>
                </a:solidFill>
                <a:latin typeface="Georgia"/>
              </a:rPr>
              <a:t>Multi-statement payload</a:t>
            </a:r>
          </a:p>
        </p:txBody>
      </p:sp>
      <p:sp>
        <p:nvSpPr>
          <p:cNvPr id="6" name="TextBox 5">
            <a:extLst>
              <a:ext uri="{FF2B5EF4-FFF2-40B4-BE49-F238E27FC236}">
                <a16:creationId xmlns:a16="http://schemas.microsoft.com/office/drawing/2014/main" id="{89B8556F-FC75-E14F-BCC2-838ACE99BABE}"/>
              </a:ext>
            </a:extLst>
          </p:cNvPr>
          <p:cNvSpPr txBox="1"/>
          <p:nvPr/>
        </p:nvSpPr>
        <p:spPr>
          <a:xfrm>
            <a:off x="939800" y="2565400"/>
            <a:ext cx="4724400" cy="635000"/>
          </a:xfrm>
          <a:prstGeom prst="rect">
            <a:avLst/>
          </a:prstGeom>
          <a:noFill/>
        </p:spPr>
        <p:txBody>
          <a:bodyPr vertOverflow="overflow" vert="horz" wrap="square" rtlCol="0" anchor="t">
            <a:noAutofit/>
          </a:bodyPr>
          <a:lstStyle/>
          <a:p>
            <a:pPr algn="l"/>
            <a:r>
              <a:rPr lang="en-US" sz="1100">
                <a:solidFill>
                  <a:srgbClr val="6B6B6B"/>
                </a:solidFill>
                <a:latin typeface="Consolas"/>
                <a:cs typeface="Consolas"/>
              </a:rPr>
              <a:t>SET app_allowed_entities='99'; SELECT ...</a:t>
            </a:r>
          </a:p>
        </p:txBody>
      </p:sp>
      <p:sp>
        <p:nvSpPr>
          <p:cNvPr id="7" name="Rectangle 6">
            <a:extLst>
              <a:ext uri="{FF2B5EF4-FFF2-40B4-BE49-F238E27FC236}">
                <a16:creationId xmlns:a16="http://schemas.microsoft.com/office/drawing/2014/main" id="{5F336887-34A6-AB47-8D85-4AB80774A55A}"/>
              </a:ext>
            </a:extLst>
          </p:cNvPr>
          <p:cNvSpPr/>
          <p:nvPr/>
        </p:nvSpPr>
        <p:spPr>
          <a:xfrm>
            <a:off x="6096000" y="2032000"/>
            <a:ext cx="5080000" cy="1270000"/>
          </a:xfrm>
          <a:prstGeom prst="rect">
            <a:avLst/>
          </a:prstGeom>
          <a:solidFill>
            <a:srgbClr val="FFFFFF"/>
          </a:solidFill>
          <a:ln w="952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AA5A585D-4B50-4642-9CA7-2CEB9DC8632D}"/>
              </a:ext>
            </a:extLst>
          </p:cNvPr>
          <p:cNvSpPr txBox="1"/>
          <p:nvPr/>
        </p:nvSpPr>
        <p:spPr>
          <a:xfrm>
            <a:off x="6273800" y="2184400"/>
            <a:ext cx="4724400" cy="304800"/>
          </a:xfrm>
          <a:prstGeom prst="rect">
            <a:avLst/>
          </a:prstGeom>
          <a:noFill/>
        </p:spPr>
        <p:txBody>
          <a:bodyPr vertOverflow="overflow" vert="horz" wrap="square" rtlCol="0" anchor="t">
            <a:noAutofit/>
          </a:bodyPr>
          <a:lstStyle/>
          <a:p>
            <a:pPr algn="l"/>
            <a:r>
              <a:rPr lang="en-US" sz="1600">
                <a:solidFill>
                  <a:srgbClr val="1F3A5F"/>
                </a:solidFill>
                <a:latin typeface="Georgia"/>
              </a:rPr>
              <a:t>Wrong statement type</a:t>
            </a:r>
          </a:p>
        </p:txBody>
      </p:sp>
      <p:sp>
        <p:nvSpPr>
          <p:cNvPr id="9" name="TextBox 8">
            <a:extLst>
              <a:ext uri="{FF2B5EF4-FFF2-40B4-BE49-F238E27FC236}">
                <a16:creationId xmlns:a16="http://schemas.microsoft.com/office/drawing/2014/main" id="{E3215F66-80C5-8740-889E-6C2F3C7B9762}"/>
              </a:ext>
            </a:extLst>
          </p:cNvPr>
          <p:cNvSpPr txBox="1"/>
          <p:nvPr/>
        </p:nvSpPr>
        <p:spPr>
          <a:xfrm>
            <a:off x="6273800" y="2565400"/>
            <a:ext cx="4724400" cy="635000"/>
          </a:xfrm>
          <a:prstGeom prst="rect">
            <a:avLst/>
          </a:prstGeom>
          <a:noFill/>
        </p:spPr>
        <p:txBody>
          <a:bodyPr vertOverflow="overflow" vert="horz" wrap="square" rtlCol="0" anchor="t">
            <a:noAutofit/>
          </a:bodyPr>
          <a:lstStyle/>
          <a:p>
            <a:pPr algn="l"/>
            <a:r>
              <a:rPr lang="en-US" sz="1100">
                <a:solidFill>
                  <a:srgbClr val="6B6B6B"/>
                </a:solidFill>
                <a:latin typeface="Consolas"/>
                <a:cs typeface="Consolas"/>
              </a:rPr>
              <a:t>INSERT INTO curated.my_revenue VALUES (...)</a:t>
            </a:r>
          </a:p>
        </p:txBody>
      </p:sp>
      <p:sp>
        <p:nvSpPr>
          <p:cNvPr id="10" name="Rectangle 9">
            <a:extLst>
              <a:ext uri="{FF2B5EF4-FFF2-40B4-BE49-F238E27FC236}">
                <a16:creationId xmlns:a16="http://schemas.microsoft.com/office/drawing/2014/main" id="{172168A6-5702-E44F-A538-6A139742B1DA}"/>
              </a:ext>
            </a:extLst>
          </p:cNvPr>
          <p:cNvSpPr/>
          <p:nvPr/>
        </p:nvSpPr>
        <p:spPr>
          <a:xfrm>
            <a:off x="762000" y="3505200"/>
            <a:ext cx="5080000" cy="1270000"/>
          </a:xfrm>
          <a:prstGeom prst="rect">
            <a:avLst/>
          </a:prstGeom>
          <a:solidFill>
            <a:srgbClr val="FFFFFF"/>
          </a:solidFill>
          <a:ln w="952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13D5C310-A241-4B4D-93DD-CD967595462E}"/>
              </a:ext>
            </a:extLst>
          </p:cNvPr>
          <p:cNvSpPr txBox="1"/>
          <p:nvPr/>
        </p:nvSpPr>
        <p:spPr>
          <a:xfrm>
            <a:off x="939800" y="3657600"/>
            <a:ext cx="4724400" cy="304800"/>
          </a:xfrm>
          <a:prstGeom prst="rect">
            <a:avLst/>
          </a:prstGeom>
          <a:noFill/>
        </p:spPr>
        <p:txBody>
          <a:bodyPr vertOverflow="overflow" vert="horz" wrap="square" rtlCol="0" anchor="t">
            <a:noAutofit/>
          </a:bodyPr>
          <a:lstStyle/>
          <a:p>
            <a:pPr algn="l"/>
            <a:r>
              <a:rPr lang="en-US" sz="1600">
                <a:solidFill>
                  <a:srgbClr val="B88838"/>
                </a:solidFill>
                <a:latin typeface="Georgia"/>
              </a:rPr>
              <a:t>Out-of-scope tables</a:t>
            </a:r>
          </a:p>
        </p:txBody>
      </p:sp>
      <p:sp>
        <p:nvSpPr>
          <p:cNvPr id="12" name="TextBox 11">
            <a:extLst>
              <a:ext uri="{FF2B5EF4-FFF2-40B4-BE49-F238E27FC236}">
                <a16:creationId xmlns:a16="http://schemas.microsoft.com/office/drawing/2014/main" id="{476F0DB0-7F93-5A40-839F-51432838FA1D}"/>
              </a:ext>
            </a:extLst>
          </p:cNvPr>
          <p:cNvSpPr txBox="1"/>
          <p:nvPr/>
        </p:nvSpPr>
        <p:spPr>
          <a:xfrm>
            <a:off x="939800" y="4038600"/>
            <a:ext cx="4724400" cy="635000"/>
          </a:xfrm>
          <a:prstGeom prst="rect">
            <a:avLst/>
          </a:prstGeom>
          <a:noFill/>
        </p:spPr>
        <p:txBody>
          <a:bodyPr vertOverflow="overflow" vert="horz" wrap="square" rtlCol="0" anchor="t">
            <a:noAutofit/>
          </a:bodyPr>
          <a:lstStyle/>
          <a:p>
            <a:pPr algn="l"/>
            <a:r>
              <a:rPr lang="en-US" sz="1100">
                <a:solidFill>
                  <a:srgbClr val="6B6B6B"/>
                </a:solidFill>
                <a:latin typeface="Consolas"/>
                <a:cs typeface="Consolas"/>
              </a:rPr>
              <a:t>SELECT * FROM raw.revenue</a:t>
            </a:r>
          </a:p>
        </p:txBody>
      </p:sp>
      <p:sp>
        <p:nvSpPr>
          <p:cNvPr id="13" name="Rectangle 12">
            <a:extLst>
              <a:ext uri="{FF2B5EF4-FFF2-40B4-BE49-F238E27FC236}">
                <a16:creationId xmlns:a16="http://schemas.microsoft.com/office/drawing/2014/main" id="{07826DAA-2630-7942-B140-2137FDE9E68A}"/>
              </a:ext>
            </a:extLst>
          </p:cNvPr>
          <p:cNvSpPr/>
          <p:nvPr/>
        </p:nvSpPr>
        <p:spPr>
          <a:xfrm>
            <a:off x="6096000" y="3505200"/>
            <a:ext cx="5080000" cy="1270000"/>
          </a:xfrm>
          <a:prstGeom prst="rect">
            <a:avLst/>
          </a:prstGeom>
          <a:solidFill>
            <a:srgbClr val="FFFFFF"/>
          </a:solidFill>
          <a:ln w="952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558D1487-6C3A-2440-A1DB-9F528BFD871B}"/>
              </a:ext>
            </a:extLst>
          </p:cNvPr>
          <p:cNvSpPr txBox="1"/>
          <p:nvPr/>
        </p:nvSpPr>
        <p:spPr>
          <a:xfrm>
            <a:off x="6273800" y="3657600"/>
            <a:ext cx="4724400" cy="304800"/>
          </a:xfrm>
          <a:prstGeom prst="rect">
            <a:avLst/>
          </a:prstGeom>
          <a:noFill/>
        </p:spPr>
        <p:txBody>
          <a:bodyPr vertOverflow="overflow" vert="horz" wrap="square" rtlCol="0" anchor="t">
            <a:noAutofit/>
          </a:bodyPr>
          <a:lstStyle/>
          <a:p>
            <a:pPr algn="l"/>
            <a:r>
              <a:rPr lang="en-US" sz="1600">
                <a:solidFill>
                  <a:srgbClr val="5A7A5A"/>
                </a:solidFill>
                <a:latin typeface="Georgia"/>
              </a:rPr>
              <a:t>Forbidden constructs</a:t>
            </a:r>
          </a:p>
        </p:txBody>
      </p:sp>
      <p:sp>
        <p:nvSpPr>
          <p:cNvPr id="15" name="TextBox 14">
            <a:extLst>
              <a:ext uri="{FF2B5EF4-FFF2-40B4-BE49-F238E27FC236}">
                <a16:creationId xmlns:a16="http://schemas.microsoft.com/office/drawing/2014/main" id="{01E2A83E-CEAC-474D-9B63-9D4DA5C6E675}"/>
              </a:ext>
            </a:extLst>
          </p:cNvPr>
          <p:cNvSpPr txBox="1"/>
          <p:nvPr/>
        </p:nvSpPr>
        <p:spPr>
          <a:xfrm>
            <a:off x="6273800" y="4038600"/>
            <a:ext cx="4724400" cy="635000"/>
          </a:xfrm>
          <a:prstGeom prst="rect">
            <a:avLst/>
          </a:prstGeom>
          <a:noFill/>
        </p:spPr>
        <p:txBody>
          <a:bodyPr vertOverflow="overflow" vert="horz" wrap="square" rtlCol="0" anchor="t">
            <a:noAutofit/>
          </a:bodyPr>
          <a:lstStyle/>
          <a:p>
            <a:pPr algn="l"/>
            <a:r>
              <a:rPr lang="en-US" sz="1100">
                <a:solidFill>
                  <a:srgbClr val="6B6B6B"/>
                </a:solidFill>
                <a:latin typeface="Consolas"/>
                <a:cs typeface="Consolas"/>
              </a:rPr>
              <a:t>USE ROLE compliance_admin</a:t>
            </a:r>
          </a:p>
        </p:txBody>
      </p:sp>
      <p:sp>
        <p:nvSpPr>
          <p:cNvPr id="16" name="Rectangle 15">
            <a:extLst>
              <a:ext uri="{FF2B5EF4-FFF2-40B4-BE49-F238E27FC236}">
                <a16:creationId xmlns:a16="http://schemas.microsoft.com/office/drawing/2014/main" id="{767FE874-B00B-4F44-9F3A-EAD9CC9B19B8}"/>
              </a:ext>
            </a:extLst>
          </p:cNvPr>
          <p:cNvSpPr/>
          <p:nvPr/>
        </p:nvSpPr>
        <p:spPr>
          <a:xfrm>
            <a:off x="762000" y="4978400"/>
            <a:ext cx="5080000" cy="1270000"/>
          </a:xfrm>
          <a:prstGeom prst="rect">
            <a:avLst/>
          </a:prstGeom>
          <a:solidFill>
            <a:srgbClr val="FFFFFF"/>
          </a:solidFill>
          <a:ln w="952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955B3236-6461-3140-AC1B-4F273F6488B6}"/>
              </a:ext>
            </a:extLst>
          </p:cNvPr>
          <p:cNvSpPr txBox="1"/>
          <p:nvPr/>
        </p:nvSpPr>
        <p:spPr>
          <a:xfrm>
            <a:off x="939800" y="5130800"/>
            <a:ext cx="4724400" cy="304800"/>
          </a:xfrm>
          <a:prstGeom prst="rect">
            <a:avLst/>
          </a:prstGeom>
          <a:noFill/>
        </p:spPr>
        <p:txBody>
          <a:bodyPr vertOverflow="overflow" vert="horz" wrap="square" rtlCol="0" anchor="t">
            <a:noAutofit/>
          </a:bodyPr>
          <a:lstStyle/>
          <a:p>
            <a:pPr algn="l"/>
            <a:r>
              <a:rPr lang="en-US" sz="1600">
                <a:solidFill>
                  <a:srgbClr val="6B6B6B"/>
                </a:solidFill>
                <a:latin typeface="Georgia"/>
              </a:rPr>
              <a:t>Information disclosure</a:t>
            </a:r>
          </a:p>
        </p:txBody>
      </p:sp>
      <p:sp>
        <p:nvSpPr>
          <p:cNvPr id="18" name="TextBox 17">
            <a:extLst>
              <a:ext uri="{FF2B5EF4-FFF2-40B4-BE49-F238E27FC236}">
                <a16:creationId xmlns:a16="http://schemas.microsoft.com/office/drawing/2014/main" id="{B4256859-5B48-6743-B9D8-07D0794D76F9}"/>
              </a:ext>
            </a:extLst>
          </p:cNvPr>
          <p:cNvSpPr txBox="1"/>
          <p:nvPr/>
        </p:nvSpPr>
        <p:spPr>
          <a:xfrm>
            <a:off x="939800" y="5511800"/>
            <a:ext cx="4724400" cy="635000"/>
          </a:xfrm>
          <a:prstGeom prst="rect">
            <a:avLst/>
          </a:prstGeom>
          <a:noFill/>
        </p:spPr>
        <p:txBody>
          <a:bodyPr vertOverflow="overflow" vert="horz" wrap="square" rtlCol="0" anchor="t">
            <a:noAutofit/>
          </a:bodyPr>
          <a:lstStyle/>
          <a:p>
            <a:pPr algn="l"/>
            <a:r>
              <a:rPr lang="en-US" sz="1100">
                <a:solidFill>
                  <a:srgbClr val="6B6B6B"/>
                </a:solidFill>
                <a:latin typeface="Consolas"/>
                <a:cs typeface="Consolas"/>
              </a:rPr>
              <a:t>SELECT GET_DDL('TABLE', 'curated.x')</a:t>
            </a:r>
          </a:p>
        </p:txBody>
      </p:sp>
      <p:sp>
        <p:nvSpPr>
          <p:cNvPr id="19" name="TextBox 18">
            <a:extLst>
              <a:ext uri="{FF2B5EF4-FFF2-40B4-BE49-F238E27FC236}">
                <a16:creationId xmlns:a16="http://schemas.microsoft.com/office/drawing/2014/main" id="{836407F9-9037-BD4D-B4A2-B1293D5E7573}"/>
              </a:ext>
            </a:extLst>
          </p:cNvPr>
          <p:cNvSpPr txBox="1"/>
          <p:nvPr/>
        </p:nvSpPr>
        <p:spPr>
          <a:xfrm>
            <a:off x="6096000" y="5270500"/>
            <a:ext cx="5334000" cy="889000"/>
          </a:xfrm>
          <a:prstGeom prst="rect">
            <a:avLst/>
          </a:prstGeom>
          <a:noFill/>
        </p:spPr>
        <p:txBody>
          <a:bodyPr vertOverflow="overflow" vert="horz" wrap="square" rtlCol="0" anchor="ctr" anchorCtr="0">
            <a:noAutofit/>
          </a:bodyPr>
          <a:lstStyle/>
          <a:p>
            <a:pPr algn="l"/>
            <a:r>
              <a:rPr lang="en-US" sz="1400" i="1">
                <a:solidFill>
                  <a:srgbClr val="1A1A1A"/>
                </a:solidFill>
                <a:latin typeface="Georgia"/>
              </a:rPr>
              <a:t>Each of these is rejected before any database connection is opened.</a:t>
            </a:r>
          </a:p>
        </p:txBody>
      </p:sp>
      <p:sp>
        <p:nvSpPr>
          <p:cNvPr id="20" name="Rectangle 19">
            <a:extLst>
              <a:ext uri="{FF2B5EF4-FFF2-40B4-BE49-F238E27FC236}">
                <a16:creationId xmlns:a16="http://schemas.microsoft.com/office/drawing/2014/main" id="{0A459435-02B7-7345-A496-4DA5E32FCC78}"/>
              </a:ext>
            </a:extLst>
          </p:cNvPr>
          <p:cNvSpPr/>
          <p:nvPr/>
        </p:nvSpPr>
        <p:spPr>
          <a:xfrm>
            <a:off x="762000" y="6350000"/>
            <a:ext cx="10668000" cy="6350"/>
          </a:xfrm>
          <a:prstGeom prst="rect">
            <a:avLst/>
          </a:prstGeom>
          <a:solidFill>
            <a:srgbClr val="1A1A1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09677AE4-86C5-1B43-AA1F-97FB76A87C78}"/>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22" name="TextBox 21">
            <a:extLst>
              <a:ext uri="{FF2B5EF4-FFF2-40B4-BE49-F238E27FC236}">
                <a16:creationId xmlns:a16="http://schemas.microsoft.com/office/drawing/2014/main" id="{0779E277-4960-334B-B141-468DC6FD6C33}"/>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05 / 22</a:t>
            </a:r>
          </a:p>
        </p:txBody>
      </p:sp>
      <p:sp>
        <p:nvSpPr>
          <p:cNvPr id="24" name="Rectangle 23">
            <a:extLst>
              <a:ext uri="{FF2B5EF4-FFF2-40B4-BE49-F238E27FC236}">
                <a16:creationId xmlns:a16="http://schemas.microsoft.com/office/drawing/2014/main" id="{B70E741A-D075-EE4A-AAFF-8AEDE697F424}"/>
              </a:ext>
            </a:extLst>
          </p:cNvPr>
          <p:cNvSpPr/>
          <p:nvPr/>
        </p:nvSpPr>
        <p:spPr>
          <a:xfrm>
            <a:off x="762000" y="2032000"/>
            <a:ext cx="50800" cy="12700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24">
            <a:extLst>
              <a:ext uri="{FF2B5EF4-FFF2-40B4-BE49-F238E27FC236}">
                <a16:creationId xmlns:a16="http://schemas.microsoft.com/office/drawing/2014/main" id="{2BCE47D9-A829-BB4C-9CF4-19D89ACE4F32}"/>
              </a:ext>
            </a:extLst>
          </p:cNvPr>
          <p:cNvSpPr/>
          <p:nvPr/>
        </p:nvSpPr>
        <p:spPr>
          <a:xfrm>
            <a:off x="6096000" y="2032000"/>
            <a:ext cx="50800" cy="1270000"/>
          </a:xfrm>
          <a:prstGeom prst="rect">
            <a:avLst/>
          </a:prstGeom>
          <a:solidFill>
            <a:srgbClr val="1F3A5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268C1BCC-0748-604D-8977-3B6DEC5AEB3F}"/>
              </a:ext>
            </a:extLst>
          </p:cNvPr>
          <p:cNvSpPr/>
          <p:nvPr/>
        </p:nvSpPr>
        <p:spPr>
          <a:xfrm>
            <a:off x="762000" y="3505200"/>
            <a:ext cx="50800" cy="1270000"/>
          </a:xfrm>
          <a:prstGeom prst="rect">
            <a:avLst/>
          </a:prstGeom>
          <a:solidFill>
            <a:srgbClr val="B8883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26">
            <a:extLst>
              <a:ext uri="{FF2B5EF4-FFF2-40B4-BE49-F238E27FC236}">
                <a16:creationId xmlns:a16="http://schemas.microsoft.com/office/drawing/2014/main" id="{5FA9969D-0B8B-7A40-8FA0-507677372C26}"/>
              </a:ext>
            </a:extLst>
          </p:cNvPr>
          <p:cNvSpPr/>
          <p:nvPr/>
        </p:nvSpPr>
        <p:spPr>
          <a:xfrm>
            <a:off x="6096000" y="3505200"/>
            <a:ext cx="50800" cy="1270000"/>
          </a:xfrm>
          <a:prstGeom prst="rect">
            <a:avLst/>
          </a:prstGeom>
          <a:solidFill>
            <a:srgbClr val="5A7A5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Rectangle 27">
            <a:extLst>
              <a:ext uri="{FF2B5EF4-FFF2-40B4-BE49-F238E27FC236}">
                <a16:creationId xmlns:a16="http://schemas.microsoft.com/office/drawing/2014/main" id="{B23F5577-DC9D-934B-B791-6E061820DB3B}"/>
              </a:ext>
            </a:extLst>
          </p:cNvPr>
          <p:cNvSpPr/>
          <p:nvPr/>
        </p:nvSpPr>
        <p:spPr>
          <a:xfrm>
            <a:off x="762000" y="4978400"/>
            <a:ext cx="50800" cy="1270000"/>
          </a:xfrm>
          <a:prstGeom prst="rect">
            <a:avLst/>
          </a:prstGeom>
          <a:solidFill>
            <a:srgbClr val="6B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658115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D9630CC-1382-2B4B-9E65-C711ADDF7A39}"/>
              </a:ext>
            </a:extLst>
          </p:cNvPr>
          <p:cNvSpPr/>
          <p:nvPr/>
        </p:nvSpPr>
        <p:spPr>
          <a:xfrm>
            <a:off x="762000" y="762000"/>
            <a:ext cx="1524000" cy="127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TextBox 31">
            <a:extLst>
              <a:ext uri="{FF2B5EF4-FFF2-40B4-BE49-F238E27FC236}">
                <a16:creationId xmlns:a16="http://schemas.microsoft.com/office/drawing/2014/main" id="{62B9C17A-88BD-DF46-AD12-B3988E4E038F}"/>
              </a:ext>
            </a:extLst>
          </p:cNvPr>
          <p:cNvSpPr txBox="1"/>
          <p:nvPr/>
        </p:nvSpPr>
        <p:spPr>
          <a:xfrm>
            <a:off x="762000" y="914400"/>
            <a:ext cx="7620000" cy="2286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03  ·  MECHANISM</a:t>
            </a:r>
          </a:p>
        </p:txBody>
      </p:sp>
      <p:sp>
        <p:nvSpPr>
          <p:cNvPr id="33" name="TextBox 32">
            <a:extLst>
              <a:ext uri="{FF2B5EF4-FFF2-40B4-BE49-F238E27FC236}">
                <a16:creationId xmlns:a16="http://schemas.microsoft.com/office/drawing/2014/main" id="{4757D4EA-DE52-D149-89E0-E5F167A30410}"/>
              </a:ext>
            </a:extLst>
          </p:cNvPr>
          <p:cNvSpPr txBox="1"/>
          <p:nvPr/>
        </p:nvSpPr>
        <p:spPr>
          <a:xfrm>
            <a:off x="762000" y="1397000"/>
            <a:ext cx="10668000" cy="635000"/>
          </a:xfrm>
          <a:prstGeom prst="rect">
            <a:avLst/>
          </a:prstGeom>
          <a:noFill/>
        </p:spPr>
        <p:txBody>
          <a:bodyPr vertOverflow="overflow" vert="horz" wrap="square" rtlCol="0" anchor="t">
            <a:noAutofit/>
          </a:bodyPr>
          <a:lstStyle/>
          <a:p>
            <a:pPr algn="l"/>
            <a:r>
              <a:rPr lang="en-US" sz="3200">
                <a:solidFill>
                  <a:srgbClr val="1A1A1A"/>
                </a:solidFill>
                <a:latin typeface="Georgia"/>
              </a:rPr>
              <a:t>Parse, validate, normalize.</a:t>
            </a:r>
          </a:p>
        </p:txBody>
      </p:sp>
      <p:sp>
        <p:nvSpPr>
          <p:cNvPr id="34" name="TextBox 33">
            <a:extLst>
              <a:ext uri="{FF2B5EF4-FFF2-40B4-BE49-F238E27FC236}">
                <a16:creationId xmlns:a16="http://schemas.microsoft.com/office/drawing/2014/main" id="{DBFB753A-3A48-4947-8565-CD9EFACA6CEE}"/>
              </a:ext>
            </a:extLst>
          </p:cNvPr>
          <p:cNvSpPr txBox="1"/>
          <p:nvPr/>
        </p:nvSpPr>
        <p:spPr>
          <a:xfrm>
            <a:off x="762000" y="2057400"/>
            <a:ext cx="7620000" cy="457200"/>
          </a:xfrm>
          <a:prstGeom prst="rect">
            <a:avLst/>
          </a:prstGeom>
          <a:noFill/>
        </p:spPr>
        <p:txBody>
          <a:bodyPr vertOverflow="overflow" vert="horz" wrap="square" rtlCol="0" anchor="t">
            <a:noAutofit/>
          </a:bodyPr>
          <a:lstStyle/>
          <a:p>
            <a:pPr algn="l"/>
            <a:r>
              <a:rPr lang="en-US" sz="1400" i="1">
                <a:solidFill>
                  <a:srgbClr val="6B6B6B"/>
                </a:solidFill>
                <a:latin typeface="Georgia"/>
              </a:rPr>
              <a:t>The firewall is a pure function. SQL goes in; safe SQL — or a rejection — comes out. Nothing else.</a:t>
            </a:r>
          </a:p>
        </p:txBody>
      </p:sp>
      <p:sp>
        <p:nvSpPr>
          <p:cNvPr id="35" name="Rectangle 34">
            <a:extLst>
              <a:ext uri="{FF2B5EF4-FFF2-40B4-BE49-F238E27FC236}">
                <a16:creationId xmlns:a16="http://schemas.microsoft.com/office/drawing/2014/main" id="{A3EE5A60-7CB3-F249-A4C1-164782F31C34}"/>
              </a:ext>
            </a:extLst>
          </p:cNvPr>
          <p:cNvSpPr/>
          <p:nvPr/>
        </p:nvSpPr>
        <p:spPr>
          <a:xfrm>
            <a:off x="1600200" y="2819400"/>
            <a:ext cx="6350" cy="304800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TextBox 35">
            <a:extLst>
              <a:ext uri="{FF2B5EF4-FFF2-40B4-BE49-F238E27FC236}">
                <a16:creationId xmlns:a16="http://schemas.microsoft.com/office/drawing/2014/main" id="{DAF6BE93-BAC3-DC41-BA99-339B54CCB72F}"/>
              </a:ext>
            </a:extLst>
          </p:cNvPr>
          <p:cNvSpPr txBox="1"/>
          <p:nvPr/>
        </p:nvSpPr>
        <p:spPr>
          <a:xfrm>
            <a:off x="762000" y="2819400"/>
            <a:ext cx="1397000" cy="381000"/>
          </a:xfrm>
          <a:prstGeom prst="rect">
            <a:avLst/>
          </a:prstGeom>
          <a:noFill/>
        </p:spPr>
        <p:txBody>
          <a:bodyPr vertOverflow="overflow" vert="horz" wrap="square" rtlCol="0" anchor="t">
            <a:noAutofit/>
          </a:bodyPr>
          <a:lstStyle/>
          <a:p>
            <a:pPr algn="l"/>
            <a:r>
              <a:rPr lang="en-US" sz="1100" b="1" dirty="0">
                <a:solidFill>
                  <a:srgbClr val="1F3A5F"/>
                </a:solidFill>
                <a:latin typeface="Calibri"/>
                <a:cs typeface="Calibri"/>
              </a:rPr>
              <a:t>STEP ONE</a:t>
            </a:r>
          </a:p>
        </p:txBody>
      </p:sp>
      <p:sp>
        <p:nvSpPr>
          <p:cNvPr id="37" name="Oval 36">
            <a:extLst>
              <a:ext uri="{FF2B5EF4-FFF2-40B4-BE49-F238E27FC236}">
                <a16:creationId xmlns:a16="http://schemas.microsoft.com/office/drawing/2014/main" id="{6FBCBE71-CC5B-BB4A-9800-4BC851056187}"/>
              </a:ext>
            </a:extLst>
          </p:cNvPr>
          <p:cNvSpPr/>
          <p:nvPr/>
        </p:nvSpPr>
        <p:spPr>
          <a:xfrm>
            <a:off x="1549400" y="2959100"/>
            <a:ext cx="101600" cy="101600"/>
          </a:xfrm>
          <a:prstGeom prst="ellipse">
            <a:avLst/>
          </a:prstGeom>
          <a:solidFill>
            <a:srgbClr val="1F3A5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8" name="TextBox 37">
            <a:extLst>
              <a:ext uri="{FF2B5EF4-FFF2-40B4-BE49-F238E27FC236}">
                <a16:creationId xmlns:a16="http://schemas.microsoft.com/office/drawing/2014/main" id="{52D0B9E9-3DE9-114C-A554-5B998E439EDD}"/>
              </a:ext>
            </a:extLst>
          </p:cNvPr>
          <p:cNvSpPr txBox="1"/>
          <p:nvPr/>
        </p:nvSpPr>
        <p:spPr>
          <a:xfrm>
            <a:off x="2006600" y="2819400"/>
            <a:ext cx="3556000" cy="228600"/>
          </a:xfrm>
          <a:prstGeom prst="rect">
            <a:avLst/>
          </a:prstGeom>
          <a:noFill/>
        </p:spPr>
        <p:txBody>
          <a:bodyPr vertOverflow="overflow" vert="horz" wrap="square" rtlCol="0" anchor="t">
            <a:noAutofit/>
          </a:bodyPr>
          <a:lstStyle/>
          <a:p>
            <a:pPr algn="l"/>
            <a:r>
              <a:rPr lang="en-US" sz="1200" b="1">
                <a:solidFill>
                  <a:srgbClr val="1F3A5F"/>
                </a:solidFill>
                <a:latin typeface="Calibri"/>
                <a:cs typeface="Calibri"/>
              </a:rPr>
              <a:t>PARSE</a:t>
            </a:r>
          </a:p>
        </p:txBody>
      </p:sp>
      <p:sp>
        <p:nvSpPr>
          <p:cNvPr id="39" name="TextBox 38">
            <a:extLst>
              <a:ext uri="{FF2B5EF4-FFF2-40B4-BE49-F238E27FC236}">
                <a16:creationId xmlns:a16="http://schemas.microsoft.com/office/drawing/2014/main" id="{F125C65F-E7D5-ED4D-9210-077A1C4F4BB8}"/>
              </a:ext>
            </a:extLst>
          </p:cNvPr>
          <p:cNvSpPr txBox="1"/>
          <p:nvPr/>
        </p:nvSpPr>
        <p:spPr>
          <a:xfrm>
            <a:off x="2006600" y="3098800"/>
            <a:ext cx="3683000" cy="457200"/>
          </a:xfrm>
          <a:prstGeom prst="rect">
            <a:avLst/>
          </a:prstGeom>
          <a:noFill/>
        </p:spPr>
        <p:txBody>
          <a:bodyPr vertOverflow="overflow" vert="horz" wrap="square" rtlCol="0" anchor="t">
            <a:noAutofit/>
          </a:bodyPr>
          <a:lstStyle/>
          <a:p>
            <a:pPr algn="l"/>
            <a:r>
              <a:rPr lang="en-US" sz="1400" dirty="0">
                <a:solidFill>
                  <a:srgbClr val="1A1A1A"/>
                </a:solidFill>
                <a:latin typeface="Georgia"/>
              </a:rPr>
              <a:t>sqlglot reads the SQL into a structured tree (an abstract syntax tree, or AST).</a:t>
            </a:r>
          </a:p>
        </p:txBody>
      </p:sp>
      <p:sp>
        <p:nvSpPr>
          <p:cNvPr id="40" name="TextBox 39">
            <a:extLst>
              <a:ext uri="{FF2B5EF4-FFF2-40B4-BE49-F238E27FC236}">
                <a16:creationId xmlns:a16="http://schemas.microsoft.com/office/drawing/2014/main" id="{903CDB44-5162-8E4F-AAD8-F1754BBC0256}"/>
              </a:ext>
            </a:extLst>
          </p:cNvPr>
          <p:cNvSpPr txBox="1"/>
          <p:nvPr/>
        </p:nvSpPr>
        <p:spPr>
          <a:xfrm>
            <a:off x="762000" y="3581400"/>
            <a:ext cx="1397000" cy="381000"/>
          </a:xfrm>
          <a:prstGeom prst="rect">
            <a:avLst/>
          </a:prstGeom>
          <a:noFill/>
        </p:spPr>
        <p:txBody>
          <a:bodyPr vertOverflow="overflow" vert="horz" wrap="square" rtlCol="0" anchor="t">
            <a:noAutofit/>
          </a:bodyPr>
          <a:lstStyle/>
          <a:p>
            <a:pPr algn="l"/>
            <a:r>
              <a:rPr lang="en-US" sz="1100" b="1" dirty="0">
                <a:solidFill>
                  <a:srgbClr val="B88838"/>
                </a:solidFill>
                <a:latin typeface="Calibri"/>
                <a:cs typeface="Calibri"/>
              </a:rPr>
              <a:t>STEP TWO</a:t>
            </a:r>
          </a:p>
        </p:txBody>
      </p:sp>
      <p:sp>
        <p:nvSpPr>
          <p:cNvPr id="41" name="Oval 40">
            <a:extLst>
              <a:ext uri="{FF2B5EF4-FFF2-40B4-BE49-F238E27FC236}">
                <a16:creationId xmlns:a16="http://schemas.microsoft.com/office/drawing/2014/main" id="{960E025A-8E15-9244-BE54-F5313430014F}"/>
              </a:ext>
            </a:extLst>
          </p:cNvPr>
          <p:cNvSpPr/>
          <p:nvPr/>
        </p:nvSpPr>
        <p:spPr>
          <a:xfrm>
            <a:off x="1549400" y="3721100"/>
            <a:ext cx="101600" cy="101600"/>
          </a:xfrm>
          <a:prstGeom prst="ellipse">
            <a:avLst/>
          </a:prstGeom>
          <a:solidFill>
            <a:srgbClr val="B8883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TextBox 41">
            <a:extLst>
              <a:ext uri="{FF2B5EF4-FFF2-40B4-BE49-F238E27FC236}">
                <a16:creationId xmlns:a16="http://schemas.microsoft.com/office/drawing/2014/main" id="{6786B1DD-7677-034E-9ED8-ED28A55422CF}"/>
              </a:ext>
            </a:extLst>
          </p:cNvPr>
          <p:cNvSpPr txBox="1"/>
          <p:nvPr/>
        </p:nvSpPr>
        <p:spPr>
          <a:xfrm>
            <a:off x="2006600" y="3581400"/>
            <a:ext cx="3556000" cy="228600"/>
          </a:xfrm>
          <a:prstGeom prst="rect">
            <a:avLst/>
          </a:prstGeom>
          <a:noFill/>
        </p:spPr>
        <p:txBody>
          <a:bodyPr vertOverflow="overflow" vert="horz" wrap="square" rtlCol="0" anchor="t">
            <a:noAutofit/>
          </a:bodyPr>
          <a:lstStyle/>
          <a:p>
            <a:pPr algn="l"/>
            <a:r>
              <a:rPr lang="en-US" sz="1200" b="1">
                <a:solidFill>
                  <a:srgbClr val="B88838"/>
                </a:solidFill>
                <a:latin typeface="Calibri"/>
                <a:cs typeface="Calibri"/>
              </a:rPr>
              <a:t>VALIDATE</a:t>
            </a:r>
          </a:p>
        </p:txBody>
      </p:sp>
      <p:sp>
        <p:nvSpPr>
          <p:cNvPr id="43" name="TextBox 42">
            <a:extLst>
              <a:ext uri="{FF2B5EF4-FFF2-40B4-BE49-F238E27FC236}">
                <a16:creationId xmlns:a16="http://schemas.microsoft.com/office/drawing/2014/main" id="{934710BF-4013-024C-BE09-B88A84D3C9DF}"/>
              </a:ext>
            </a:extLst>
          </p:cNvPr>
          <p:cNvSpPr txBox="1"/>
          <p:nvPr/>
        </p:nvSpPr>
        <p:spPr>
          <a:xfrm>
            <a:off x="2006600" y="3860800"/>
            <a:ext cx="3683000" cy="457200"/>
          </a:xfrm>
          <a:prstGeom prst="rect">
            <a:avLst/>
          </a:prstGeom>
          <a:noFill/>
        </p:spPr>
        <p:txBody>
          <a:bodyPr vertOverflow="overflow" vert="horz" wrap="square" rtlCol="0" anchor="t">
            <a:noAutofit/>
          </a:bodyPr>
          <a:lstStyle/>
          <a:p>
            <a:pPr algn="l"/>
            <a:r>
              <a:rPr lang="en-US" sz="1400">
                <a:solidFill>
                  <a:srgbClr val="1A1A1A"/>
                </a:solidFill>
                <a:latin typeface="Georgia"/>
              </a:rPr>
              <a:t>Statement type, table allowlist, function blocklist, no DDL or DML.</a:t>
            </a:r>
          </a:p>
        </p:txBody>
      </p:sp>
      <p:sp>
        <p:nvSpPr>
          <p:cNvPr id="44" name="TextBox 43">
            <a:extLst>
              <a:ext uri="{FF2B5EF4-FFF2-40B4-BE49-F238E27FC236}">
                <a16:creationId xmlns:a16="http://schemas.microsoft.com/office/drawing/2014/main" id="{1255EFA9-0BF4-694D-B02A-D5A6FF7CC077}"/>
              </a:ext>
            </a:extLst>
          </p:cNvPr>
          <p:cNvSpPr txBox="1"/>
          <p:nvPr/>
        </p:nvSpPr>
        <p:spPr>
          <a:xfrm>
            <a:off x="762000" y="4343400"/>
            <a:ext cx="1397000" cy="381000"/>
          </a:xfrm>
          <a:prstGeom prst="rect">
            <a:avLst/>
          </a:prstGeom>
          <a:noFill/>
        </p:spPr>
        <p:txBody>
          <a:bodyPr vertOverflow="overflow" vert="horz" wrap="square" rtlCol="0" anchor="t">
            <a:noAutofit/>
          </a:bodyPr>
          <a:lstStyle/>
          <a:p>
            <a:pPr algn="l"/>
            <a:r>
              <a:rPr lang="en-US" sz="1100" b="1" dirty="0">
                <a:solidFill>
                  <a:srgbClr val="5A7A5A"/>
                </a:solidFill>
                <a:latin typeface="Calibri"/>
                <a:cs typeface="Calibri"/>
              </a:rPr>
              <a:t>STEP THREE</a:t>
            </a:r>
          </a:p>
        </p:txBody>
      </p:sp>
      <p:sp>
        <p:nvSpPr>
          <p:cNvPr id="45" name="Oval 44">
            <a:extLst>
              <a:ext uri="{FF2B5EF4-FFF2-40B4-BE49-F238E27FC236}">
                <a16:creationId xmlns:a16="http://schemas.microsoft.com/office/drawing/2014/main" id="{CF312822-7F4F-5643-AC7F-EFF8A7F7A25B}"/>
              </a:ext>
            </a:extLst>
          </p:cNvPr>
          <p:cNvSpPr/>
          <p:nvPr/>
        </p:nvSpPr>
        <p:spPr>
          <a:xfrm>
            <a:off x="1549400" y="4483100"/>
            <a:ext cx="101600" cy="101600"/>
          </a:xfrm>
          <a:prstGeom prst="ellipse">
            <a:avLst/>
          </a:prstGeom>
          <a:solidFill>
            <a:srgbClr val="5A7A5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6" name="TextBox 45">
            <a:extLst>
              <a:ext uri="{FF2B5EF4-FFF2-40B4-BE49-F238E27FC236}">
                <a16:creationId xmlns:a16="http://schemas.microsoft.com/office/drawing/2014/main" id="{9EC9C691-F33F-D54D-846F-BC81219E2228}"/>
              </a:ext>
            </a:extLst>
          </p:cNvPr>
          <p:cNvSpPr txBox="1"/>
          <p:nvPr/>
        </p:nvSpPr>
        <p:spPr>
          <a:xfrm>
            <a:off x="2006600" y="4343400"/>
            <a:ext cx="3556000" cy="228600"/>
          </a:xfrm>
          <a:prstGeom prst="rect">
            <a:avLst/>
          </a:prstGeom>
          <a:noFill/>
        </p:spPr>
        <p:txBody>
          <a:bodyPr vertOverflow="overflow" vert="horz" wrap="square" rtlCol="0" anchor="t">
            <a:noAutofit/>
          </a:bodyPr>
          <a:lstStyle/>
          <a:p>
            <a:pPr algn="l"/>
            <a:r>
              <a:rPr lang="en-US" sz="1200" b="1">
                <a:solidFill>
                  <a:srgbClr val="5A7A5A"/>
                </a:solidFill>
                <a:latin typeface="Calibri"/>
                <a:cs typeface="Calibri"/>
              </a:rPr>
              <a:t>NORMALIZE</a:t>
            </a:r>
          </a:p>
        </p:txBody>
      </p:sp>
      <p:sp>
        <p:nvSpPr>
          <p:cNvPr id="47" name="TextBox 46">
            <a:extLst>
              <a:ext uri="{FF2B5EF4-FFF2-40B4-BE49-F238E27FC236}">
                <a16:creationId xmlns:a16="http://schemas.microsoft.com/office/drawing/2014/main" id="{0D02D008-4CF0-2149-AA4D-ADD264581928}"/>
              </a:ext>
            </a:extLst>
          </p:cNvPr>
          <p:cNvSpPr txBox="1"/>
          <p:nvPr/>
        </p:nvSpPr>
        <p:spPr>
          <a:xfrm>
            <a:off x="2006600" y="4622800"/>
            <a:ext cx="3683000" cy="457200"/>
          </a:xfrm>
          <a:prstGeom prst="rect">
            <a:avLst/>
          </a:prstGeom>
          <a:noFill/>
        </p:spPr>
        <p:txBody>
          <a:bodyPr vertOverflow="overflow" vert="horz" wrap="square" rtlCol="0" anchor="t">
            <a:noAutofit/>
          </a:bodyPr>
          <a:lstStyle/>
          <a:p>
            <a:pPr algn="l"/>
            <a:r>
              <a:rPr lang="en-US" sz="1400" dirty="0">
                <a:solidFill>
                  <a:srgbClr val="1A1A1A"/>
                </a:solidFill>
                <a:latin typeface="Georgia"/>
              </a:rPr>
              <a:t>Re-emit canonical Snowflake SQL from the tree.</a:t>
            </a:r>
          </a:p>
        </p:txBody>
      </p:sp>
      <p:sp>
        <p:nvSpPr>
          <p:cNvPr id="48" name="TextBox 47">
            <a:extLst>
              <a:ext uri="{FF2B5EF4-FFF2-40B4-BE49-F238E27FC236}">
                <a16:creationId xmlns:a16="http://schemas.microsoft.com/office/drawing/2014/main" id="{F3BB3A89-7AF0-DB42-BD23-FF51D1E8F481}"/>
              </a:ext>
            </a:extLst>
          </p:cNvPr>
          <p:cNvSpPr txBox="1"/>
          <p:nvPr/>
        </p:nvSpPr>
        <p:spPr>
          <a:xfrm>
            <a:off x="762000" y="5105400"/>
            <a:ext cx="1397000" cy="381000"/>
          </a:xfrm>
          <a:prstGeom prst="rect">
            <a:avLst/>
          </a:prstGeom>
          <a:noFill/>
        </p:spPr>
        <p:txBody>
          <a:bodyPr vertOverflow="overflow" vert="horz" wrap="square" rtlCol="0" anchor="t">
            <a:noAutofit/>
          </a:bodyPr>
          <a:lstStyle/>
          <a:p>
            <a:pPr algn="l"/>
            <a:r>
              <a:rPr lang="en-US" sz="1100" b="1" dirty="0">
                <a:solidFill>
                  <a:srgbClr val="8B2E2E"/>
                </a:solidFill>
                <a:latin typeface="Calibri"/>
                <a:cs typeface="Calibri"/>
              </a:rPr>
              <a:t>STEP FOUR</a:t>
            </a:r>
          </a:p>
        </p:txBody>
      </p:sp>
      <p:sp>
        <p:nvSpPr>
          <p:cNvPr id="49" name="Oval 48">
            <a:extLst>
              <a:ext uri="{FF2B5EF4-FFF2-40B4-BE49-F238E27FC236}">
                <a16:creationId xmlns:a16="http://schemas.microsoft.com/office/drawing/2014/main" id="{5E4C6D9D-A99F-464A-9E2D-562D31890478}"/>
              </a:ext>
            </a:extLst>
          </p:cNvPr>
          <p:cNvSpPr/>
          <p:nvPr/>
        </p:nvSpPr>
        <p:spPr>
          <a:xfrm>
            <a:off x="1549400" y="5245100"/>
            <a:ext cx="101600" cy="101600"/>
          </a:xfrm>
          <a:prstGeom prst="ellipse">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0" name="TextBox 49">
            <a:extLst>
              <a:ext uri="{FF2B5EF4-FFF2-40B4-BE49-F238E27FC236}">
                <a16:creationId xmlns:a16="http://schemas.microsoft.com/office/drawing/2014/main" id="{B56E193E-75AA-C94D-AA80-F72883D3138F}"/>
              </a:ext>
            </a:extLst>
          </p:cNvPr>
          <p:cNvSpPr txBox="1"/>
          <p:nvPr/>
        </p:nvSpPr>
        <p:spPr>
          <a:xfrm>
            <a:off x="2006600" y="5105400"/>
            <a:ext cx="3556000" cy="228600"/>
          </a:xfrm>
          <a:prstGeom prst="rect">
            <a:avLst/>
          </a:prstGeom>
          <a:noFill/>
        </p:spPr>
        <p:txBody>
          <a:bodyPr vertOverflow="overflow" vert="horz" wrap="square" rtlCol="0" anchor="t">
            <a:noAutofit/>
          </a:bodyPr>
          <a:lstStyle/>
          <a:p>
            <a:pPr algn="l"/>
            <a:r>
              <a:rPr lang="en-US" sz="1200" b="1">
                <a:solidFill>
                  <a:srgbClr val="8B2E2E"/>
                </a:solidFill>
                <a:latin typeface="Calibri"/>
                <a:cs typeface="Calibri"/>
              </a:rPr>
              <a:t>RETURN</a:t>
            </a:r>
          </a:p>
        </p:txBody>
      </p:sp>
      <p:sp>
        <p:nvSpPr>
          <p:cNvPr id="51" name="TextBox 50">
            <a:extLst>
              <a:ext uri="{FF2B5EF4-FFF2-40B4-BE49-F238E27FC236}">
                <a16:creationId xmlns:a16="http://schemas.microsoft.com/office/drawing/2014/main" id="{051FA8AE-8F3A-0F48-A09C-7A63515F8D05}"/>
              </a:ext>
            </a:extLst>
          </p:cNvPr>
          <p:cNvSpPr txBox="1"/>
          <p:nvPr/>
        </p:nvSpPr>
        <p:spPr>
          <a:xfrm>
            <a:off x="2006600" y="5384800"/>
            <a:ext cx="3683000" cy="457200"/>
          </a:xfrm>
          <a:prstGeom prst="rect">
            <a:avLst/>
          </a:prstGeom>
          <a:noFill/>
        </p:spPr>
        <p:txBody>
          <a:bodyPr vertOverflow="overflow" vert="horz" wrap="square" rtlCol="0" anchor="t">
            <a:noAutofit/>
          </a:bodyPr>
          <a:lstStyle/>
          <a:p>
            <a:pPr algn="l"/>
            <a:r>
              <a:rPr lang="en-US" sz="1400">
                <a:solidFill>
                  <a:srgbClr val="1A1A1A"/>
                </a:solidFill>
                <a:latin typeface="Georgia"/>
              </a:rPr>
              <a:t>Safe string out, or a typed rejection raised.</a:t>
            </a:r>
          </a:p>
        </p:txBody>
      </p:sp>
      <p:sp>
        <p:nvSpPr>
          <p:cNvPr id="52" name="Rectangle 51">
            <a:extLst>
              <a:ext uri="{FF2B5EF4-FFF2-40B4-BE49-F238E27FC236}">
                <a16:creationId xmlns:a16="http://schemas.microsoft.com/office/drawing/2014/main" id="{07B2E108-8BE3-ED49-AAF5-5E3C8D9C0EB8}"/>
              </a:ext>
            </a:extLst>
          </p:cNvPr>
          <p:cNvSpPr/>
          <p:nvPr/>
        </p:nvSpPr>
        <p:spPr>
          <a:xfrm>
            <a:off x="5969000" y="2819400"/>
            <a:ext cx="5461000" cy="2921000"/>
          </a:xfrm>
          <a:prstGeom prst="rect">
            <a:avLst/>
          </a:prstGeom>
          <a:solidFill>
            <a:srgbClr val="FAFAF7"/>
          </a:solidFill>
          <a:ln w="12700" cap="flat" cmpd="sng" algn="ctr">
            <a:solidFill>
              <a:srgbClr val="8B2E2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3" name="TextBox 52">
            <a:extLst>
              <a:ext uri="{FF2B5EF4-FFF2-40B4-BE49-F238E27FC236}">
                <a16:creationId xmlns:a16="http://schemas.microsoft.com/office/drawing/2014/main" id="{99C5A34A-0A23-6C4F-831C-4F34C4868F42}"/>
              </a:ext>
            </a:extLst>
          </p:cNvPr>
          <p:cNvSpPr txBox="1"/>
          <p:nvPr/>
        </p:nvSpPr>
        <p:spPr>
          <a:xfrm>
            <a:off x="6223000" y="3048000"/>
            <a:ext cx="5080000" cy="203200"/>
          </a:xfrm>
          <a:prstGeom prst="rect">
            <a:avLst/>
          </a:prstGeom>
          <a:noFill/>
        </p:spPr>
        <p:txBody>
          <a:bodyPr vertOverflow="overflow" vert="horz" wrap="square" rtlCol="0" anchor="t">
            <a:noAutofit/>
          </a:bodyPr>
          <a:lstStyle/>
          <a:p>
            <a:pPr algn="l"/>
            <a:r>
              <a:rPr lang="en-US" sz="1000" b="1">
                <a:solidFill>
                  <a:srgbClr val="6B6B6B"/>
                </a:solidFill>
                <a:latin typeface="Calibri"/>
                <a:cs typeface="Calibri"/>
              </a:rPr>
              <a:t>THE FUNCTION</a:t>
            </a:r>
          </a:p>
        </p:txBody>
      </p:sp>
      <p:sp>
        <p:nvSpPr>
          <p:cNvPr id="54" name="TextBox 53">
            <a:extLst>
              <a:ext uri="{FF2B5EF4-FFF2-40B4-BE49-F238E27FC236}">
                <a16:creationId xmlns:a16="http://schemas.microsoft.com/office/drawing/2014/main" id="{E044474E-209D-4944-AEA9-A9B972302031}"/>
              </a:ext>
            </a:extLst>
          </p:cNvPr>
          <p:cNvSpPr txBox="1"/>
          <p:nvPr/>
        </p:nvSpPr>
        <p:spPr>
          <a:xfrm>
            <a:off x="6223000" y="3429000"/>
            <a:ext cx="5080000" cy="635000"/>
          </a:xfrm>
          <a:prstGeom prst="rect">
            <a:avLst/>
          </a:prstGeom>
          <a:noFill/>
        </p:spPr>
        <p:txBody>
          <a:bodyPr vertOverflow="overflow" vert="horz" wrap="square" rtlCol="0" anchor="t">
            <a:noAutofit/>
          </a:bodyPr>
          <a:lstStyle/>
          <a:p>
            <a:pPr algn="l"/>
            <a:r>
              <a:rPr lang="en-US" sz="3200" b="1">
                <a:solidFill>
                  <a:srgbClr val="8B2E2E"/>
                </a:solidFill>
                <a:latin typeface="Consolas"/>
                <a:cs typeface="Consolas"/>
              </a:rPr>
              <a:t>validate</a:t>
            </a:r>
          </a:p>
        </p:txBody>
      </p:sp>
      <p:sp>
        <p:nvSpPr>
          <p:cNvPr id="55" name="TextBox 54">
            <a:extLst>
              <a:ext uri="{FF2B5EF4-FFF2-40B4-BE49-F238E27FC236}">
                <a16:creationId xmlns:a16="http://schemas.microsoft.com/office/drawing/2014/main" id="{59DBBFF9-6213-C449-972D-5384DA7883DB}"/>
              </a:ext>
            </a:extLst>
          </p:cNvPr>
          <p:cNvSpPr txBox="1"/>
          <p:nvPr/>
        </p:nvSpPr>
        <p:spPr>
          <a:xfrm>
            <a:off x="6223000" y="3962400"/>
            <a:ext cx="5080000" cy="406400"/>
          </a:xfrm>
          <a:prstGeom prst="rect">
            <a:avLst/>
          </a:prstGeom>
          <a:noFill/>
        </p:spPr>
        <p:txBody>
          <a:bodyPr vertOverflow="overflow" vert="horz" wrap="square" rtlCol="0" anchor="t">
            <a:noAutofit/>
          </a:bodyPr>
          <a:lstStyle/>
          <a:p>
            <a:pPr algn="l"/>
            <a:r>
              <a:rPr lang="en-US" sz="2200">
                <a:solidFill>
                  <a:srgbClr val="1A1A1A"/>
                </a:solidFill>
                <a:latin typeface="Consolas"/>
                <a:cs typeface="Consolas"/>
              </a:rPr>
              <a:t>( sql: str )  →  str</a:t>
            </a:r>
          </a:p>
        </p:txBody>
      </p:sp>
      <p:sp>
        <p:nvSpPr>
          <p:cNvPr id="56" name="TextBox 55">
            <a:extLst>
              <a:ext uri="{FF2B5EF4-FFF2-40B4-BE49-F238E27FC236}">
                <a16:creationId xmlns:a16="http://schemas.microsoft.com/office/drawing/2014/main" id="{192BAEB3-31EB-DC41-B4AB-DC681DB03A10}"/>
              </a:ext>
            </a:extLst>
          </p:cNvPr>
          <p:cNvSpPr txBox="1"/>
          <p:nvPr/>
        </p:nvSpPr>
        <p:spPr>
          <a:xfrm>
            <a:off x="6223000" y="4572000"/>
            <a:ext cx="5080000" cy="889000"/>
          </a:xfrm>
          <a:prstGeom prst="rect">
            <a:avLst/>
          </a:prstGeom>
          <a:noFill/>
        </p:spPr>
        <p:txBody>
          <a:bodyPr vertOverflow="overflow" vert="horz" wrap="square" rtlCol="0" anchor="t">
            <a:noAutofit/>
          </a:bodyPr>
          <a:lstStyle/>
          <a:p>
            <a:pPr algn="l"/>
            <a:r>
              <a:rPr lang="en-US" sz="1400" i="1">
                <a:solidFill>
                  <a:srgbClr val="6B6B6B"/>
                </a:solidFill>
                <a:latin typeface="Georgia"/>
              </a:rPr>
              <a:t>Pure function: no I/O, no database, no state. Same input — same output.</a:t>
            </a:r>
          </a:p>
        </p:txBody>
      </p:sp>
      <p:sp>
        <p:nvSpPr>
          <p:cNvPr id="57" name="Rectangle 56">
            <a:extLst>
              <a:ext uri="{FF2B5EF4-FFF2-40B4-BE49-F238E27FC236}">
                <a16:creationId xmlns:a16="http://schemas.microsoft.com/office/drawing/2014/main" id="{89709E8B-4A59-6147-8B2D-F990052DC293}"/>
              </a:ext>
            </a:extLst>
          </p:cNvPr>
          <p:cNvSpPr/>
          <p:nvPr/>
        </p:nvSpPr>
        <p:spPr>
          <a:xfrm>
            <a:off x="762000" y="6350000"/>
            <a:ext cx="10668000" cy="6350"/>
          </a:xfrm>
          <a:prstGeom prst="rect">
            <a:avLst/>
          </a:prstGeom>
          <a:solidFill>
            <a:srgbClr val="1A1A1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8" name="TextBox 57">
            <a:extLst>
              <a:ext uri="{FF2B5EF4-FFF2-40B4-BE49-F238E27FC236}">
                <a16:creationId xmlns:a16="http://schemas.microsoft.com/office/drawing/2014/main" id="{14C6D32F-BB78-3142-8347-EA311C4B9DEE}"/>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59" name="TextBox 58">
            <a:extLst>
              <a:ext uri="{FF2B5EF4-FFF2-40B4-BE49-F238E27FC236}">
                <a16:creationId xmlns:a16="http://schemas.microsoft.com/office/drawing/2014/main" id="{94565830-2DA5-7A46-84C3-16B91D0A9106}"/>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06 / 22</a:t>
            </a:r>
          </a:p>
        </p:txBody>
      </p:sp>
    </p:spTree>
    <p:extLst>
      <p:ext uri="{BB962C8B-B14F-4D97-AF65-F5344CB8AC3E}">
        <p14:creationId xmlns:p14="http://schemas.microsoft.com/office/powerpoint/2010/main" val="2024332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0D7A8C-EC4C-B84E-AC35-361670DC4674}"/>
              </a:ext>
            </a:extLst>
          </p:cNvPr>
          <p:cNvSpPr txBox="1"/>
          <p:nvPr/>
        </p:nvSpPr>
        <p:spPr>
          <a:xfrm>
            <a:off x="762000" y="914400"/>
            <a:ext cx="7620000" cy="2286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03  ·  MECHANISM</a:t>
            </a:r>
          </a:p>
        </p:txBody>
      </p:sp>
      <p:sp>
        <p:nvSpPr>
          <p:cNvPr id="3" name="TextBox 2">
            <a:extLst>
              <a:ext uri="{FF2B5EF4-FFF2-40B4-BE49-F238E27FC236}">
                <a16:creationId xmlns:a16="http://schemas.microsoft.com/office/drawing/2014/main" id="{01D3910C-BCCA-BA46-BE5D-83836E62119F}"/>
              </a:ext>
            </a:extLst>
          </p:cNvPr>
          <p:cNvSpPr txBox="1"/>
          <p:nvPr/>
        </p:nvSpPr>
        <p:spPr>
          <a:xfrm>
            <a:off x="762000" y="1460500"/>
            <a:ext cx="10668000" cy="635000"/>
          </a:xfrm>
          <a:prstGeom prst="rect">
            <a:avLst/>
          </a:prstGeom>
          <a:noFill/>
        </p:spPr>
        <p:txBody>
          <a:bodyPr vertOverflow="overflow" vert="horz" wrap="square" rtlCol="0" anchor="t">
            <a:noAutofit/>
          </a:bodyPr>
          <a:lstStyle/>
          <a:p>
            <a:pPr algn="l"/>
            <a:r>
              <a:rPr lang="en-US" sz="2800">
                <a:solidFill>
                  <a:srgbClr val="1A1A1A"/>
                </a:solidFill>
                <a:latin typeface="Georgia"/>
              </a:rPr>
              <a:t>Why a parser, not a pattern match</a:t>
            </a:r>
          </a:p>
        </p:txBody>
      </p:sp>
      <p:graphicFrame>
        <p:nvGraphicFramePr>
          <p:cNvPr id="5" name="Table 4">
            <a:extLst>
              <a:ext uri="{FF2B5EF4-FFF2-40B4-BE49-F238E27FC236}">
                <a16:creationId xmlns:a16="http://schemas.microsoft.com/office/drawing/2014/main" id="{2D357963-FB2C-1E42-AE13-76806D124653}"/>
              </a:ext>
            </a:extLst>
          </p:cNvPr>
          <p:cNvGraphicFramePr>
            <a:graphicFrameLocks noGrp="1"/>
          </p:cNvGraphicFramePr>
          <p:nvPr>
            <p:extLst>
              <p:ext uri="{D42A27DB-BD31-4B8C-83A1-F6EECF244321}">
                <p14:modId xmlns:p14="http://schemas.microsoft.com/office/powerpoint/2010/main" val="1279824880"/>
              </p:ext>
            </p:extLst>
          </p:nvPr>
        </p:nvGraphicFramePr>
        <p:xfrm>
          <a:off x="762000" y="2095500"/>
          <a:ext cx="10668000" cy="33782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3873640572"/>
                    </a:ext>
                  </a:extLst>
                </a:gridCol>
                <a:gridCol w="7493000">
                  <a:extLst>
                    <a:ext uri="{9D8B030D-6E8A-4147-A177-3AD203B41FA5}">
                      <a16:colId xmlns:a16="http://schemas.microsoft.com/office/drawing/2014/main" val="3603851050"/>
                    </a:ext>
                  </a:extLst>
                </a:gridCol>
              </a:tblGrid>
              <a:tr h="457200">
                <a:tc>
                  <a:txBody>
                    <a:bodyPr/>
                    <a:lstStyle/>
                    <a:p>
                      <a:pPr algn="l"/>
                      <a:r>
                        <a:rPr lang="en-US" sz="1200" b="1">
                          <a:solidFill>
                            <a:srgbClr val="FFFFFF"/>
                          </a:solidFill>
                          <a:latin typeface="Calibri"/>
                          <a:cs typeface="Calibri"/>
                        </a:rPr>
                        <a:t>Approach</a:t>
                      </a:r>
                    </a:p>
                  </a:txBody>
                  <a:tcPr anchor="ctr">
                    <a:solidFill>
                      <a:srgbClr val="1F3A5F"/>
                    </a:solidFill>
                  </a:tcPr>
                </a:tc>
                <a:tc>
                  <a:txBody>
                    <a:bodyPr/>
                    <a:lstStyle/>
                    <a:p>
                      <a:pPr algn="l"/>
                      <a:r>
                        <a:rPr lang="en-US" sz="1200" b="1">
                          <a:solidFill>
                            <a:srgbClr val="FFFFFF"/>
                          </a:solidFill>
                          <a:latin typeface="Calibri"/>
                          <a:cs typeface="Calibri"/>
                        </a:rPr>
                        <a:t>Outcome</a:t>
                      </a:r>
                    </a:p>
                  </a:txBody>
                  <a:tcPr anchor="ctr">
                    <a:solidFill>
                      <a:srgbClr val="1F3A5F"/>
                    </a:solidFill>
                  </a:tcPr>
                </a:tc>
                <a:extLst>
                  <a:ext uri="{0D108BD9-81ED-4DB2-BD59-A6C34878D82A}">
                    <a16:rowId xmlns:a16="http://schemas.microsoft.com/office/drawing/2014/main" val="3635376868"/>
                  </a:ext>
                </a:extLst>
              </a:tr>
              <a:tr h="1016000">
                <a:tc>
                  <a:txBody>
                    <a:bodyPr/>
                    <a:lstStyle/>
                    <a:p>
                      <a:pPr algn="l"/>
                      <a:r>
                        <a:rPr lang="en-US" sz="1400">
                          <a:solidFill>
                            <a:srgbClr val="1A1A1A"/>
                          </a:solidFill>
                          <a:latin typeface="Georgia"/>
                        </a:rPr>
                        <a:t>Regex on raw SQL</a:t>
                      </a:r>
                    </a:p>
                  </a:txBody>
                  <a:tcPr>
                    <a:solidFill>
                      <a:srgbClr val="F4E8E8"/>
                    </a:solidFill>
                  </a:tcPr>
                </a:tc>
                <a:tc>
                  <a:txBody>
                    <a:bodyPr/>
                    <a:lstStyle/>
                    <a:p>
                      <a:pPr algn="l"/>
                      <a:r>
                        <a:rPr lang="en-US" sz="1400">
                          <a:solidFill>
                            <a:srgbClr val="1A1A1A"/>
                          </a:solidFill>
                          <a:latin typeface="Calibri"/>
                          <a:cs typeface="Calibri"/>
                        </a:rPr>
                        <a:t>Fails on string literals, comments, quoting, whitespace. Surface-level pattern matching of a grammar this rich is fragile by construction.</a:t>
                      </a:r>
                    </a:p>
                  </a:txBody>
                  <a:tcPr>
                    <a:solidFill>
                      <a:srgbClr val="F4E8E8"/>
                    </a:solidFill>
                  </a:tcPr>
                </a:tc>
                <a:extLst>
                  <a:ext uri="{0D108BD9-81ED-4DB2-BD59-A6C34878D82A}">
                    <a16:rowId xmlns:a16="http://schemas.microsoft.com/office/drawing/2014/main" val="4274904350"/>
                  </a:ext>
                </a:extLst>
              </a:tr>
              <a:tr h="889000">
                <a:tc>
                  <a:txBody>
                    <a:bodyPr/>
                    <a:lstStyle/>
                    <a:p>
                      <a:pPr algn="l"/>
                      <a:r>
                        <a:rPr lang="en-US" sz="1400">
                          <a:solidFill>
                            <a:srgbClr val="1A1A1A"/>
                          </a:solidFill>
                          <a:latin typeface="Georgia"/>
                        </a:rPr>
                        <a:t>Send to Snowflake's EXPLAIN</a:t>
                      </a:r>
                    </a:p>
                  </a:txBody>
                  <a:tcPr>
                    <a:solidFill>
                      <a:srgbClr val="F4E8E8"/>
                    </a:solidFill>
                  </a:tcPr>
                </a:tc>
                <a:tc>
                  <a:txBody>
                    <a:bodyPr/>
                    <a:lstStyle/>
                    <a:p>
                      <a:pPr algn="l"/>
                      <a:r>
                        <a:rPr lang="en-US" sz="1400">
                          <a:solidFill>
                            <a:srgbClr val="1A1A1A"/>
                          </a:solidFill>
                          <a:latin typeface="Calibri"/>
                          <a:cs typeface="Calibri"/>
                        </a:rPr>
                        <a:t>Adds a round-trip per query. Doesn't help with allowlisting. Exposes Snowflake to unvalidated input.</a:t>
                      </a:r>
                    </a:p>
                  </a:txBody>
                  <a:tcPr>
                    <a:solidFill>
                      <a:srgbClr val="F4E8E8"/>
                    </a:solidFill>
                  </a:tcPr>
                </a:tc>
                <a:extLst>
                  <a:ext uri="{0D108BD9-81ED-4DB2-BD59-A6C34878D82A}">
                    <a16:rowId xmlns:a16="http://schemas.microsoft.com/office/drawing/2014/main" val="4156250580"/>
                  </a:ext>
                </a:extLst>
              </a:tr>
              <a:tr h="1016000">
                <a:tc>
                  <a:txBody>
                    <a:bodyPr/>
                    <a:lstStyle/>
                    <a:p>
                      <a:r>
                        <a:rPr lang="en-US" sz="1400" b="1">
                          <a:solidFill>
                            <a:srgbClr val="1A1A1A"/>
                          </a:solidFill>
                          <a:latin typeface="Georgia"/>
                        </a:rPr>
                        <a:t>Parse into a structured tree and reason about it</a:t>
                      </a:r>
                    </a:p>
                  </a:txBody>
                  <a:tcPr>
                    <a:solidFill>
                      <a:srgbClr val="E8EFE8"/>
                    </a:solidFill>
                  </a:tcPr>
                </a:tc>
                <a:tc>
                  <a:txBody>
                    <a:bodyPr/>
                    <a:lstStyle/>
                    <a:p>
                      <a:pPr algn="l"/>
                      <a:r>
                        <a:rPr lang="en-US" sz="1400" b="1">
                          <a:solidFill>
                            <a:srgbClr val="8B2E2E"/>
                          </a:solidFill>
                          <a:latin typeface="Calibri"/>
                          <a:cs typeface="Calibri"/>
                        </a:rPr>
                        <a:t>Fast. Decoupled from the database. Gives us a programmatic representation we can audit, test, and extend.</a:t>
                      </a:r>
                    </a:p>
                  </a:txBody>
                  <a:tcPr>
                    <a:solidFill>
                      <a:srgbClr val="E8EFE8"/>
                    </a:solidFill>
                  </a:tcPr>
                </a:tc>
                <a:extLst>
                  <a:ext uri="{0D108BD9-81ED-4DB2-BD59-A6C34878D82A}">
                    <a16:rowId xmlns:a16="http://schemas.microsoft.com/office/drawing/2014/main" val="1651095661"/>
                  </a:ext>
                </a:extLst>
              </a:tr>
            </a:tbl>
          </a:graphicData>
        </a:graphic>
      </p:graphicFrame>
      <p:sp>
        <p:nvSpPr>
          <p:cNvPr id="6" name="Rectangle 5">
            <a:extLst>
              <a:ext uri="{FF2B5EF4-FFF2-40B4-BE49-F238E27FC236}">
                <a16:creationId xmlns:a16="http://schemas.microsoft.com/office/drawing/2014/main" id="{17E2FF8D-5D39-9642-BE40-ECE933F57B86}"/>
              </a:ext>
            </a:extLst>
          </p:cNvPr>
          <p:cNvSpPr/>
          <p:nvPr/>
        </p:nvSpPr>
        <p:spPr>
          <a:xfrm>
            <a:off x="762000" y="63500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C1CA4579-84D1-7341-BC81-6C13013A4061}"/>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8" name="TextBox 7">
            <a:extLst>
              <a:ext uri="{FF2B5EF4-FFF2-40B4-BE49-F238E27FC236}">
                <a16:creationId xmlns:a16="http://schemas.microsoft.com/office/drawing/2014/main" id="{C9D1D842-C218-EF49-9E25-3CDF3C06E829}"/>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07 / 22</a:t>
            </a:r>
          </a:p>
        </p:txBody>
      </p:sp>
      <p:sp>
        <p:nvSpPr>
          <p:cNvPr id="9" name="Rectangle 8">
            <a:extLst>
              <a:ext uri="{FF2B5EF4-FFF2-40B4-BE49-F238E27FC236}">
                <a16:creationId xmlns:a16="http://schemas.microsoft.com/office/drawing/2014/main" id="{13106B64-D8C9-E84B-8BAC-96A5AF5764F2}"/>
              </a:ext>
            </a:extLst>
          </p:cNvPr>
          <p:cNvSpPr/>
          <p:nvPr/>
        </p:nvSpPr>
        <p:spPr>
          <a:xfrm>
            <a:off x="762000" y="762000"/>
            <a:ext cx="1524000" cy="127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252378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4BF41D-30EB-7844-99AC-70FCB24FEF27}"/>
              </a:ext>
            </a:extLst>
          </p:cNvPr>
          <p:cNvSpPr txBox="1"/>
          <p:nvPr/>
        </p:nvSpPr>
        <p:spPr>
          <a:xfrm>
            <a:off x="762000" y="914400"/>
            <a:ext cx="7620000" cy="2286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03  ·  MECHANISM</a:t>
            </a:r>
          </a:p>
        </p:txBody>
      </p:sp>
      <p:sp>
        <p:nvSpPr>
          <p:cNvPr id="3" name="TextBox 2">
            <a:extLst>
              <a:ext uri="{FF2B5EF4-FFF2-40B4-BE49-F238E27FC236}">
                <a16:creationId xmlns:a16="http://schemas.microsoft.com/office/drawing/2014/main" id="{C3F6A317-1822-154C-BC57-10D68C95915E}"/>
              </a:ext>
            </a:extLst>
          </p:cNvPr>
          <p:cNvSpPr txBox="1"/>
          <p:nvPr/>
        </p:nvSpPr>
        <p:spPr>
          <a:xfrm>
            <a:off x="762000" y="1460500"/>
            <a:ext cx="10668000" cy="635000"/>
          </a:xfrm>
          <a:prstGeom prst="rect">
            <a:avLst/>
          </a:prstGeom>
          <a:noFill/>
        </p:spPr>
        <p:txBody>
          <a:bodyPr vertOverflow="overflow" vert="horz" wrap="square" rtlCol="0" anchor="t">
            <a:noAutofit/>
          </a:bodyPr>
          <a:lstStyle/>
          <a:p>
            <a:pPr algn="l"/>
            <a:r>
              <a:rPr lang="en-US" sz="2800">
                <a:solidFill>
                  <a:srgbClr val="1A1A1A"/>
                </a:solidFill>
                <a:latin typeface="Georgia"/>
              </a:rPr>
              <a:t>Five rules, applied in order</a:t>
            </a:r>
          </a:p>
        </p:txBody>
      </p:sp>
      <p:sp>
        <p:nvSpPr>
          <p:cNvPr id="4" name="Rectangle 3">
            <a:extLst>
              <a:ext uri="{FF2B5EF4-FFF2-40B4-BE49-F238E27FC236}">
                <a16:creationId xmlns:a16="http://schemas.microsoft.com/office/drawing/2014/main" id="{9A3DCD95-A3E9-9C44-AFD2-5131433608A3}"/>
              </a:ext>
            </a:extLst>
          </p:cNvPr>
          <p:cNvSpPr/>
          <p:nvPr/>
        </p:nvSpPr>
        <p:spPr>
          <a:xfrm>
            <a:off x="762000" y="20320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139F0CD3-7C3F-5E40-80FE-D1229F576F71}"/>
              </a:ext>
            </a:extLst>
          </p:cNvPr>
          <p:cNvSpPr txBox="1"/>
          <p:nvPr/>
        </p:nvSpPr>
        <p:spPr>
          <a:xfrm>
            <a:off x="762000" y="2184400"/>
            <a:ext cx="635000" cy="406400"/>
          </a:xfrm>
          <a:prstGeom prst="rect">
            <a:avLst/>
          </a:prstGeom>
          <a:noFill/>
        </p:spPr>
        <p:txBody>
          <a:bodyPr vertOverflow="overflow" vert="horz" wrap="square" rtlCol="0" anchor="t">
            <a:noAutofit/>
          </a:bodyPr>
          <a:lstStyle/>
          <a:p>
            <a:pPr algn="l"/>
            <a:r>
              <a:rPr lang="en-US">
                <a:solidFill>
                  <a:srgbClr val="8B2E2E"/>
                </a:solidFill>
                <a:latin typeface="Georgia"/>
              </a:rPr>
              <a:t>01</a:t>
            </a:r>
          </a:p>
        </p:txBody>
      </p:sp>
      <p:sp>
        <p:nvSpPr>
          <p:cNvPr id="6" name="TextBox 5">
            <a:extLst>
              <a:ext uri="{FF2B5EF4-FFF2-40B4-BE49-F238E27FC236}">
                <a16:creationId xmlns:a16="http://schemas.microsoft.com/office/drawing/2014/main" id="{702F506F-4352-B84F-8916-517335ED1CB9}"/>
              </a:ext>
            </a:extLst>
          </p:cNvPr>
          <p:cNvSpPr txBox="1"/>
          <p:nvPr/>
        </p:nvSpPr>
        <p:spPr>
          <a:xfrm>
            <a:off x="1524000" y="2159000"/>
            <a:ext cx="4826000" cy="304800"/>
          </a:xfrm>
          <a:prstGeom prst="rect">
            <a:avLst/>
          </a:prstGeom>
          <a:noFill/>
        </p:spPr>
        <p:txBody>
          <a:bodyPr vertOverflow="overflow" vert="horz" wrap="square" rtlCol="0" anchor="t">
            <a:noAutofit/>
          </a:bodyPr>
          <a:lstStyle/>
          <a:p>
            <a:pPr algn="l"/>
            <a:r>
              <a:rPr lang="en-US" sz="1600">
                <a:solidFill>
                  <a:srgbClr val="1A1A1A"/>
                </a:solidFill>
                <a:latin typeface="Georgia"/>
              </a:rPr>
              <a:t>Parse cleanly.</a:t>
            </a:r>
          </a:p>
        </p:txBody>
      </p:sp>
      <p:sp>
        <p:nvSpPr>
          <p:cNvPr id="7" name="TextBox 6">
            <a:extLst>
              <a:ext uri="{FF2B5EF4-FFF2-40B4-BE49-F238E27FC236}">
                <a16:creationId xmlns:a16="http://schemas.microsoft.com/office/drawing/2014/main" id="{E1AF1FC4-3803-704E-9A96-16E6AD87D894}"/>
              </a:ext>
            </a:extLst>
          </p:cNvPr>
          <p:cNvSpPr txBox="1"/>
          <p:nvPr/>
        </p:nvSpPr>
        <p:spPr>
          <a:xfrm>
            <a:off x="1524000" y="2489200"/>
            <a:ext cx="9779000" cy="279400"/>
          </a:xfrm>
          <a:prstGeom prst="rect">
            <a:avLst/>
          </a:prstGeom>
          <a:noFill/>
        </p:spPr>
        <p:txBody>
          <a:bodyPr vertOverflow="overflow" vert="horz" wrap="square" rtlCol="0" anchor="t">
            <a:noAutofit/>
          </a:bodyPr>
          <a:lstStyle/>
          <a:p>
            <a:pPr algn="l"/>
            <a:r>
              <a:rPr lang="en-US" sz="1300">
                <a:solidFill>
                  <a:srgbClr val="6B6B6B"/>
                </a:solidFill>
                <a:latin typeface="Calibri"/>
                <a:cs typeface="Calibri"/>
              </a:rPr>
              <a:t>The SQL must be valid Snowflake SQL.</a:t>
            </a:r>
          </a:p>
        </p:txBody>
      </p:sp>
      <p:sp>
        <p:nvSpPr>
          <p:cNvPr id="8" name="Rectangle 7">
            <a:extLst>
              <a:ext uri="{FF2B5EF4-FFF2-40B4-BE49-F238E27FC236}">
                <a16:creationId xmlns:a16="http://schemas.microsoft.com/office/drawing/2014/main" id="{7D143C81-630C-4348-8229-5E9F3BA63C8E}"/>
              </a:ext>
            </a:extLst>
          </p:cNvPr>
          <p:cNvSpPr/>
          <p:nvPr/>
        </p:nvSpPr>
        <p:spPr>
          <a:xfrm>
            <a:off x="762000" y="27432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3304BAD1-6520-9446-875F-6BC3A9748B80}"/>
              </a:ext>
            </a:extLst>
          </p:cNvPr>
          <p:cNvSpPr txBox="1"/>
          <p:nvPr/>
        </p:nvSpPr>
        <p:spPr>
          <a:xfrm>
            <a:off x="762000" y="2895600"/>
            <a:ext cx="635000" cy="406400"/>
          </a:xfrm>
          <a:prstGeom prst="rect">
            <a:avLst/>
          </a:prstGeom>
          <a:noFill/>
        </p:spPr>
        <p:txBody>
          <a:bodyPr vertOverflow="overflow" vert="horz" wrap="square" rtlCol="0" anchor="t">
            <a:noAutofit/>
          </a:bodyPr>
          <a:lstStyle/>
          <a:p>
            <a:pPr algn="l"/>
            <a:r>
              <a:rPr lang="en-US">
                <a:solidFill>
                  <a:srgbClr val="1F3A5F"/>
                </a:solidFill>
                <a:latin typeface="Georgia"/>
              </a:rPr>
              <a:t>02</a:t>
            </a:r>
          </a:p>
        </p:txBody>
      </p:sp>
      <p:sp>
        <p:nvSpPr>
          <p:cNvPr id="10" name="TextBox 9">
            <a:extLst>
              <a:ext uri="{FF2B5EF4-FFF2-40B4-BE49-F238E27FC236}">
                <a16:creationId xmlns:a16="http://schemas.microsoft.com/office/drawing/2014/main" id="{93A1D878-EDC1-724C-B5F7-22656ADE1816}"/>
              </a:ext>
            </a:extLst>
          </p:cNvPr>
          <p:cNvSpPr txBox="1"/>
          <p:nvPr/>
        </p:nvSpPr>
        <p:spPr>
          <a:xfrm>
            <a:off x="1524000" y="2870200"/>
            <a:ext cx="4826000" cy="304800"/>
          </a:xfrm>
          <a:prstGeom prst="rect">
            <a:avLst/>
          </a:prstGeom>
          <a:noFill/>
        </p:spPr>
        <p:txBody>
          <a:bodyPr vertOverflow="overflow" vert="horz" wrap="square" rtlCol="0" anchor="t">
            <a:noAutofit/>
          </a:bodyPr>
          <a:lstStyle/>
          <a:p>
            <a:pPr algn="l"/>
            <a:r>
              <a:rPr lang="en-US" sz="1600">
                <a:solidFill>
                  <a:srgbClr val="1A1A1A"/>
                </a:solidFill>
                <a:latin typeface="Georgia"/>
              </a:rPr>
              <a:t>Exactly one statement.</a:t>
            </a:r>
          </a:p>
        </p:txBody>
      </p:sp>
      <p:sp>
        <p:nvSpPr>
          <p:cNvPr id="11" name="TextBox 10">
            <a:extLst>
              <a:ext uri="{FF2B5EF4-FFF2-40B4-BE49-F238E27FC236}">
                <a16:creationId xmlns:a16="http://schemas.microsoft.com/office/drawing/2014/main" id="{20365F4B-D5AD-204D-8729-0D4F05C4527B}"/>
              </a:ext>
            </a:extLst>
          </p:cNvPr>
          <p:cNvSpPr txBox="1"/>
          <p:nvPr/>
        </p:nvSpPr>
        <p:spPr>
          <a:xfrm>
            <a:off x="1524000" y="3200400"/>
            <a:ext cx="9779000" cy="279400"/>
          </a:xfrm>
          <a:prstGeom prst="rect">
            <a:avLst/>
          </a:prstGeom>
          <a:noFill/>
        </p:spPr>
        <p:txBody>
          <a:bodyPr vertOverflow="overflow" vert="horz" wrap="square" rtlCol="0" anchor="t">
            <a:noAutofit/>
          </a:bodyPr>
          <a:lstStyle/>
          <a:p>
            <a:pPr algn="l"/>
            <a:r>
              <a:rPr lang="en-US" sz="1300">
                <a:solidFill>
                  <a:srgbClr val="6B6B6B"/>
                </a:solidFill>
                <a:latin typeface="Calibri"/>
                <a:cs typeface="Calibri"/>
              </a:rPr>
              <a:t>Multi-statement payloads are rejected before further checks.</a:t>
            </a:r>
          </a:p>
        </p:txBody>
      </p:sp>
      <p:sp>
        <p:nvSpPr>
          <p:cNvPr id="12" name="Rectangle 11">
            <a:extLst>
              <a:ext uri="{FF2B5EF4-FFF2-40B4-BE49-F238E27FC236}">
                <a16:creationId xmlns:a16="http://schemas.microsoft.com/office/drawing/2014/main" id="{831F7649-BFF2-C24B-8F5B-3F31FA45A312}"/>
              </a:ext>
            </a:extLst>
          </p:cNvPr>
          <p:cNvSpPr/>
          <p:nvPr/>
        </p:nvSpPr>
        <p:spPr>
          <a:xfrm>
            <a:off x="762000" y="34544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7CA3EF0E-3D63-F340-AEBC-3510FB8F06D0}"/>
              </a:ext>
            </a:extLst>
          </p:cNvPr>
          <p:cNvSpPr txBox="1"/>
          <p:nvPr/>
        </p:nvSpPr>
        <p:spPr>
          <a:xfrm>
            <a:off x="762000" y="3606800"/>
            <a:ext cx="635000" cy="406400"/>
          </a:xfrm>
          <a:prstGeom prst="rect">
            <a:avLst/>
          </a:prstGeom>
          <a:noFill/>
        </p:spPr>
        <p:txBody>
          <a:bodyPr vertOverflow="overflow" vert="horz" wrap="square" rtlCol="0" anchor="t">
            <a:noAutofit/>
          </a:bodyPr>
          <a:lstStyle/>
          <a:p>
            <a:pPr algn="l"/>
            <a:r>
              <a:rPr lang="en-US">
                <a:solidFill>
                  <a:srgbClr val="B88838"/>
                </a:solidFill>
                <a:latin typeface="Georgia"/>
              </a:rPr>
              <a:t>03</a:t>
            </a:r>
          </a:p>
        </p:txBody>
      </p:sp>
      <p:sp>
        <p:nvSpPr>
          <p:cNvPr id="14" name="TextBox 13">
            <a:extLst>
              <a:ext uri="{FF2B5EF4-FFF2-40B4-BE49-F238E27FC236}">
                <a16:creationId xmlns:a16="http://schemas.microsoft.com/office/drawing/2014/main" id="{2E310A19-9CF4-7845-A07B-88A1F1FCAA22}"/>
              </a:ext>
            </a:extLst>
          </p:cNvPr>
          <p:cNvSpPr txBox="1"/>
          <p:nvPr/>
        </p:nvSpPr>
        <p:spPr>
          <a:xfrm>
            <a:off x="1524000" y="3581400"/>
            <a:ext cx="4826000" cy="304800"/>
          </a:xfrm>
          <a:prstGeom prst="rect">
            <a:avLst/>
          </a:prstGeom>
          <a:noFill/>
        </p:spPr>
        <p:txBody>
          <a:bodyPr vertOverflow="overflow" vert="horz" wrap="square" rtlCol="0" anchor="t">
            <a:noAutofit/>
          </a:bodyPr>
          <a:lstStyle/>
          <a:p>
            <a:pPr algn="l"/>
            <a:r>
              <a:rPr lang="en-US" sz="1600">
                <a:solidFill>
                  <a:srgbClr val="1A1A1A"/>
                </a:solidFill>
                <a:latin typeface="Georgia"/>
              </a:rPr>
              <a:t>The statement is a SELECT.</a:t>
            </a:r>
          </a:p>
        </p:txBody>
      </p:sp>
      <p:sp>
        <p:nvSpPr>
          <p:cNvPr id="15" name="TextBox 14">
            <a:extLst>
              <a:ext uri="{FF2B5EF4-FFF2-40B4-BE49-F238E27FC236}">
                <a16:creationId xmlns:a16="http://schemas.microsoft.com/office/drawing/2014/main" id="{9547F135-5FD4-E549-955B-7557C567D1D4}"/>
              </a:ext>
            </a:extLst>
          </p:cNvPr>
          <p:cNvSpPr txBox="1"/>
          <p:nvPr/>
        </p:nvSpPr>
        <p:spPr>
          <a:xfrm>
            <a:off x="1524000" y="3911600"/>
            <a:ext cx="9779000" cy="279400"/>
          </a:xfrm>
          <a:prstGeom prst="rect">
            <a:avLst/>
          </a:prstGeom>
          <a:noFill/>
        </p:spPr>
        <p:txBody>
          <a:bodyPr vertOverflow="overflow" vert="horz" wrap="square" rtlCol="0" anchor="t">
            <a:noAutofit/>
          </a:bodyPr>
          <a:lstStyle/>
          <a:p>
            <a:pPr algn="l"/>
            <a:r>
              <a:rPr lang="en-US" sz="1300">
                <a:solidFill>
                  <a:srgbClr val="6B6B6B"/>
                </a:solidFill>
                <a:latin typeface="Calibri"/>
                <a:cs typeface="Calibri"/>
              </a:rPr>
              <a:t>Includes CTE-wrapped SELECTs. DDL, DML, session-state changes, and procedural calls are rejected.</a:t>
            </a:r>
          </a:p>
        </p:txBody>
      </p:sp>
      <p:sp>
        <p:nvSpPr>
          <p:cNvPr id="16" name="Rectangle 15">
            <a:extLst>
              <a:ext uri="{FF2B5EF4-FFF2-40B4-BE49-F238E27FC236}">
                <a16:creationId xmlns:a16="http://schemas.microsoft.com/office/drawing/2014/main" id="{59296B3D-1C3F-CB46-897B-7706DACCE396}"/>
              </a:ext>
            </a:extLst>
          </p:cNvPr>
          <p:cNvSpPr/>
          <p:nvPr/>
        </p:nvSpPr>
        <p:spPr>
          <a:xfrm>
            <a:off x="762000" y="41656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042ED239-93DE-254C-BCAA-3A5FE7C66A50}"/>
              </a:ext>
            </a:extLst>
          </p:cNvPr>
          <p:cNvSpPr txBox="1"/>
          <p:nvPr/>
        </p:nvSpPr>
        <p:spPr>
          <a:xfrm>
            <a:off x="762000" y="4318000"/>
            <a:ext cx="635000" cy="406400"/>
          </a:xfrm>
          <a:prstGeom prst="rect">
            <a:avLst/>
          </a:prstGeom>
          <a:noFill/>
        </p:spPr>
        <p:txBody>
          <a:bodyPr vertOverflow="overflow" vert="horz" wrap="square" rtlCol="0" anchor="t">
            <a:noAutofit/>
          </a:bodyPr>
          <a:lstStyle/>
          <a:p>
            <a:pPr algn="l"/>
            <a:r>
              <a:rPr lang="en-US">
                <a:solidFill>
                  <a:srgbClr val="5A7A5A"/>
                </a:solidFill>
                <a:latin typeface="Georgia"/>
              </a:rPr>
              <a:t>04</a:t>
            </a:r>
          </a:p>
        </p:txBody>
      </p:sp>
      <p:sp>
        <p:nvSpPr>
          <p:cNvPr id="18" name="TextBox 17">
            <a:extLst>
              <a:ext uri="{FF2B5EF4-FFF2-40B4-BE49-F238E27FC236}">
                <a16:creationId xmlns:a16="http://schemas.microsoft.com/office/drawing/2014/main" id="{9B41E30C-13A1-874A-89CC-4FE97F26427A}"/>
              </a:ext>
            </a:extLst>
          </p:cNvPr>
          <p:cNvSpPr txBox="1"/>
          <p:nvPr/>
        </p:nvSpPr>
        <p:spPr>
          <a:xfrm>
            <a:off x="1524000" y="4292600"/>
            <a:ext cx="4826000" cy="304800"/>
          </a:xfrm>
          <a:prstGeom prst="rect">
            <a:avLst/>
          </a:prstGeom>
          <a:noFill/>
        </p:spPr>
        <p:txBody>
          <a:bodyPr vertOverflow="overflow" vert="horz" wrap="square" rtlCol="0" anchor="t">
            <a:noAutofit/>
          </a:bodyPr>
          <a:lstStyle/>
          <a:p>
            <a:pPr algn="l"/>
            <a:r>
              <a:rPr lang="en-US" sz="1600">
                <a:solidFill>
                  <a:srgbClr val="1A1A1A"/>
                </a:solidFill>
                <a:latin typeface="Georgia"/>
              </a:rPr>
              <a:t>Every table is allowlisted.</a:t>
            </a:r>
          </a:p>
        </p:txBody>
      </p:sp>
      <p:sp>
        <p:nvSpPr>
          <p:cNvPr id="19" name="TextBox 18">
            <a:extLst>
              <a:ext uri="{FF2B5EF4-FFF2-40B4-BE49-F238E27FC236}">
                <a16:creationId xmlns:a16="http://schemas.microsoft.com/office/drawing/2014/main" id="{3A9EC6F8-0804-9149-A5AF-6E0933AC1CB2}"/>
              </a:ext>
            </a:extLst>
          </p:cNvPr>
          <p:cNvSpPr txBox="1"/>
          <p:nvPr/>
        </p:nvSpPr>
        <p:spPr>
          <a:xfrm>
            <a:off x="1524000" y="4622800"/>
            <a:ext cx="9779000" cy="279400"/>
          </a:xfrm>
          <a:prstGeom prst="rect">
            <a:avLst/>
          </a:prstGeom>
          <a:noFill/>
        </p:spPr>
        <p:txBody>
          <a:bodyPr vertOverflow="overflow" vert="horz" wrap="square" rtlCol="0" anchor="t">
            <a:noAutofit/>
          </a:bodyPr>
          <a:lstStyle/>
          <a:p>
            <a:pPr algn="l"/>
            <a:r>
              <a:rPr lang="en-US" sz="1300">
                <a:solidFill>
                  <a:srgbClr val="6B6B6B"/>
                </a:solidFill>
                <a:latin typeface="Calibri"/>
                <a:cs typeface="Calibri"/>
              </a:rPr>
              <a:t>References are schema-qualified, the schema is approved, the fully-qualified name is in the explicit list.</a:t>
            </a:r>
          </a:p>
        </p:txBody>
      </p:sp>
      <p:sp>
        <p:nvSpPr>
          <p:cNvPr id="20" name="Rectangle 19">
            <a:extLst>
              <a:ext uri="{FF2B5EF4-FFF2-40B4-BE49-F238E27FC236}">
                <a16:creationId xmlns:a16="http://schemas.microsoft.com/office/drawing/2014/main" id="{944A3F71-7A0E-8845-999E-BE6FC5C1AF43}"/>
              </a:ext>
            </a:extLst>
          </p:cNvPr>
          <p:cNvSpPr/>
          <p:nvPr/>
        </p:nvSpPr>
        <p:spPr>
          <a:xfrm>
            <a:off x="762000" y="48768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4A5C2FE6-A91F-A344-816F-AFA3EB400D7F}"/>
              </a:ext>
            </a:extLst>
          </p:cNvPr>
          <p:cNvSpPr txBox="1"/>
          <p:nvPr/>
        </p:nvSpPr>
        <p:spPr>
          <a:xfrm>
            <a:off x="762000" y="5029200"/>
            <a:ext cx="635000" cy="406400"/>
          </a:xfrm>
          <a:prstGeom prst="rect">
            <a:avLst/>
          </a:prstGeom>
          <a:noFill/>
        </p:spPr>
        <p:txBody>
          <a:bodyPr vertOverflow="overflow" vert="horz" wrap="square" rtlCol="0" anchor="t">
            <a:noAutofit/>
          </a:bodyPr>
          <a:lstStyle/>
          <a:p>
            <a:pPr algn="l"/>
            <a:r>
              <a:rPr lang="en-US">
                <a:solidFill>
                  <a:srgbClr val="8B2E2E"/>
                </a:solidFill>
                <a:latin typeface="Georgia"/>
              </a:rPr>
              <a:t>05</a:t>
            </a:r>
          </a:p>
        </p:txBody>
      </p:sp>
      <p:sp>
        <p:nvSpPr>
          <p:cNvPr id="22" name="TextBox 21">
            <a:extLst>
              <a:ext uri="{FF2B5EF4-FFF2-40B4-BE49-F238E27FC236}">
                <a16:creationId xmlns:a16="http://schemas.microsoft.com/office/drawing/2014/main" id="{B3480FDE-7D0A-D94C-B4D2-B58A3D40AA7D}"/>
              </a:ext>
            </a:extLst>
          </p:cNvPr>
          <p:cNvSpPr txBox="1"/>
          <p:nvPr/>
        </p:nvSpPr>
        <p:spPr>
          <a:xfrm>
            <a:off x="1524000" y="5003800"/>
            <a:ext cx="4826000" cy="304800"/>
          </a:xfrm>
          <a:prstGeom prst="rect">
            <a:avLst/>
          </a:prstGeom>
          <a:noFill/>
        </p:spPr>
        <p:txBody>
          <a:bodyPr vertOverflow="overflow" vert="horz" wrap="square" rtlCol="0" anchor="t">
            <a:noAutofit/>
          </a:bodyPr>
          <a:lstStyle/>
          <a:p>
            <a:pPr algn="l"/>
            <a:r>
              <a:rPr lang="en-US" sz="1600">
                <a:solidFill>
                  <a:srgbClr val="1A1A1A"/>
                </a:solidFill>
                <a:latin typeface="Georgia"/>
              </a:rPr>
              <a:t>No forbidden constructs or functions.</a:t>
            </a:r>
          </a:p>
        </p:txBody>
      </p:sp>
      <p:sp>
        <p:nvSpPr>
          <p:cNvPr id="23" name="TextBox 22">
            <a:extLst>
              <a:ext uri="{FF2B5EF4-FFF2-40B4-BE49-F238E27FC236}">
                <a16:creationId xmlns:a16="http://schemas.microsoft.com/office/drawing/2014/main" id="{6218A7B1-333B-C643-BE15-826C8759030D}"/>
              </a:ext>
            </a:extLst>
          </p:cNvPr>
          <p:cNvSpPr txBox="1"/>
          <p:nvPr/>
        </p:nvSpPr>
        <p:spPr>
          <a:xfrm>
            <a:off x="1524000" y="5334000"/>
            <a:ext cx="9779000" cy="279400"/>
          </a:xfrm>
          <a:prstGeom prst="rect">
            <a:avLst/>
          </a:prstGeom>
          <a:noFill/>
        </p:spPr>
        <p:txBody>
          <a:bodyPr vertOverflow="overflow" vert="horz" wrap="square" rtlCol="0" anchor="t">
            <a:noAutofit/>
          </a:bodyPr>
          <a:lstStyle/>
          <a:p>
            <a:pPr algn="l"/>
            <a:r>
              <a:rPr lang="en-US" sz="1300" dirty="0">
                <a:solidFill>
                  <a:srgbClr val="6B6B6B"/>
                </a:solidFill>
                <a:latin typeface="Calibri"/>
                <a:cs typeface="Calibri"/>
              </a:rPr>
              <a:t>SET, USE, ALTER, SHOW, RESULT_SCAN, GET_DDL, SYSTEM$* — all rejected anywhere in the query.</a:t>
            </a:r>
          </a:p>
        </p:txBody>
      </p:sp>
      <p:sp>
        <p:nvSpPr>
          <p:cNvPr id="24" name="Rectangle 23">
            <a:extLst>
              <a:ext uri="{FF2B5EF4-FFF2-40B4-BE49-F238E27FC236}">
                <a16:creationId xmlns:a16="http://schemas.microsoft.com/office/drawing/2014/main" id="{B3E5472B-FFB7-0F47-B56C-47F75BD186CB}"/>
              </a:ext>
            </a:extLst>
          </p:cNvPr>
          <p:cNvSpPr/>
          <p:nvPr/>
        </p:nvSpPr>
        <p:spPr>
          <a:xfrm>
            <a:off x="762000" y="55880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4909E78A-408F-0440-9F48-37F25723873C}"/>
              </a:ext>
            </a:extLst>
          </p:cNvPr>
          <p:cNvSpPr txBox="1"/>
          <p:nvPr/>
        </p:nvSpPr>
        <p:spPr>
          <a:xfrm>
            <a:off x="762000" y="5765800"/>
            <a:ext cx="10668000" cy="304800"/>
          </a:xfrm>
          <a:prstGeom prst="rect">
            <a:avLst/>
          </a:prstGeom>
          <a:noFill/>
        </p:spPr>
        <p:txBody>
          <a:bodyPr vertOverflow="overflow" vert="horz" wrap="square" rtlCol="0" anchor="t">
            <a:noAutofit/>
          </a:bodyPr>
          <a:lstStyle/>
          <a:p>
            <a:pPr algn="l"/>
            <a:r>
              <a:rPr lang="en-US" sz="1400" i="1">
                <a:solidFill>
                  <a:srgbClr val="1A1A1A"/>
                </a:solidFill>
                <a:latin typeface="Georgia"/>
              </a:rPr>
              <a:t>First rule that fails wins. The query never proceeds.</a:t>
            </a:r>
          </a:p>
        </p:txBody>
      </p:sp>
      <p:sp>
        <p:nvSpPr>
          <p:cNvPr id="26" name="Rectangle 25">
            <a:extLst>
              <a:ext uri="{FF2B5EF4-FFF2-40B4-BE49-F238E27FC236}">
                <a16:creationId xmlns:a16="http://schemas.microsoft.com/office/drawing/2014/main" id="{DBC9DCF5-9150-F14A-901B-2FE8B764B3C2}"/>
              </a:ext>
            </a:extLst>
          </p:cNvPr>
          <p:cNvSpPr/>
          <p:nvPr/>
        </p:nvSpPr>
        <p:spPr>
          <a:xfrm>
            <a:off x="762000" y="63500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3EBDD46C-1B16-FA4E-B21F-90EEA0781FB3}"/>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28" name="TextBox 27">
            <a:extLst>
              <a:ext uri="{FF2B5EF4-FFF2-40B4-BE49-F238E27FC236}">
                <a16:creationId xmlns:a16="http://schemas.microsoft.com/office/drawing/2014/main" id="{87C4F51B-698D-614D-AF31-6AC77D9BE442}"/>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08 / 22</a:t>
            </a:r>
          </a:p>
        </p:txBody>
      </p:sp>
      <p:sp>
        <p:nvSpPr>
          <p:cNvPr id="29" name="Rectangle 28">
            <a:extLst>
              <a:ext uri="{FF2B5EF4-FFF2-40B4-BE49-F238E27FC236}">
                <a16:creationId xmlns:a16="http://schemas.microsoft.com/office/drawing/2014/main" id="{F18A5DFB-7419-D74A-A823-858B531C9AF2}"/>
              </a:ext>
            </a:extLst>
          </p:cNvPr>
          <p:cNvSpPr/>
          <p:nvPr/>
        </p:nvSpPr>
        <p:spPr>
          <a:xfrm>
            <a:off x="762000" y="762000"/>
            <a:ext cx="1524000" cy="127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430523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901E603-BB29-034D-AF62-D258344467F7}"/>
              </a:ext>
            </a:extLst>
          </p:cNvPr>
          <p:cNvSpPr/>
          <p:nvPr/>
        </p:nvSpPr>
        <p:spPr>
          <a:xfrm>
            <a:off x="762000" y="762000"/>
            <a:ext cx="1524000" cy="127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8C9205FE-4145-154D-89C6-479D45206263}"/>
              </a:ext>
            </a:extLst>
          </p:cNvPr>
          <p:cNvSpPr txBox="1"/>
          <p:nvPr/>
        </p:nvSpPr>
        <p:spPr>
          <a:xfrm>
            <a:off x="762000" y="914400"/>
            <a:ext cx="7620000" cy="2794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SCOPE</a:t>
            </a:r>
          </a:p>
        </p:txBody>
      </p:sp>
      <p:sp>
        <p:nvSpPr>
          <p:cNvPr id="6" name="TextBox 5">
            <a:extLst>
              <a:ext uri="{FF2B5EF4-FFF2-40B4-BE49-F238E27FC236}">
                <a16:creationId xmlns:a16="http://schemas.microsoft.com/office/drawing/2014/main" id="{6552F43A-DC65-E342-8DE8-F4F160DC0C3A}"/>
              </a:ext>
            </a:extLst>
          </p:cNvPr>
          <p:cNvSpPr txBox="1"/>
          <p:nvPr/>
        </p:nvSpPr>
        <p:spPr>
          <a:xfrm>
            <a:off x="4572000" y="1397000"/>
            <a:ext cx="6858000" cy="4572000"/>
          </a:xfrm>
          <a:prstGeom prst="rect">
            <a:avLst/>
          </a:prstGeom>
          <a:noFill/>
        </p:spPr>
        <p:txBody>
          <a:bodyPr vertOverflow="overflow" vert="horz" wrap="none" rtlCol="0" anchor="t" anchorCtr="0">
            <a:noAutofit/>
          </a:bodyPr>
          <a:lstStyle/>
          <a:p>
            <a:pPr algn="l"/>
            <a:r>
              <a:rPr lang="en-US" sz="36000">
                <a:solidFill>
                  <a:srgbClr val="D9DEE8"/>
                </a:solidFill>
                <a:latin typeface="Georgia"/>
              </a:rPr>
              <a:t>03</a:t>
            </a:r>
          </a:p>
        </p:txBody>
      </p:sp>
      <p:sp>
        <p:nvSpPr>
          <p:cNvPr id="7" name="Rectangle 6">
            <a:extLst>
              <a:ext uri="{FF2B5EF4-FFF2-40B4-BE49-F238E27FC236}">
                <a16:creationId xmlns:a16="http://schemas.microsoft.com/office/drawing/2014/main" id="{7909277E-990A-4E41-9A13-F3AD74ECB528}"/>
              </a:ext>
            </a:extLst>
          </p:cNvPr>
          <p:cNvSpPr/>
          <p:nvPr/>
        </p:nvSpPr>
        <p:spPr>
          <a:xfrm>
            <a:off x="762000" y="4064000"/>
            <a:ext cx="25400" cy="10160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54AE760B-B4EF-3D45-B8E2-19345BF35E40}"/>
              </a:ext>
            </a:extLst>
          </p:cNvPr>
          <p:cNvSpPr txBox="1"/>
          <p:nvPr/>
        </p:nvSpPr>
        <p:spPr>
          <a:xfrm>
            <a:off x="1016000" y="4064000"/>
            <a:ext cx="5080000" cy="279400"/>
          </a:xfrm>
          <a:prstGeom prst="rect">
            <a:avLst/>
          </a:prstGeom>
          <a:noFill/>
        </p:spPr>
        <p:txBody>
          <a:bodyPr vertOverflow="overflow" vert="horz" wrap="square" rtlCol="0" anchor="t">
            <a:noAutofit/>
          </a:bodyPr>
          <a:lstStyle/>
          <a:p>
            <a:pPr algn="l"/>
            <a:r>
              <a:rPr lang="en-US" sz="1400" i="1">
                <a:solidFill>
                  <a:srgbClr val="6B6B6B"/>
                </a:solidFill>
                <a:latin typeface="Georgia"/>
              </a:rPr>
              <a:t>§ 03</a:t>
            </a:r>
          </a:p>
        </p:txBody>
      </p:sp>
      <p:sp>
        <p:nvSpPr>
          <p:cNvPr id="9" name="TextBox 8">
            <a:extLst>
              <a:ext uri="{FF2B5EF4-FFF2-40B4-BE49-F238E27FC236}">
                <a16:creationId xmlns:a16="http://schemas.microsoft.com/office/drawing/2014/main" id="{1721A595-BC74-DD43-82FD-25747D2A48C5}"/>
              </a:ext>
            </a:extLst>
          </p:cNvPr>
          <p:cNvSpPr txBox="1"/>
          <p:nvPr/>
        </p:nvSpPr>
        <p:spPr>
          <a:xfrm>
            <a:off x="1016000" y="4419600"/>
            <a:ext cx="6858000" cy="762000"/>
          </a:xfrm>
          <a:prstGeom prst="rect">
            <a:avLst/>
          </a:prstGeom>
          <a:noFill/>
        </p:spPr>
        <p:txBody>
          <a:bodyPr vertOverflow="overflow" vert="horz" wrap="square" rtlCol="0" anchor="t">
            <a:noAutofit/>
          </a:bodyPr>
          <a:lstStyle/>
          <a:p>
            <a:pPr algn="l"/>
            <a:r>
              <a:rPr lang="en-US" sz="3600" i="1">
                <a:solidFill>
                  <a:srgbClr val="1A1A1A"/>
                </a:solidFill>
                <a:latin typeface="Georgia"/>
              </a:rPr>
              <a:t>What it does, and what it does not</a:t>
            </a:r>
          </a:p>
        </p:txBody>
      </p:sp>
    </p:spTree>
    <p:extLst>
      <p:ext uri="{BB962C8B-B14F-4D97-AF65-F5344CB8AC3E}">
        <p14:creationId xmlns:p14="http://schemas.microsoft.com/office/powerpoint/2010/main" val="8309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395075-7D8A-894E-8FB8-C2543A94631A}"/>
              </a:ext>
            </a:extLst>
          </p:cNvPr>
          <p:cNvSpPr txBox="1"/>
          <p:nvPr/>
        </p:nvSpPr>
        <p:spPr>
          <a:xfrm>
            <a:off x="762000" y="914400"/>
            <a:ext cx="7620000" cy="2286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04  ·  SCOPE</a:t>
            </a:r>
          </a:p>
        </p:txBody>
      </p:sp>
      <p:sp>
        <p:nvSpPr>
          <p:cNvPr id="3" name="TextBox 2">
            <a:extLst>
              <a:ext uri="{FF2B5EF4-FFF2-40B4-BE49-F238E27FC236}">
                <a16:creationId xmlns:a16="http://schemas.microsoft.com/office/drawing/2014/main" id="{2748E9F9-B02F-CC4F-BE92-D045ADBCC4F3}"/>
              </a:ext>
            </a:extLst>
          </p:cNvPr>
          <p:cNvSpPr txBox="1"/>
          <p:nvPr/>
        </p:nvSpPr>
        <p:spPr>
          <a:xfrm>
            <a:off x="762000" y="1460500"/>
            <a:ext cx="10668000" cy="635000"/>
          </a:xfrm>
          <a:prstGeom prst="rect">
            <a:avLst/>
          </a:prstGeom>
          <a:noFill/>
        </p:spPr>
        <p:txBody>
          <a:bodyPr vertOverflow="overflow" vert="horz" wrap="square" rtlCol="0" anchor="t">
            <a:noAutofit/>
          </a:bodyPr>
          <a:lstStyle/>
          <a:p>
            <a:pPr algn="l"/>
            <a:r>
              <a:rPr lang="en-US" sz="2800">
                <a:solidFill>
                  <a:srgbClr val="1A1A1A"/>
                </a:solidFill>
                <a:latin typeface="Georgia"/>
              </a:rPr>
              <a:t>What the firewall enforces</a:t>
            </a:r>
          </a:p>
        </p:txBody>
      </p:sp>
      <p:sp>
        <p:nvSpPr>
          <p:cNvPr id="4" name="TextBox 3">
            <a:extLst>
              <a:ext uri="{FF2B5EF4-FFF2-40B4-BE49-F238E27FC236}">
                <a16:creationId xmlns:a16="http://schemas.microsoft.com/office/drawing/2014/main" id="{CB5ABE21-5A7F-FE49-94E8-FBF2B89B36BD}"/>
              </a:ext>
            </a:extLst>
          </p:cNvPr>
          <p:cNvSpPr txBox="1"/>
          <p:nvPr/>
        </p:nvSpPr>
        <p:spPr>
          <a:xfrm>
            <a:off x="762000" y="2032000"/>
            <a:ext cx="2540000" cy="279400"/>
          </a:xfrm>
          <a:prstGeom prst="rect">
            <a:avLst/>
          </a:prstGeom>
          <a:noFill/>
        </p:spPr>
        <p:txBody>
          <a:bodyPr vertOverflow="overflow" vert="horz" wrap="square" rtlCol="0" anchor="t">
            <a:noAutofit/>
          </a:bodyPr>
          <a:lstStyle/>
          <a:p>
            <a:pPr algn="l"/>
            <a:r>
              <a:rPr lang="en-US" sz="1000">
                <a:solidFill>
                  <a:srgbClr val="6B6B6B"/>
                </a:solidFill>
                <a:latin typeface="Calibri"/>
                <a:cs typeface="Calibri"/>
              </a:rPr>
              <a:t>DEFENDS AGAINST</a:t>
            </a:r>
          </a:p>
        </p:txBody>
      </p:sp>
      <p:sp>
        <p:nvSpPr>
          <p:cNvPr id="5" name="TextBox 4">
            <a:extLst>
              <a:ext uri="{FF2B5EF4-FFF2-40B4-BE49-F238E27FC236}">
                <a16:creationId xmlns:a16="http://schemas.microsoft.com/office/drawing/2014/main" id="{0003E629-754C-9144-86E6-1A7AEBE63BF7}"/>
              </a:ext>
            </a:extLst>
          </p:cNvPr>
          <p:cNvSpPr txBox="1"/>
          <p:nvPr/>
        </p:nvSpPr>
        <p:spPr>
          <a:xfrm>
            <a:off x="762000" y="2476500"/>
            <a:ext cx="5842000" cy="457200"/>
          </a:xfrm>
          <a:prstGeom prst="rect">
            <a:avLst/>
          </a:prstGeom>
          <a:noFill/>
        </p:spPr>
        <p:txBody>
          <a:bodyPr vertOverflow="overflow" vert="horz" wrap="square" rtlCol="0" anchor="t">
            <a:noAutofit/>
          </a:bodyPr>
          <a:lstStyle/>
          <a:p>
            <a:pPr algn="l"/>
            <a:r>
              <a:rPr lang="en-US" sz="1400">
                <a:solidFill>
                  <a:srgbClr val="1A1A1A"/>
                </a:solidFill>
                <a:latin typeface="Calibri"/>
                <a:cs typeface="Calibri"/>
              </a:rPr>
              <a:t>—  Multi-statement injection (SET …; SELECT …)</a:t>
            </a:r>
          </a:p>
        </p:txBody>
      </p:sp>
      <p:sp>
        <p:nvSpPr>
          <p:cNvPr id="6" name="TextBox 5">
            <a:extLst>
              <a:ext uri="{FF2B5EF4-FFF2-40B4-BE49-F238E27FC236}">
                <a16:creationId xmlns:a16="http://schemas.microsoft.com/office/drawing/2014/main" id="{E28C8751-FABA-B742-811A-A08083013D14}"/>
              </a:ext>
            </a:extLst>
          </p:cNvPr>
          <p:cNvSpPr txBox="1"/>
          <p:nvPr/>
        </p:nvSpPr>
        <p:spPr>
          <a:xfrm>
            <a:off x="762000" y="2959100"/>
            <a:ext cx="5842000" cy="457200"/>
          </a:xfrm>
          <a:prstGeom prst="rect">
            <a:avLst/>
          </a:prstGeom>
          <a:noFill/>
        </p:spPr>
        <p:txBody>
          <a:bodyPr vertOverflow="overflow" vert="horz" wrap="square" rtlCol="0" anchor="t">
            <a:noAutofit/>
          </a:bodyPr>
          <a:lstStyle/>
          <a:p>
            <a:pPr algn="l"/>
            <a:r>
              <a:rPr lang="en-US" sz="1400">
                <a:solidFill>
                  <a:srgbClr val="1A1A1A"/>
                </a:solidFill>
                <a:latin typeface="Calibri"/>
                <a:cs typeface="Calibri"/>
              </a:rPr>
              <a:t>—  Statements outside SELECT (DDL, DML, control flow)</a:t>
            </a:r>
          </a:p>
        </p:txBody>
      </p:sp>
      <p:sp>
        <p:nvSpPr>
          <p:cNvPr id="7" name="TextBox 6">
            <a:extLst>
              <a:ext uri="{FF2B5EF4-FFF2-40B4-BE49-F238E27FC236}">
                <a16:creationId xmlns:a16="http://schemas.microsoft.com/office/drawing/2014/main" id="{7310FE75-0E09-7549-98B1-4561148DBF37}"/>
              </a:ext>
            </a:extLst>
          </p:cNvPr>
          <p:cNvSpPr txBox="1"/>
          <p:nvPr/>
        </p:nvSpPr>
        <p:spPr>
          <a:xfrm>
            <a:off x="762000" y="3441700"/>
            <a:ext cx="5842000" cy="457200"/>
          </a:xfrm>
          <a:prstGeom prst="rect">
            <a:avLst/>
          </a:prstGeom>
          <a:noFill/>
        </p:spPr>
        <p:txBody>
          <a:bodyPr vertOverflow="overflow" vert="horz" wrap="square" rtlCol="0" anchor="t">
            <a:noAutofit/>
          </a:bodyPr>
          <a:lstStyle/>
          <a:p>
            <a:pPr algn="l"/>
            <a:r>
              <a:rPr lang="en-US" sz="1400">
                <a:solidFill>
                  <a:srgbClr val="1A1A1A"/>
                </a:solidFill>
                <a:latin typeface="Calibri"/>
                <a:cs typeface="Calibri"/>
              </a:rPr>
              <a:t>—  References to tables not on the agent's surface</a:t>
            </a:r>
          </a:p>
        </p:txBody>
      </p:sp>
      <p:sp>
        <p:nvSpPr>
          <p:cNvPr id="8" name="TextBox 7">
            <a:extLst>
              <a:ext uri="{FF2B5EF4-FFF2-40B4-BE49-F238E27FC236}">
                <a16:creationId xmlns:a16="http://schemas.microsoft.com/office/drawing/2014/main" id="{0CFC6DD0-C513-4A44-8F58-8B1F6D8AE459}"/>
              </a:ext>
            </a:extLst>
          </p:cNvPr>
          <p:cNvSpPr txBox="1"/>
          <p:nvPr/>
        </p:nvSpPr>
        <p:spPr>
          <a:xfrm>
            <a:off x="762000" y="3924300"/>
            <a:ext cx="5842000" cy="457200"/>
          </a:xfrm>
          <a:prstGeom prst="rect">
            <a:avLst/>
          </a:prstGeom>
          <a:noFill/>
        </p:spPr>
        <p:txBody>
          <a:bodyPr vertOverflow="overflow" vert="horz" wrap="square" rtlCol="0" anchor="t">
            <a:noAutofit/>
          </a:bodyPr>
          <a:lstStyle/>
          <a:p>
            <a:pPr algn="l"/>
            <a:r>
              <a:rPr lang="en-US" sz="1400">
                <a:solidFill>
                  <a:srgbClr val="1A1A1A"/>
                </a:solidFill>
                <a:latin typeface="Calibri"/>
                <a:cs typeface="Calibri"/>
              </a:rPr>
              <a:t>—  Constructs that change session state</a:t>
            </a:r>
          </a:p>
        </p:txBody>
      </p:sp>
      <p:sp>
        <p:nvSpPr>
          <p:cNvPr id="9" name="TextBox 8">
            <a:extLst>
              <a:ext uri="{FF2B5EF4-FFF2-40B4-BE49-F238E27FC236}">
                <a16:creationId xmlns:a16="http://schemas.microsoft.com/office/drawing/2014/main" id="{61E0F842-26AD-A941-B847-7153EBE157E3}"/>
              </a:ext>
            </a:extLst>
          </p:cNvPr>
          <p:cNvSpPr txBox="1"/>
          <p:nvPr/>
        </p:nvSpPr>
        <p:spPr>
          <a:xfrm>
            <a:off x="762000" y="4406900"/>
            <a:ext cx="5842000" cy="457200"/>
          </a:xfrm>
          <a:prstGeom prst="rect">
            <a:avLst/>
          </a:prstGeom>
          <a:noFill/>
        </p:spPr>
        <p:txBody>
          <a:bodyPr vertOverflow="overflow" vert="horz" wrap="square" rtlCol="0" anchor="t">
            <a:noAutofit/>
          </a:bodyPr>
          <a:lstStyle/>
          <a:p>
            <a:pPr algn="l"/>
            <a:r>
              <a:rPr lang="en-US" sz="1400">
                <a:solidFill>
                  <a:srgbClr val="1A1A1A"/>
                </a:solidFill>
                <a:latin typeface="Calibri"/>
                <a:cs typeface="Calibri"/>
              </a:rPr>
              <a:t>—  Function calls used for information disclosure or evasion</a:t>
            </a:r>
          </a:p>
        </p:txBody>
      </p:sp>
      <p:sp>
        <p:nvSpPr>
          <p:cNvPr id="10" name="TextBox 9">
            <a:extLst>
              <a:ext uri="{FF2B5EF4-FFF2-40B4-BE49-F238E27FC236}">
                <a16:creationId xmlns:a16="http://schemas.microsoft.com/office/drawing/2014/main" id="{D7A21EA9-59D1-1049-AA0A-D4F5A916A914}"/>
              </a:ext>
            </a:extLst>
          </p:cNvPr>
          <p:cNvSpPr txBox="1"/>
          <p:nvPr/>
        </p:nvSpPr>
        <p:spPr>
          <a:xfrm>
            <a:off x="762000" y="4889500"/>
            <a:ext cx="5842000" cy="457200"/>
          </a:xfrm>
          <a:prstGeom prst="rect">
            <a:avLst/>
          </a:prstGeom>
          <a:noFill/>
        </p:spPr>
        <p:txBody>
          <a:bodyPr vertOverflow="overflow" vert="horz" wrap="square" rtlCol="0" anchor="t">
            <a:noAutofit/>
          </a:bodyPr>
          <a:lstStyle/>
          <a:p>
            <a:pPr algn="l"/>
            <a:r>
              <a:rPr lang="en-US" sz="1400">
                <a:solidFill>
                  <a:srgbClr val="1A1A1A"/>
                </a:solidFill>
                <a:latin typeface="Calibri"/>
                <a:cs typeface="Calibri"/>
              </a:rPr>
              <a:t>—  Unparseable SQL — fails closed with a clear refusal</a:t>
            </a:r>
          </a:p>
        </p:txBody>
      </p:sp>
      <p:sp>
        <p:nvSpPr>
          <p:cNvPr id="11" name="TextBox 10">
            <a:extLst>
              <a:ext uri="{FF2B5EF4-FFF2-40B4-BE49-F238E27FC236}">
                <a16:creationId xmlns:a16="http://schemas.microsoft.com/office/drawing/2014/main" id="{E3CFEE60-4639-4948-965C-1EC7134782C8}"/>
              </a:ext>
            </a:extLst>
          </p:cNvPr>
          <p:cNvSpPr txBox="1"/>
          <p:nvPr/>
        </p:nvSpPr>
        <p:spPr>
          <a:xfrm>
            <a:off x="7112000" y="2032000"/>
            <a:ext cx="4064000" cy="279400"/>
          </a:xfrm>
          <a:prstGeom prst="rect">
            <a:avLst/>
          </a:prstGeom>
          <a:noFill/>
        </p:spPr>
        <p:txBody>
          <a:bodyPr vertOverflow="overflow" vert="horz" wrap="square" rtlCol="0" anchor="t">
            <a:noAutofit/>
          </a:bodyPr>
          <a:lstStyle/>
          <a:p>
            <a:pPr algn="l"/>
            <a:r>
              <a:rPr lang="en-US" sz="1000">
                <a:solidFill>
                  <a:srgbClr val="6B6B6B"/>
                </a:solidFill>
                <a:latin typeface="Calibri"/>
                <a:cs typeface="Calibri"/>
              </a:rPr>
              <a:t>ILLUSTRATIVE DISTRIBUTION</a:t>
            </a:r>
          </a:p>
        </p:txBody>
      </p:sp>
      <p:sp>
        <p:nvSpPr>
          <p:cNvPr id="12" name="Rectangle 11">
            <a:extLst>
              <a:ext uri="{FF2B5EF4-FFF2-40B4-BE49-F238E27FC236}">
                <a16:creationId xmlns:a16="http://schemas.microsoft.com/office/drawing/2014/main" id="{6D2298CF-2AEC-8444-A7E2-3ECD10538EC2}"/>
              </a:ext>
            </a:extLst>
          </p:cNvPr>
          <p:cNvSpPr/>
          <p:nvPr/>
        </p:nvSpPr>
        <p:spPr>
          <a:xfrm>
            <a:off x="7112000" y="5080000"/>
            <a:ext cx="4064000" cy="6350"/>
          </a:xfrm>
          <a:prstGeom prst="rect">
            <a:avLst/>
          </a:prstGeom>
          <a:solidFill>
            <a:srgbClr val="1A1A1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6CF43DB4-A32E-E649-B0E0-49F1CB053A1D}"/>
              </a:ext>
            </a:extLst>
          </p:cNvPr>
          <p:cNvSpPr/>
          <p:nvPr/>
        </p:nvSpPr>
        <p:spPr>
          <a:xfrm>
            <a:off x="7366000" y="4318000"/>
            <a:ext cx="508000" cy="762000"/>
          </a:xfrm>
          <a:prstGeom prst="rect">
            <a:avLst/>
          </a:prstGeom>
          <a:solidFill>
            <a:srgbClr val="5A7A5A"/>
          </a:solidFill>
          <a:ln w="952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F76314FD-0F67-1E45-985F-D839EF6CF32C}"/>
              </a:ext>
            </a:extLst>
          </p:cNvPr>
          <p:cNvSpPr txBox="1"/>
          <p:nvPr/>
        </p:nvSpPr>
        <p:spPr>
          <a:xfrm>
            <a:off x="7315200" y="4089400"/>
            <a:ext cx="609600" cy="203200"/>
          </a:xfrm>
          <a:prstGeom prst="rect">
            <a:avLst/>
          </a:prstGeom>
          <a:noFill/>
        </p:spPr>
        <p:txBody>
          <a:bodyPr vertOverflow="overflow" vert="horz" wrap="square" rtlCol="0" anchor="t">
            <a:noAutofit/>
          </a:bodyPr>
          <a:lstStyle/>
          <a:p>
            <a:pPr algn="l"/>
            <a:r>
              <a:rPr lang="en-US" sz="1000">
                <a:solidFill>
                  <a:srgbClr val="1A1A1A"/>
                </a:solidFill>
                <a:latin typeface="Calibri"/>
                <a:cs typeface="Calibri"/>
              </a:rPr>
              <a:t>10%</a:t>
            </a:r>
          </a:p>
        </p:txBody>
      </p:sp>
      <p:sp>
        <p:nvSpPr>
          <p:cNvPr id="15" name="TextBox 14">
            <a:extLst>
              <a:ext uri="{FF2B5EF4-FFF2-40B4-BE49-F238E27FC236}">
                <a16:creationId xmlns:a16="http://schemas.microsoft.com/office/drawing/2014/main" id="{FBEE6DF1-04AB-3048-B24C-43124FAF334A}"/>
              </a:ext>
            </a:extLst>
          </p:cNvPr>
          <p:cNvSpPr txBox="1"/>
          <p:nvPr/>
        </p:nvSpPr>
        <p:spPr>
          <a:xfrm>
            <a:off x="7264400" y="5156200"/>
            <a:ext cx="711200" cy="355600"/>
          </a:xfrm>
          <a:prstGeom prst="rect">
            <a:avLst/>
          </a:prstGeom>
          <a:noFill/>
        </p:spPr>
        <p:txBody>
          <a:bodyPr vertOverflow="overflow" vert="horz" wrap="square" rtlCol="0" anchor="t">
            <a:noAutofit/>
          </a:bodyPr>
          <a:lstStyle/>
          <a:p>
            <a:pPr algn="l"/>
            <a:r>
              <a:rPr lang="en-US" sz="1000">
                <a:solidFill>
                  <a:srgbClr val="6B6B6B"/>
                </a:solidFill>
                <a:latin typeface="Calibri"/>
                <a:cs typeface="Calibri"/>
              </a:rPr>
              <a:t>Parse</a:t>
            </a:r>
          </a:p>
        </p:txBody>
      </p:sp>
      <p:sp>
        <p:nvSpPr>
          <p:cNvPr id="16" name="Rectangle 15">
            <a:extLst>
              <a:ext uri="{FF2B5EF4-FFF2-40B4-BE49-F238E27FC236}">
                <a16:creationId xmlns:a16="http://schemas.microsoft.com/office/drawing/2014/main" id="{2AE9450B-2448-4347-87FE-165DD9CFBE79}"/>
              </a:ext>
            </a:extLst>
          </p:cNvPr>
          <p:cNvSpPr/>
          <p:nvPr/>
        </p:nvSpPr>
        <p:spPr>
          <a:xfrm>
            <a:off x="8128000" y="3175000"/>
            <a:ext cx="508000" cy="1905000"/>
          </a:xfrm>
          <a:prstGeom prst="rect">
            <a:avLst/>
          </a:prstGeom>
          <a:solidFill>
            <a:srgbClr val="1F3A5F"/>
          </a:solidFill>
          <a:ln w="952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3766391A-6577-0F4D-94B4-47525F91ADC7}"/>
              </a:ext>
            </a:extLst>
          </p:cNvPr>
          <p:cNvSpPr txBox="1"/>
          <p:nvPr/>
        </p:nvSpPr>
        <p:spPr>
          <a:xfrm>
            <a:off x="8077200" y="2946400"/>
            <a:ext cx="609600" cy="203200"/>
          </a:xfrm>
          <a:prstGeom prst="rect">
            <a:avLst/>
          </a:prstGeom>
          <a:noFill/>
        </p:spPr>
        <p:txBody>
          <a:bodyPr vertOverflow="overflow" vert="horz" wrap="square" rtlCol="0" anchor="t">
            <a:noAutofit/>
          </a:bodyPr>
          <a:lstStyle/>
          <a:p>
            <a:pPr algn="l"/>
            <a:r>
              <a:rPr lang="en-US" sz="1000">
                <a:solidFill>
                  <a:srgbClr val="1A1A1A"/>
                </a:solidFill>
                <a:latin typeface="Calibri"/>
                <a:cs typeface="Calibri"/>
              </a:rPr>
              <a:t>25%</a:t>
            </a:r>
          </a:p>
        </p:txBody>
      </p:sp>
      <p:sp>
        <p:nvSpPr>
          <p:cNvPr id="18" name="TextBox 17">
            <a:extLst>
              <a:ext uri="{FF2B5EF4-FFF2-40B4-BE49-F238E27FC236}">
                <a16:creationId xmlns:a16="http://schemas.microsoft.com/office/drawing/2014/main" id="{ACADC999-E32A-0946-AF98-F6A1D1B66E5D}"/>
              </a:ext>
            </a:extLst>
          </p:cNvPr>
          <p:cNvSpPr txBox="1"/>
          <p:nvPr/>
        </p:nvSpPr>
        <p:spPr>
          <a:xfrm>
            <a:off x="8026400" y="5156200"/>
            <a:ext cx="711200" cy="355600"/>
          </a:xfrm>
          <a:prstGeom prst="rect">
            <a:avLst/>
          </a:prstGeom>
          <a:noFill/>
        </p:spPr>
        <p:txBody>
          <a:bodyPr vertOverflow="overflow" vert="horz" wrap="square" rtlCol="0" anchor="t">
            <a:noAutofit/>
          </a:bodyPr>
          <a:lstStyle/>
          <a:p>
            <a:pPr algn="l"/>
            <a:r>
              <a:rPr lang="en-US" sz="1000">
                <a:solidFill>
                  <a:srgbClr val="6B6B6B"/>
                </a:solidFill>
                <a:latin typeface="Calibri"/>
                <a:cs typeface="Calibri"/>
              </a:rPr>
              <a:t>Multi-stmt</a:t>
            </a:r>
          </a:p>
        </p:txBody>
      </p:sp>
      <p:sp>
        <p:nvSpPr>
          <p:cNvPr id="19" name="Rectangle 18">
            <a:extLst>
              <a:ext uri="{FF2B5EF4-FFF2-40B4-BE49-F238E27FC236}">
                <a16:creationId xmlns:a16="http://schemas.microsoft.com/office/drawing/2014/main" id="{534AAF44-7594-9649-BDC6-29C5909765EA}"/>
              </a:ext>
            </a:extLst>
          </p:cNvPr>
          <p:cNvSpPr/>
          <p:nvPr/>
        </p:nvSpPr>
        <p:spPr>
          <a:xfrm>
            <a:off x="8890000" y="2794000"/>
            <a:ext cx="508000" cy="2286000"/>
          </a:xfrm>
          <a:prstGeom prst="rect">
            <a:avLst/>
          </a:prstGeom>
          <a:solidFill>
            <a:srgbClr val="8B2E2E"/>
          </a:solidFill>
          <a:ln w="952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970C2D91-1FF3-CF46-9A20-954D7C4F6860}"/>
              </a:ext>
            </a:extLst>
          </p:cNvPr>
          <p:cNvSpPr txBox="1"/>
          <p:nvPr/>
        </p:nvSpPr>
        <p:spPr>
          <a:xfrm>
            <a:off x="8839200" y="2565400"/>
            <a:ext cx="609600" cy="203200"/>
          </a:xfrm>
          <a:prstGeom prst="rect">
            <a:avLst/>
          </a:prstGeom>
          <a:noFill/>
        </p:spPr>
        <p:txBody>
          <a:bodyPr vertOverflow="overflow" vert="horz" wrap="square" rtlCol="0" anchor="t">
            <a:noAutofit/>
          </a:bodyPr>
          <a:lstStyle/>
          <a:p>
            <a:pPr algn="l"/>
            <a:r>
              <a:rPr lang="en-US" sz="1000">
                <a:solidFill>
                  <a:srgbClr val="1A1A1A"/>
                </a:solidFill>
                <a:latin typeface="Calibri"/>
                <a:cs typeface="Calibri"/>
              </a:rPr>
              <a:t>30%</a:t>
            </a:r>
          </a:p>
        </p:txBody>
      </p:sp>
      <p:sp>
        <p:nvSpPr>
          <p:cNvPr id="21" name="TextBox 20">
            <a:extLst>
              <a:ext uri="{FF2B5EF4-FFF2-40B4-BE49-F238E27FC236}">
                <a16:creationId xmlns:a16="http://schemas.microsoft.com/office/drawing/2014/main" id="{788C2B77-EE10-B24D-9105-329DADC8305B}"/>
              </a:ext>
            </a:extLst>
          </p:cNvPr>
          <p:cNvSpPr txBox="1"/>
          <p:nvPr/>
        </p:nvSpPr>
        <p:spPr>
          <a:xfrm>
            <a:off x="8788400" y="5156200"/>
            <a:ext cx="711200" cy="355600"/>
          </a:xfrm>
          <a:prstGeom prst="rect">
            <a:avLst/>
          </a:prstGeom>
          <a:noFill/>
        </p:spPr>
        <p:txBody>
          <a:bodyPr vertOverflow="overflow" vert="horz" wrap="square" rtlCol="0" anchor="t">
            <a:noAutofit/>
          </a:bodyPr>
          <a:lstStyle/>
          <a:p>
            <a:pPr algn="l"/>
            <a:r>
              <a:rPr lang="en-US" sz="1000">
                <a:solidFill>
                  <a:srgbClr val="6B6B6B"/>
                </a:solidFill>
                <a:latin typeface="Calibri"/>
                <a:cs typeface="Calibri"/>
              </a:rPr>
              <a:t>Stmt type</a:t>
            </a:r>
          </a:p>
        </p:txBody>
      </p:sp>
      <p:sp>
        <p:nvSpPr>
          <p:cNvPr id="22" name="Rectangle 21">
            <a:extLst>
              <a:ext uri="{FF2B5EF4-FFF2-40B4-BE49-F238E27FC236}">
                <a16:creationId xmlns:a16="http://schemas.microsoft.com/office/drawing/2014/main" id="{A7B3EBF8-59CC-E24E-8402-587AC32D6C2E}"/>
              </a:ext>
            </a:extLst>
          </p:cNvPr>
          <p:cNvSpPr/>
          <p:nvPr/>
        </p:nvSpPr>
        <p:spPr>
          <a:xfrm>
            <a:off x="9652000" y="3175000"/>
            <a:ext cx="508000" cy="1905000"/>
          </a:xfrm>
          <a:prstGeom prst="rect">
            <a:avLst/>
          </a:prstGeom>
          <a:solidFill>
            <a:srgbClr val="B88838"/>
          </a:solidFill>
          <a:ln w="952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B4BEBD55-8E01-BA49-9F61-65EEF8912FD0}"/>
              </a:ext>
            </a:extLst>
          </p:cNvPr>
          <p:cNvSpPr txBox="1"/>
          <p:nvPr/>
        </p:nvSpPr>
        <p:spPr>
          <a:xfrm>
            <a:off x="9601200" y="2946400"/>
            <a:ext cx="609600" cy="203200"/>
          </a:xfrm>
          <a:prstGeom prst="rect">
            <a:avLst/>
          </a:prstGeom>
          <a:noFill/>
        </p:spPr>
        <p:txBody>
          <a:bodyPr vertOverflow="overflow" vert="horz" wrap="square" rtlCol="0" anchor="t">
            <a:noAutofit/>
          </a:bodyPr>
          <a:lstStyle/>
          <a:p>
            <a:pPr algn="l"/>
            <a:r>
              <a:rPr lang="en-US" sz="1000">
                <a:solidFill>
                  <a:srgbClr val="1A1A1A"/>
                </a:solidFill>
                <a:latin typeface="Calibri"/>
                <a:cs typeface="Calibri"/>
              </a:rPr>
              <a:t>25%</a:t>
            </a:r>
          </a:p>
        </p:txBody>
      </p:sp>
      <p:sp>
        <p:nvSpPr>
          <p:cNvPr id="24" name="TextBox 23">
            <a:extLst>
              <a:ext uri="{FF2B5EF4-FFF2-40B4-BE49-F238E27FC236}">
                <a16:creationId xmlns:a16="http://schemas.microsoft.com/office/drawing/2014/main" id="{091425DF-3B5B-C94D-A4C1-85F0C8219EB8}"/>
              </a:ext>
            </a:extLst>
          </p:cNvPr>
          <p:cNvSpPr txBox="1"/>
          <p:nvPr/>
        </p:nvSpPr>
        <p:spPr>
          <a:xfrm>
            <a:off x="9550400" y="5156200"/>
            <a:ext cx="711200" cy="355600"/>
          </a:xfrm>
          <a:prstGeom prst="rect">
            <a:avLst/>
          </a:prstGeom>
          <a:noFill/>
        </p:spPr>
        <p:txBody>
          <a:bodyPr vertOverflow="overflow" vert="horz" wrap="square" rtlCol="0" anchor="t">
            <a:noAutofit/>
          </a:bodyPr>
          <a:lstStyle/>
          <a:p>
            <a:pPr algn="l"/>
            <a:r>
              <a:rPr lang="en-US" sz="1000">
                <a:solidFill>
                  <a:srgbClr val="6B6B6B"/>
                </a:solidFill>
                <a:latin typeface="Calibri"/>
                <a:cs typeface="Calibri"/>
              </a:rPr>
              <a:t>Allowlist</a:t>
            </a:r>
          </a:p>
        </p:txBody>
      </p:sp>
      <p:sp>
        <p:nvSpPr>
          <p:cNvPr id="25" name="Rectangle 24">
            <a:extLst>
              <a:ext uri="{FF2B5EF4-FFF2-40B4-BE49-F238E27FC236}">
                <a16:creationId xmlns:a16="http://schemas.microsoft.com/office/drawing/2014/main" id="{B28C4A0A-314B-F14F-862A-5E394DD634F0}"/>
              </a:ext>
            </a:extLst>
          </p:cNvPr>
          <p:cNvSpPr/>
          <p:nvPr/>
        </p:nvSpPr>
        <p:spPr>
          <a:xfrm>
            <a:off x="10414000" y="4318000"/>
            <a:ext cx="508000" cy="762000"/>
          </a:xfrm>
          <a:prstGeom prst="rect">
            <a:avLst/>
          </a:prstGeom>
          <a:solidFill>
            <a:srgbClr val="6B6B6B"/>
          </a:solidFill>
          <a:ln w="952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7811E3BA-B54D-134D-BF4C-FDC98CFC902B}"/>
              </a:ext>
            </a:extLst>
          </p:cNvPr>
          <p:cNvSpPr txBox="1"/>
          <p:nvPr/>
        </p:nvSpPr>
        <p:spPr>
          <a:xfrm>
            <a:off x="10363200" y="4089400"/>
            <a:ext cx="609600" cy="203200"/>
          </a:xfrm>
          <a:prstGeom prst="rect">
            <a:avLst/>
          </a:prstGeom>
          <a:noFill/>
        </p:spPr>
        <p:txBody>
          <a:bodyPr vertOverflow="overflow" vert="horz" wrap="square" rtlCol="0" anchor="t">
            <a:noAutofit/>
          </a:bodyPr>
          <a:lstStyle/>
          <a:p>
            <a:pPr algn="l"/>
            <a:r>
              <a:rPr lang="en-US" sz="1000">
                <a:solidFill>
                  <a:srgbClr val="1A1A1A"/>
                </a:solidFill>
                <a:latin typeface="Calibri"/>
                <a:cs typeface="Calibri"/>
              </a:rPr>
              <a:t>10%</a:t>
            </a:r>
          </a:p>
        </p:txBody>
      </p:sp>
      <p:sp>
        <p:nvSpPr>
          <p:cNvPr id="27" name="TextBox 26">
            <a:extLst>
              <a:ext uri="{FF2B5EF4-FFF2-40B4-BE49-F238E27FC236}">
                <a16:creationId xmlns:a16="http://schemas.microsoft.com/office/drawing/2014/main" id="{2010B5C8-9E6E-C34E-82DA-B79CEAA5AAEE}"/>
              </a:ext>
            </a:extLst>
          </p:cNvPr>
          <p:cNvSpPr txBox="1"/>
          <p:nvPr/>
        </p:nvSpPr>
        <p:spPr>
          <a:xfrm>
            <a:off x="10312400" y="5156200"/>
            <a:ext cx="711200" cy="355600"/>
          </a:xfrm>
          <a:prstGeom prst="rect">
            <a:avLst/>
          </a:prstGeom>
          <a:noFill/>
        </p:spPr>
        <p:txBody>
          <a:bodyPr vertOverflow="overflow" vert="horz" wrap="square" rtlCol="0" anchor="t">
            <a:noAutofit/>
          </a:bodyPr>
          <a:lstStyle/>
          <a:p>
            <a:pPr algn="l"/>
            <a:r>
              <a:rPr lang="en-US" sz="1000">
                <a:solidFill>
                  <a:srgbClr val="6B6B6B"/>
                </a:solidFill>
                <a:latin typeface="Calibri"/>
                <a:cs typeface="Calibri"/>
              </a:rPr>
              <a:t>Forbid</a:t>
            </a:r>
          </a:p>
        </p:txBody>
      </p:sp>
      <p:sp>
        <p:nvSpPr>
          <p:cNvPr id="28" name="TextBox 27">
            <a:extLst>
              <a:ext uri="{FF2B5EF4-FFF2-40B4-BE49-F238E27FC236}">
                <a16:creationId xmlns:a16="http://schemas.microsoft.com/office/drawing/2014/main" id="{77C4DAA7-5210-6C49-86AB-4935923D27A4}"/>
              </a:ext>
            </a:extLst>
          </p:cNvPr>
          <p:cNvSpPr txBox="1"/>
          <p:nvPr/>
        </p:nvSpPr>
        <p:spPr>
          <a:xfrm>
            <a:off x="7112000" y="5638800"/>
            <a:ext cx="4064000" cy="381000"/>
          </a:xfrm>
          <a:prstGeom prst="rect">
            <a:avLst/>
          </a:prstGeom>
          <a:noFill/>
        </p:spPr>
        <p:txBody>
          <a:bodyPr vertOverflow="overflow" vert="horz" wrap="square" rtlCol="0" anchor="t">
            <a:noAutofit/>
          </a:bodyPr>
          <a:lstStyle/>
          <a:p>
            <a:pPr algn="l"/>
            <a:r>
              <a:rPr lang="en-US" sz="1000" i="1">
                <a:solidFill>
                  <a:srgbClr val="6B6B6B"/>
                </a:solidFill>
                <a:latin typeface="Calibri"/>
                <a:cs typeface="Calibri"/>
              </a:rPr>
              <a:t>Illustrative — actual distributions depend on traffic.</a:t>
            </a:r>
          </a:p>
        </p:txBody>
      </p:sp>
      <p:sp>
        <p:nvSpPr>
          <p:cNvPr id="29" name="Rectangle 28">
            <a:extLst>
              <a:ext uri="{FF2B5EF4-FFF2-40B4-BE49-F238E27FC236}">
                <a16:creationId xmlns:a16="http://schemas.microsoft.com/office/drawing/2014/main" id="{09287830-7C1D-314F-975E-1AB6F5C3A34D}"/>
              </a:ext>
            </a:extLst>
          </p:cNvPr>
          <p:cNvSpPr/>
          <p:nvPr/>
        </p:nvSpPr>
        <p:spPr>
          <a:xfrm>
            <a:off x="762000" y="63500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TextBox 29">
            <a:extLst>
              <a:ext uri="{FF2B5EF4-FFF2-40B4-BE49-F238E27FC236}">
                <a16:creationId xmlns:a16="http://schemas.microsoft.com/office/drawing/2014/main" id="{B4360316-0DF1-7C4C-8211-99CC6863B477}"/>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31" name="TextBox 30">
            <a:extLst>
              <a:ext uri="{FF2B5EF4-FFF2-40B4-BE49-F238E27FC236}">
                <a16:creationId xmlns:a16="http://schemas.microsoft.com/office/drawing/2014/main" id="{11D27136-BDE0-4041-A46C-D6E3C5053A67}"/>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10 / 22</a:t>
            </a:r>
          </a:p>
        </p:txBody>
      </p:sp>
      <p:sp>
        <p:nvSpPr>
          <p:cNvPr id="32" name="Rectangle 31">
            <a:extLst>
              <a:ext uri="{FF2B5EF4-FFF2-40B4-BE49-F238E27FC236}">
                <a16:creationId xmlns:a16="http://schemas.microsoft.com/office/drawing/2014/main" id="{72C8BEC0-A2DF-6249-9052-67F783928BF8}"/>
              </a:ext>
            </a:extLst>
          </p:cNvPr>
          <p:cNvSpPr/>
          <p:nvPr/>
        </p:nvSpPr>
        <p:spPr>
          <a:xfrm>
            <a:off x="762000" y="762000"/>
            <a:ext cx="1524000" cy="12700"/>
          </a:xfrm>
          <a:prstGeom prst="rect">
            <a:avLst/>
          </a:prstGeom>
          <a:solidFill>
            <a:srgbClr val="1F3A5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271872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B69FEF-75C2-D94F-A6DC-65B57E333782}"/>
              </a:ext>
            </a:extLst>
          </p:cNvPr>
          <p:cNvSpPr txBox="1"/>
          <p:nvPr/>
        </p:nvSpPr>
        <p:spPr>
          <a:xfrm>
            <a:off x="762000" y="914400"/>
            <a:ext cx="7620000" cy="2286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04  ·  SCOPE</a:t>
            </a:r>
          </a:p>
        </p:txBody>
      </p:sp>
      <p:sp>
        <p:nvSpPr>
          <p:cNvPr id="3" name="TextBox 2">
            <a:extLst>
              <a:ext uri="{FF2B5EF4-FFF2-40B4-BE49-F238E27FC236}">
                <a16:creationId xmlns:a16="http://schemas.microsoft.com/office/drawing/2014/main" id="{398B86EB-38D1-564C-987B-1CFD986DEE49}"/>
              </a:ext>
            </a:extLst>
          </p:cNvPr>
          <p:cNvSpPr txBox="1"/>
          <p:nvPr/>
        </p:nvSpPr>
        <p:spPr>
          <a:xfrm>
            <a:off x="762000" y="1460500"/>
            <a:ext cx="10668000" cy="635000"/>
          </a:xfrm>
          <a:prstGeom prst="rect">
            <a:avLst/>
          </a:prstGeom>
          <a:noFill/>
        </p:spPr>
        <p:txBody>
          <a:bodyPr vertOverflow="overflow" vert="horz" wrap="square" rtlCol="0" anchor="t">
            <a:noAutofit/>
          </a:bodyPr>
          <a:lstStyle/>
          <a:p>
            <a:pPr algn="l"/>
            <a:r>
              <a:rPr lang="en-US" sz="2800">
                <a:solidFill>
                  <a:srgbClr val="1A1A1A"/>
                </a:solidFill>
                <a:latin typeface="Georgia"/>
              </a:rPr>
              <a:t>What the firewall does not enforce</a:t>
            </a:r>
          </a:p>
        </p:txBody>
      </p:sp>
      <p:sp>
        <p:nvSpPr>
          <p:cNvPr id="4" name="Rectangle 3">
            <a:extLst>
              <a:ext uri="{FF2B5EF4-FFF2-40B4-BE49-F238E27FC236}">
                <a16:creationId xmlns:a16="http://schemas.microsoft.com/office/drawing/2014/main" id="{3E497DB8-B01C-AD42-95AB-F911218555EC}"/>
              </a:ext>
            </a:extLst>
          </p:cNvPr>
          <p:cNvSpPr/>
          <p:nvPr/>
        </p:nvSpPr>
        <p:spPr>
          <a:xfrm>
            <a:off x="762000" y="20955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E60B5471-C4DA-6E4A-83D7-7D7C2ED9D297}"/>
              </a:ext>
            </a:extLst>
          </p:cNvPr>
          <p:cNvSpPr txBox="1"/>
          <p:nvPr/>
        </p:nvSpPr>
        <p:spPr>
          <a:xfrm>
            <a:off x="762000" y="2273300"/>
            <a:ext cx="10668000" cy="812800"/>
          </a:xfrm>
          <a:prstGeom prst="rect">
            <a:avLst/>
          </a:prstGeom>
          <a:noFill/>
        </p:spPr>
        <p:txBody>
          <a:bodyPr vertOverflow="overflow" vert="horz" wrap="square" rtlCol="0" anchor="t">
            <a:noAutofit/>
          </a:bodyPr>
          <a:lstStyle/>
          <a:p>
            <a:pPr algn="l"/>
            <a:r>
              <a:rPr lang="en-US" sz="1500">
                <a:solidFill>
                  <a:srgbClr val="1A1A1A"/>
                </a:solidFill>
                <a:latin typeface="Georgia"/>
              </a:rPr>
              <a:t>The firewall does not enforce row-level access. That is the row access policy in Snowflake.</a:t>
            </a:r>
          </a:p>
        </p:txBody>
      </p:sp>
      <p:sp>
        <p:nvSpPr>
          <p:cNvPr id="6" name="Rectangle 5">
            <a:extLst>
              <a:ext uri="{FF2B5EF4-FFF2-40B4-BE49-F238E27FC236}">
                <a16:creationId xmlns:a16="http://schemas.microsoft.com/office/drawing/2014/main" id="{B973D48D-2937-5743-9126-9ECD2D9B6D88}"/>
              </a:ext>
            </a:extLst>
          </p:cNvPr>
          <p:cNvSpPr/>
          <p:nvPr/>
        </p:nvSpPr>
        <p:spPr>
          <a:xfrm>
            <a:off x="762000" y="30607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3D8A5857-0FEC-BF49-936D-0B315E1D6330}"/>
              </a:ext>
            </a:extLst>
          </p:cNvPr>
          <p:cNvSpPr txBox="1"/>
          <p:nvPr/>
        </p:nvSpPr>
        <p:spPr>
          <a:xfrm>
            <a:off x="762000" y="3238500"/>
            <a:ext cx="10668000" cy="812800"/>
          </a:xfrm>
          <a:prstGeom prst="rect">
            <a:avLst/>
          </a:prstGeom>
          <a:noFill/>
        </p:spPr>
        <p:txBody>
          <a:bodyPr vertOverflow="overflow" vert="horz" wrap="square" rtlCol="0" anchor="t">
            <a:noAutofit/>
          </a:bodyPr>
          <a:lstStyle/>
          <a:p>
            <a:pPr algn="l"/>
            <a:r>
              <a:rPr lang="en-US" sz="1500">
                <a:solidFill>
                  <a:srgbClr val="1A1A1A"/>
                </a:solidFill>
                <a:latin typeface="Georgia"/>
              </a:rPr>
              <a:t>It does not validate column references. Whether a column exists is the database's job; the firewall passes the query, Snowflake returns a clear error if the column is wrong.</a:t>
            </a:r>
          </a:p>
        </p:txBody>
      </p:sp>
      <p:sp>
        <p:nvSpPr>
          <p:cNvPr id="8" name="Rectangle 7">
            <a:extLst>
              <a:ext uri="{FF2B5EF4-FFF2-40B4-BE49-F238E27FC236}">
                <a16:creationId xmlns:a16="http://schemas.microsoft.com/office/drawing/2014/main" id="{CDED6341-FE9E-884F-AE28-8F5676CB59A2}"/>
              </a:ext>
            </a:extLst>
          </p:cNvPr>
          <p:cNvSpPr/>
          <p:nvPr/>
        </p:nvSpPr>
        <p:spPr>
          <a:xfrm>
            <a:off x="762000" y="40259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25EE824D-2FBA-A943-9FFA-8E9176CBE3B2}"/>
              </a:ext>
            </a:extLst>
          </p:cNvPr>
          <p:cNvSpPr txBox="1"/>
          <p:nvPr/>
        </p:nvSpPr>
        <p:spPr>
          <a:xfrm>
            <a:off x="762000" y="4203700"/>
            <a:ext cx="10668000" cy="812800"/>
          </a:xfrm>
          <a:prstGeom prst="rect">
            <a:avLst/>
          </a:prstGeom>
          <a:noFill/>
        </p:spPr>
        <p:txBody>
          <a:bodyPr vertOverflow="overflow" vert="horz" wrap="square" rtlCol="0" anchor="t">
            <a:noAutofit/>
          </a:bodyPr>
          <a:lstStyle/>
          <a:p>
            <a:pPr algn="l"/>
            <a:r>
              <a:rPr lang="en-US" sz="1500">
                <a:solidFill>
                  <a:srgbClr val="1A1A1A"/>
                </a:solidFill>
                <a:latin typeface="Georgia"/>
              </a:rPr>
              <a:t>It does not detect performance attacks. A query that scans ten billion rows passes structural validation. Cost is a separate concern, addressed by query timeouts and resource monitors.</a:t>
            </a:r>
          </a:p>
        </p:txBody>
      </p:sp>
      <p:sp>
        <p:nvSpPr>
          <p:cNvPr id="10" name="Rectangle 9">
            <a:extLst>
              <a:ext uri="{FF2B5EF4-FFF2-40B4-BE49-F238E27FC236}">
                <a16:creationId xmlns:a16="http://schemas.microsoft.com/office/drawing/2014/main" id="{F85565F2-2DA1-054D-A90C-5583DFC8C7BF}"/>
              </a:ext>
            </a:extLst>
          </p:cNvPr>
          <p:cNvSpPr/>
          <p:nvPr/>
        </p:nvSpPr>
        <p:spPr>
          <a:xfrm>
            <a:off x="762000" y="49911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93BB558A-F8C7-5E45-AC4A-B1AC0CDF47F2}"/>
              </a:ext>
            </a:extLst>
          </p:cNvPr>
          <p:cNvSpPr txBox="1"/>
          <p:nvPr/>
        </p:nvSpPr>
        <p:spPr>
          <a:xfrm>
            <a:off x="762000" y="5168900"/>
            <a:ext cx="10668000" cy="812800"/>
          </a:xfrm>
          <a:prstGeom prst="rect">
            <a:avLst/>
          </a:prstGeom>
          <a:noFill/>
        </p:spPr>
        <p:txBody>
          <a:bodyPr vertOverflow="overflow" vert="horz" wrap="square" rtlCol="0" anchor="t">
            <a:noAutofit/>
          </a:bodyPr>
          <a:lstStyle/>
          <a:p>
            <a:pPr algn="l"/>
            <a:r>
              <a:rPr lang="en-US" sz="1500">
                <a:solidFill>
                  <a:srgbClr val="1A1A1A"/>
                </a:solidFill>
                <a:latin typeface="Georgia"/>
              </a:rPr>
              <a:t>It does not evaluate semantics. WHERE 1=0 and WHERE 1=1 both pass. The firewall is structural; semantic correctness is the agent's responsibility.</a:t>
            </a:r>
          </a:p>
        </p:txBody>
      </p:sp>
      <p:sp>
        <p:nvSpPr>
          <p:cNvPr id="12" name="Rectangle 11">
            <a:extLst>
              <a:ext uri="{FF2B5EF4-FFF2-40B4-BE49-F238E27FC236}">
                <a16:creationId xmlns:a16="http://schemas.microsoft.com/office/drawing/2014/main" id="{E5D2F218-7BC1-D54B-9D24-B0865D1A7F83}"/>
              </a:ext>
            </a:extLst>
          </p:cNvPr>
          <p:cNvSpPr/>
          <p:nvPr/>
        </p:nvSpPr>
        <p:spPr>
          <a:xfrm>
            <a:off x="762000" y="59563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5C119BA5-2D11-024C-AB17-42362579726D}"/>
              </a:ext>
            </a:extLst>
          </p:cNvPr>
          <p:cNvSpPr txBox="1"/>
          <p:nvPr/>
        </p:nvSpPr>
        <p:spPr>
          <a:xfrm>
            <a:off x="762000" y="6134100"/>
            <a:ext cx="10668000" cy="304800"/>
          </a:xfrm>
          <a:prstGeom prst="rect">
            <a:avLst/>
          </a:prstGeom>
          <a:noFill/>
        </p:spPr>
        <p:txBody>
          <a:bodyPr vertOverflow="overflow" vert="horz" wrap="square" rtlCol="0" anchor="t">
            <a:noAutofit/>
          </a:bodyPr>
          <a:lstStyle/>
          <a:p>
            <a:pPr algn="l"/>
            <a:r>
              <a:rPr lang="en-US" sz="1400" i="1">
                <a:solidFill>
                  <a:srgbClr val="8B2E2E"/>
                </a:solidFill>
                <a:latin typeface="Georgia"/>
              </a:rPr>
              <a:t>Honest scope is more defensible than aspirational scope.</a:t>
            </a:r>
          </a:p>
        </p:txBody>
      </p:sp>
      <p:sp>
        <p:nvSpPr>
          <p:cNvPr id="14" name="Rectangle 13">
            <a:extLst>
              <a:ext uri="{FF2B5EF4-FFF2-40B4-BE49-F238E27FC236}">
                <a16:creationId xmlns:a16="http://schemas.microsoft.com/office/drawing/2014/main" id="{8A483648-27A3-B449-AD2F-DB0626806547}"/>
              </a:ext>
            </a:extLst>
          </p:cNvPr>
          <p:cNvSpPr/>
          <p:nvPr/>
        </p:nvSpPr>
        <p:spPr>
          <a:xfrm>
            <a:off x="762000" y="63500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65878C88-2D82-0547-9DF2-FAA20D48579A}"/>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16" name="TextBox 15">
            <a:extLst>
              <a:ext uri="{FF2B5EF4-FFF2-40B4-BE49-F238E27FC236}">
                <a16:creationId xmlns:a16="http://schemas.microsoft.com/office/drawing/2014/main" id="{D53ED064-1A6B-D445-B6DB-E34543F61FD3}"/>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11 / 22</a:t>
            </a:r>
          </a:p>
        </p:txBody>
      </p:sp>
      <p:sp>
        <p:nvSpPr>
          <p:cNvPr id="17" name="Rectangle 16">
            <a:extLst>
              <a:ext uri="{FF2B5EF4-FFF2-40B4-BE49-F238E27FC236}">
                <a16:creationId xmlns:a16="http://schemas.microsoft.com/office/drawing/2014/main" id="{876D8DAE-0B43-A845-A08C-8C13820714D1}"/>
              </a:ext>
            </a:extLst>
          </p:cNvPr>
          <p:cNvSpPr/>
          <p:nvPr/>
        </p:nvSpPr>
        <p:spPr>
          <a:xfrm>
            <a:off x="762000" y="762000"/>
            <a:ext cx="1524000" cy="12700"/>
          </a:xfrm>
          <a:prstGeom prst="rect">
            <a:avLst/>
          </a:prstGeom>
          <a:solidFill>
            <a:srgbClr val="1F3A5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355264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ED2A286-94F7-8C4C-95EC-44B028A11E47}"/>
              </a:ext>
            </a:extLst>
          </p:cNvPr>
          <p:cNvSpPr/>
          <p:nvPr/>
        </p:nvSpPr>
        <p:spPr>
          <a:xfrm>
            <a:off x="762000" y="762000"/>
            <a:ext cx="1524000" cy="127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BD35641C-51E2-D64F-8A22-8418ED7942A3}"/>
              </a:ext>
            </a:extLst>
          </p:cNvPr>
          <p:cNvSpPr txBox="1"/>
          <p:nvPr/>
        </p:nvSpPr>
        <p:spPr>
          <a:xfrm>
            <a:off x="762000" y="914400"/>
            <a:ext cx="7620000" cy="2794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IMPLEMENTATION</a:t>
            </a:r>
          </a:p>
        </p:txBody>
      </p:sp>
      <p:sp>
        <p:nvSpPr>
          <p:cNvPr id="6" name="TextBox 5">
            <a:extLst>
              <a:ext uri="{FF2B5EF4-FFF2-40B4-BE49-F238E27FC236}">
                <a16:creationId xmlns:a16="http://schemas.microsoft.com/office/drawing/2014/main" id="{2BB7E8CD-D6A6-9743-80B1-3BC7579BABFB}"/>
              </a:ext>
            </a:extLst>
          </p:cNvPr>
          <p:cNvSpPr txBox="1"/>
          <p:nvPr/>
        </p:nvSpPr>
        <p:spPr>
          <a:xfrm>
            <a:off x="4572000" y="1397000"/>
            <a:ext cx="6858000" cy="4572000"/>
          </a:xfrm>
          <a:prstGeom prst="rect">
            <a:avLst/>
          </a:prstGeom>
          <a:noFill/>
        </p:spPr>
        <p:txBody>
          <a:bodyPr vertOverflow="overflow" vert="horz" wrap="none" rtlCol="0" anchor="t" anchorCtr="0">
            <a:noAutofit/>
          </a:bodyPr>
          <a:lstStyle/>
          <a:p>
            <a:pPr algn="l"/>
            <a:r>
              <a:rPr lang="en-US" sz="36000">
                <a:solidFill>
                  <a:srgbClr val="F0E5CC"/>
                </a:solidFill>
                <a:latin typeface="Georgia"/>
              </a:rPr>
              <a:t>04</a:t>
            </a:r>
          </a:p>
        </p:txBody>
      </p:sp>
      <p:sp>
        <p:nvSpPr>
          <p:cNvPr id="7" name="Rectangle 6">
            <a:extLst>
              <a:ext uri="{FF2B5EF4-FFF2-40B4-BE49-F238E27FC236}">
                <a16:creationId xmlns:a16="http://schemas.microsoft.com/office/drawing/2014/main" id="{09B36102-E067-EF44-B69A-6BCA1C243051}"/>
              </a:ext>
            </a:extLst>
          </p:cNvPr>
          <p:cNvSpPr/>
          <p:nvPr/>
        </p:nvSpPr>
        <p:spPr>
          <a:xfrm>
            <a:off x="762000" y="4064000"/>
            <a:ext cx="25400" cy="10160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6FE3C376-7449-2046-817D-A7B6A73A2F1D}"/>
              </a:ext>
            </a:extLst>
          </p:cNvPr>
          <p:cNvSpPr txBox="1"/>
          <p:nvPr/>
        </p:nvSpPr>
        <p:spPr>
          <a:xfrm>
            <a:off x="1016000" y="4064000"/>
            <a:ext cx="5080000" cy="279400"/>
          </a:xfrm>
          <a:prstGeom prst="rect">
            <a:avLst/>
          </a:prstGeom>
          <a:noFill/>
        </p:spPr>
        <p:txBody>
          <a:bodyPr vertOverflow="overflow" vert="horz" wrap="square" rtlCol="0" anchor="t">
            <a:noAutofit/>
          </a:bodyPr>
          <a:lstStyle/>
          <a:p>
            <a:pPr algn="l"/>
            <a:r>
              <a:rPr lang="en-US" sz="1400" i="1">
                <a:solidFill>
                  <a:srgbClr val="6B6B6B"/>
                </a:solidFill>
                <a:latin typeface="Georgia"/>
              </a:rPr>
              <a:t>§ 04</a:t>
            </a:r>
          </a:p>
        </p:txBody>
      </p:sp>
      <p:sp>
        <p:nvSpPr>
          <p:cNvPr id="9" name="TextBox 8">
            <a:extLst>
              <a:ext uri="{FF2B5EF4-FFF2-40B4-BE49-F238E27FC236}">
                <a16:creationId xmlns:a16="http://schemas.microsoft.com/office/drawing/2014/main" id="{2B9CCE88-68BD-D947-B210-0A8F215B9D6F}"/>
              </a:ext>
            </a:extLst>
          </p:cNvPr>
          <p:cNvSpPr txBox="1"/>
          <p:nvPr/>
        </p:nvSpPr>
        <p:spPr>
          <a:xfrm>
            <a:off x="1016000" y="4419600"/>
            <a:ext cx="6858000" cy="762000"/>
          </a:xfrm>
          <a:prstGeom prst="rect">
            <a:avLst/>
          </a:prstGeom>
          <a:noFill/>
        </p:spPr>
        <p:txBody>
          <a:bodyPr vertOverflow="overflow" vert="horz" wrap="square" rtlCol="0" anchor="t">
            <a:noAutofit/>
          </a:bodyPr>
          <a:lstStyle/>
          <a:p>
            <a:pPr algn="l"/>
            <a:r>
              <a:rPr lang="en-US" sz="3600" i="1">
                <a:solidFill>
                  <a:srgbClr val="1A1A1A"/>
                </a:solidFill>
                <a:latin typeface="Georgia"/>
              </a:rPr>
              <a:t>Implementation</a:t>
            </a:r>
          </a:p>
        </p:txBody>
      </p:sp>
    </p:spTree>
    <p:extLst>
      <p:ext uri="{BB962C8B-B14F-4D97-AF65-F5344CB8AC3E}">
        <p14:creationId xmlns:p14="http://schemas.microsoft.com/office/powerpoint/2010/main" val="1395455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B3AFB4-759D-0543-9B3B-F333DB931432}"/>
              </a:ext>
            </a:extLst>
          </p:cNvPr>
          <p:cNvSpPr txBox="1"/>
          <p:nvPr/>
        </p:nvSpPr>
        <p:spPr>
          <a:xfrm>
            <a:off x="762000" y="914400"/>
            <a:ext cx="7620000" cy="2286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05  ·  IMPLEMENTATION</a:t>
            </a:r>
          </a:p>
        </p:txBody>
      </p:sp>
      <p:sp>
        <p:nvSpPr>
          <p:cNvPr id="3" name="TextBox 2">
            <a:extLst>
              <a:ext uri="{FF2B5EF4-FFF2-40B4-BE49-F238E27FC236}">
                <a16:creationId xmlns:a16="http://schemas.microsoft.com/office/drawing/2014/main" id="{9A47679C-6E5B-AE4A-A164-EB535A4E7F9E}"/>
              </a:ext>
            </a:extLst>
          </p:cNvPr>
          <p:cNvSpPr txBox="1"/>
          <p:nvPr/>
        </p:nvSpPr>
        <p:spPr>
          <a:xfrm>
            <a:off x="762000" y="1460500"/>
            <a:ext cx="10668000" cy="635000"/>
          </a:xfrm>
          <a:prstGeom prst="rect">
            <a:avLst/>
          </a:prstGeom>
          <a:noFill/>
        </p:spPr>
        <p:txBody>
          <a:bodyPr vertOverflow="overflow" vert="horz" wrap="square" rtlCol="0" anchor="t">
            <a:noAutofit/>
          </a:bodyPr>
          <a:lstStyle/>
          <a:p>
            <a:pPr algn="l"/>
            <a:r>
              <a:rPr lang="en-US" sz="2800">
                <a:solidFill>
                  <a:srgbClr val="1A1A1A"/>
                </a:solidFill>
                <a:latin typeface="Georgia"/>
              </a:rPr>
              <a:t>Five files, one public function</a:t>
            </a:r>
          </a:p>
        </p:txBody>
      </p:sp>
      <p:sp>
        <p:nvSpPr>
          <p:cNvPr id="4" name="Rectangle 3">
            <a:extLst>
              <a:ext uri="{FF2B5EF4-FFF2-40B4-BE49-F238E27FC236}">
                <a16:creationId xmlns:a16="http://schemas.microsoft.com/office/drawing/2014/main" id="{977A34B1-BA90-654B-91F0-11FB2228E665}"/>
              </a:ext>
            </a:extLst>
          </p:cNvPr>
          <p:cNvSpPr/>
          <p:nvPr/>
        </p:nvSpPr>
        <p:spPr>
          <a:xfrm>
            <a:off x="762000" y="20955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230E586C-27D7-E340-A30D-7334AF3A1F64}"/>
              </a:ext>
            </a:extLst>
          </p:cNvPr>
          <p:cNvSpPr txBox="1"/>
          <p:nvPr/>
        </p:nvSpPr>
        <p:spPr>
          <a:xfrm>
            <a:off x="762000" y="2247900"/>
            <a:ext cx="2794000" cy="304800"/>
          </a:xfrm>
          <a:prstGeom prst="rect">
            <a:avLst/>
          </a:prstGeom>
          <a:noFill/>
        </p:spPr>
        <p:txBody>
          <a:bodyPr vertOverflow="overflow" vert="horz" wrap="square" rtlCol="0" anchor="t">
            <a:noAutofit/>
          </a:bodyPr>
          <a:lstStyle/>
          <a:p>
            <a:pPr algn="l"/>
            <a:r>
              <a:rPr lang="en-US" sz="1400">
                <a:solidFill>
                  <a:srgbClr val="1A1A1A"/>
                </a:solidFill>
                <a:latin typeface="Consolas"/>
                <a:cs typeface="Consolas"/>
              </a:rPr>
              <a:t>errors.py</a:t>
            </a:r>
          </a:p>
        </p:txBody>
      </p:sp>
      <p:sp>
        <p:nvSpPr>
          <p:cNvPr id="6" name="TextBox 5">
            <a:extLst>
              <a:ext uri="{FF2B5EF4-FFF2-40B4-BE49-F238E27FC236}">
                <a16:creationId xmlns:a16="http://schemas.microsoft.com/office/drawing/2014/main" id="{617FF2D9-D841-9241-B427-F2BE3F4EDE7B}"/>
              </a:ext>
            </a:extLst>
          </p:cNvPr>
          <p:cNvSpPr txBox="1"/>
          <p:nvPr/>
        </p:nvSpPr>
        <p:spPr>
          <a:xfrm>
            <a:off x="3683000" y="2247900"/>
            <a:ext cx="7747000" cy="304800"/>
          </a:xfrm>
          <a:prstGeom prst="rect">
            <a:avLst/>
          </a:prstGeom>
          <a:noFill/>
        </p:spPr>
        <p:txBody>
          <a:bodyPr vertOverflow="overflow" vert="horz" wrap="square" rtlCol="0" anchor="t">
            <a:noAutofit/>
          </a:bodyPr>
          <a:lstStyle/>
          <a:p>
            <a:pPr algn="l"/>
            <a:r>
              <a:rPr lang="en-US" sz="1400">
                <a:solidFill>
                  <a:srgbClr val="1A1A1A"/>
                </a:solidFill>
                <a:latin typeface="Calibri"/>
                <a:cs typeface="Calibri"/>
              </a:rPr>
              <a:t>Exception types — one base class, one subclass per rule</a:t>
            </a:r>
          </a:p>
        </p:txBody>
      </p:sp>
      <p:sp>
        <p:nvSpPr>
          <p:cNvPr id="7" name="Rectangle 6">
            <a:extLst>
              <a:ext uri="{FF2B5EF4-FFF2-40B4-BE49-F238E27FC236}">
                <a16:creationId xmlns:a16="http://schemas.microsoft.com/office/drawing/2014/main" id="{A41BDEEA-F787-E54C-BE6B-2BEF290F3756}"/>
              </a:ext>
            </a:extLst>
          </p:cNvPr>
          <p:cNvSpPr/>
          <p:nvPr/>
        </p:nvSpPr>
        <p:spPr>
          <a:xfrm>
            <a:off x="762000" y="26289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95FCFB01-8894-134C-8E26-6694FEEB06CA}"/>
              </a:ext>
            </a:extLst>
          </p:cNvPr>
          <p:cNvSpPr txBox="1"/>
          <p:nvPr/>
        </p:nvSpPr>
        <p:spPr>
          <a:xfrm>
            <a:off x="762000" y="2781300"/>
            <a:ext cx="2794000" cy="304800"/>
          </a:xfrm>
          <a:prstGeom prst="rect">
            <a:avLst/>
          </a:prstGeom>
          <a:noFill/>
        </p:spPr>
        <p:txBody>
          <a:bodyPr vertOverflow="overflow" vert="horz" wrap="square" rtlCol="0" anchor="t">
            <a:noAutofit/>
          </a:bodyPr>
          <a:lstStyle/>
          <a:p>
            <a:pPr algn="l"/>
            <a:r>
              <a:rPr lang="en-US" sz="1400">
                <a:solidFill>
                  <a:srgbClr val="1A1A1A"/>
                </a:solidFill>
                <a:latin typeface="Consolas"/>
                <a:cs typeface="Consolas"/>
              </a:rPr>
              <a:t>allowlist.py</a:t>
            </a:r>
          </a:p>
        </p:txBody>
      </p:sp>
      <p:sp>
        <p:nvSpPr>
          <p:cNvPr id="9" name="TextBox 8">
            <a:extLst>
              <a:ext uri="{FF2B5EF4-FFF2-40B4-BE49-F238E27FC236}">
                <a16:creationId xmlns:a16="http://schemas.microsoft.com/office/drawing/2014/main" id="{66F86714-FBDA-7542-9C76-ECB487C5B14C}"/>
              </a:ext>
            </a:extLst>
          </p:cNvPr>
          <p:cNvSpPr txBox="1"/>
          <p:nvPr/>
        </p:nvSpPr>
        <p:spPr>
          <a:xfrm>
            <a:off x="3683000" y="2781300"/>
            <a:ext cx="7747000" cy="304800"/>
          </a:xfrm>
          <a:prstGeom prst="rect">
            <a:avLst/>
          </a:prstGeom>
          <a:noFill/>
        </p:spPr>
        <p:txBody>
          <a:bodyPr vertOverflow="overflow" vert="horz" wrap="square" rtlCol="0" anchor="t">
            <a:noAutofit/>
          </a:bodyPr>
          <a:lstStyle/>
          <a:p>
            <a:pPr algn="l"/>
            <a:r>
              <a:rPr lang="en-US" sz="1400">
                <a:solidFill>
                  <a:srgbClr val="1A1A1A"/>
                </a:solidFill>
                <a:latin typeface="Calibri"/>
                <a:cs typeface="Calibri"/>
              </a:rPr>
              <a:t>The configurable list of permitted tables and schemas</a:t>
            </a:r>
          </a:p>
        </p:txBody>
      </p:sp>
      <p:sp>
        <p:nvSpPr>
          <p:cNvPr id="10" name="Rectangle 9">
            <a:extLst>
              <a:ext uri="{FF2B5EF4-FFF2-40B4-BE49-F238E27FC236}">
                <a16:creationId xmlns:a16="http://schemas.microsoft.com/office/drawing/2014/main" id="{AD985FED-1BCA-0049-B92D-8176ECF18813}"/>
              </a:ext>
            </a:extLst>
          </p:cNvPr>
          <p:cNvSpPr/>
          <p:nvPr/>
        </p:nvSpPr>
        <p:spPr>
          <a:xfrm>
            <a:off x="762000" y="31623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60106AEC-F87A-F749-8AE8-83EF3458C8A1}"/>
              </a:ext>
            </a:extLst>
          </p:cNvPr>
          <p:cNvSpPr txBox="1"/>
          <p:nvPr/>
        </p:nvSpPr>
        <p:spPr>
          <a:xfrm>
            <a:off x="762000" y="3314700"/>
            <a:ext cx="2794000" cy="304800"/>
          </a:xfrm>
          <a:prstGeom prst="rect">
            <a:avLst/>
          </a:prstGeom>
          <a:noFill/>
        </p:spPr>
        <p:txBody>
          <a:bodyPr vertOverflow="overflow" vert="horz" wrap="square" rtlCol="0" anchor="t">
            <a:noAutofit/>
          </a:bodyPr>
          <a:lstStyle/>
          <a:p>
            <a:pPr algn="l"/>
            <a:r>
              <a:rPr lang="en-US" sz="1400">
                <a:solidFill>
                  <a:srgbClr val="1A1A1A"/>
                </a:solidFill>
                <a:latin typeface="Consolas"/>
                <a:cs typeface="Consolas"/>
              </a:rPr>
              <a:t>validators.py</a:t>
            </a:r>
          </a:p>
        </p:txBody>
      </p:sp>
      <p:sp>
        <p:nvSpPr>
          <p:cNvPr id="12" name="TextBox 11">
            <a:extLst>
              <a:ext uri="{FF2B5EF4-FFF2-40B4-BE49-F238E27FC236}">
                <a16:creationId xmlns:a16="http://schemas.microsoft.com/office/drawing/2014/main" id="{10BD6132-F6E6-FE4C-B3D5-16428DB76827}"/>
              </a:ext>
            </a:extLst>
          </p:cNvPr>
          <p:cNvSpPr txBox="1"/>
          <p:nvPr/>
        </p:nvSpPr>
        <p:spPr>
          <a:xfrm>
            <a:off x="3683000" y="3314700"/>
            <a:ext cx="7747000" cy="304800"/>
          </a:xfrm>
          <a:prstGeom prst="rect">
            <a:avLst/>
          </a:prstGeom>
          <a:noFill/>
        </p:spPr>
        <p:txBody>
          <a:bodyPr vertOverflow="overflow" vert="horz" wrap="square" rtlCol="0" anchor="t">
            <a:noAutofit/>
          </a:bodyPr>
          <a:lstStyle/>
          <a:p>
            <a:pPr algn="l"/>
            <a:r>
              <a:rPr lang="en-US" sz="1400">
                <a:solidFill>
                  <a:srgbClr val="1A1A1A"/>
                </a:solidFill>
                <a:latin typeface="Calibri"/>
                <a:cs typeface="Calibri"/>
              </a:rPr>
              <a:t>Five composable rule functions, each a single responsibility</a:t>
            </a:r>
          </a:p>
        </p:txBody>
      </p:sp>
      <p:sp>
        <p:nvSpPr>
          <p:cNvPr id="13" name="Rectangle 12">
            <a:extLst>
              <a:ext uri="{FF2B5EF4-FFF2-40B4-BE49-F238E27FC236}">
                <a16:creationId xmlns:a16="http://schemas.microsoft.com/office/drawing/2014/main" id="{4303C785-39A7-3E40-8E7C-2D88610A6440}"/>
              </a:ext>
            </a:extLst>
          </p:cNvPr>
          <p:cNvSpPr/>
          <p:nvPr/>
        </p:nvSpPr>
        <p:spPr>
          <a:xfrm>
            <a:off x="762000" y="36957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51C49182-78FA-834B-9463-C94937DD0A8D}"/>
              </a:ext>
            </a:extLst>
          </p:cNvPr>
          <p:cNvSpPr txBox="1"/>
          <p:nvPr/>
        </p:nvSpPr>
        <p:spPr>
          <a:xfrm>
            <a:off x="762000" y="3848100"/>
            <a:ext cx="2794000" cy="304800"/>
          </a:xfrm>
          <a:prstGeom prst="rect">
            <a:avLst/>
          </a:prstGeom>
          <a:noFill/>
        </p:spPr>
        <p:txBody>
          <a:bodyPr vertOverflow="overflow" vert="horz" wrap="square" rtlCol="0" anchor="t">
            <a:noAutofit/>
          </a:bodyPr>
          <a:lstStyle/>
          <a:p>
            <a:pPr algn="l"/>
            <a:r>
              <a:rPr lang="en-US" sz="1400">
                <a:solidFill>
                  <a:srgbClr val="1A1A1A"/>
                </a:solidFill>
                <a:latin typeface="Consolas"/>
                <a:cs typeface="Consolas"/>
              </a:rPr>
              <a:t>firewall.py</a:t>
            </a:r>
          </a:p>
        </p:txBody>
      </p:sp>
      <p:sp>
        <p:nvSpPr>
          <p:cNvPr id="15" name="TextBox 14">
            <a:extLst>
              <a:ext uri="{FF2B5EF4-FFF2-40B4-BE49-F238E27FC236}">
                <a16:creationId xmlns:a16="http://schemas.microsoft.com/office/drawing/2014/main" id="{BB872E39-8B41-724F-8A20-55C7FC10ABE2}"/>
              </a:ext>
            </a:extLst>
          </p:cNvPr>
          <p:cNvSpPr txBox="1"/>
          <p:nvPr/>
        </p:nvSpPr>
        <p:spPr>
          <a:xfrm>
            <a:off x="3683000" y="3848100"/>
            <a:ext cx="7747000" cy="304800"/>
          </a:xfrm>
          <a:prstGeom prst="rect">
            <a:avLst/>
          </a:prstGeom>
          <a:noFill/>
        </p:spPr>
        <p:txBody>
          <a:bodyPr vertOverflow="overflow" vert="horz" wrap="square" rtlCol="0" anchor="t">
            <a:noAutofit/>
          </a:bodyPr>
          <a:lstStyle/>
          <a:p>
            <a:pPr algn="l"/>
            <a:r>
              <a:rPr lang="en-US" sz="1400">
                <a:solidFill>
                  <a:srgbClr val="1A1A1A"/>
                </a:solidFill>
                <a:latin typeface="Calibri"/>
                <a:cs typeface="Calibri"/>
              </a:rPr>
              <a:t>The orchestrator — calls validators in order, returns or raises</a:t>
            </a:r>
          </a:p>
        </p:txBody>
      </p:sp>
      <p:sp>
        <p:nvSpPr>
          <p:cNvPr id="16" name="Rectangle 15">
            <a:extLst>
              <a:ext uri="{FF2B5EF4-FFF2-40B4-BE49-F238E27FC236}">
                <a16:creationId xmlns:a16="http://schemas.microsoft.com/office/drawing/2014/main" id="{B0D50960-FC95-EE4E-9EEE-DCC612E0EA8D}"/>
              </a:ext>
            </a:extLst>
          </p:cNvPr>
          <p:cNvSpPr/>
          <p:nvPr/>
        </p:nvSpPr>
        <p:spPr>
          <a:xfrm>
            <a:off x="762000" y="42291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98FF789B-33F5-5B4F-A038-7F395C942E18}"/>
              </a:ext>
            </a:extLst>
          </p:cNvPr>
          <p:cNvSpPr txBox="1"/>
          <p:nvPr/>
        </p:nvSpPr>
        <p:spPr>
          <a:xfrm>
            <a:off x="762000" y="4381500"/>
            <a:ext cx="2794000" cy="304800"/>
          </a:xfrm>
          <a:prstGeom prst="rect">
            <a:avLst/>
          </a:prstGeom>
          <a:noFill/>
        </p:spPr>
        <p:txBody>
          <a:bodyPr vertOverflow="overflow" vert="horz" wrap="square" rtlCol="0" anchor="t">
            <a:noAutofit/>
          </a:bodyPr>
          <a:lstStyle/>
          <a:p>
            <a:pPr algn="l"/>
            <a:r>
              <a:rPr lang="en-US" sz="1400">
                <a:solidFill>
                  <a:srgbClr val="1A1A1A"/>
                </a:solidFill>
                <a:latin typeface="Consolas"/>
                <a:cs typeface="Consolas"/>
              </a:rPr>
              <a:t>__init__.py</a:t>
            </a:r>
          </a:p>
        </p:txBody>
      </p:sp>
      <p:sp>
        <p:nvSpPr>
          <p:cNvPr id="18" name="TextBox 17">
            <a:extLst>
              <a:ext uri="{FF2B5EF4-FFF2-40B4-BE49-F238E27FC236}">
                <a16:creationId xmlns:a16="http://schemas.microsoft.com/office/drawing/2014/main" id="{CC018E75-5263-3241-838F-3EC70E2831A1}"/>
              </a:ext>
            </a:extLst>
          </p:cNvPr>
          <p:cNvSpPr txBox="1"/>
          <p:nvPr/>
        </p:nvSpPr>
        <p:spPr>
          <a:xfrm>
            <a:off x="3683000" y="4381500"/>
            <a:ext cx="7747000" cy="304800"/>
          </a:xfrm>
          <a:prstGeom prst="rect">
            <a:avLst/>
          </a:prstGeom>
          <a:noFill/>
        </p:spPr>
        <p:txBody>
          <a:bodyPr vertOverflow="overflow" vert="horz" wrap="square" rtlCol="0" anchor="t">
            <a:noAutofit/>
          </a:bodyPr>
          <a:lstStyle/>
          <a:p>
            <a:pPr algn="l"/>
            <a:r>
              <a:rPr lang="en-US" sz="1400">
                <a:solidFill>
                  <a:srgbClr val="1A1A1A"/>
                </a:solidFill>
                <a:latin typeface="Calibri"/>
                <a:cs typeface="Calibri"/>
              </a:rPr>
              <a:t>Public API: validate_sql(), Allowlist, exception classes</a:t>
            </a:r>
          </a:p>
        </p:txBody>
      </p:sp>
      <p:sp>
        <p:nvSpPr>
          <p:cNvPr id="19" name="Rectangle 18">
            <a:extLst>
              <a:ext uri="{FF2B5EF4-FFF2-40B4-BE49-F238E27FC236}">
                <a16:creationId xmlns:a16="http://schemas.microsoft.com/office/drawing/2014/main" id="{DE2058CF-233B-A240-87FE-B06ED3803464}"/>
              </a:ext>
            </a:extLst>
          </p:cNvPr>
          <p:cNvSpPr/>
          <p:nvPr/>
        </p:nvSpPr>
        <p:spPr>
          <a:xfrm>
            <a:off x="762000" y="47625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821260C8-DE13-E14E-88A7-EA6D45BF68C6}"/>
              </a:ext>
            </a:extLst>
          </p:cNvPr>
          <p:cNvSpPr txBox="1"/>
          <p:nvPr/>
        </p:nvSpPr>
        <p:spPr>
          <a:xfrm>
            <a:off x="762000" y="5041900"/>
            <a:ext cx="10668000" cy="762000"/>
          </a:xfrm>
          <a:prstGeom prst="rect">
            <a:avLst/>
          </a:prstGeom>
          <a:noFill/>
        </p:spPr>
        <p:txBody>
          <a:bodyPr vertOverflow="overflow" vert="horz" wrap="square" rtlCol="0" anchor="t">
            <a:noAutofit/>
          </a:bodyPr>
          <a:lstStyle/>
          <a:p>
            <a:pPr algn="l"/>
            <a:r>
              <a:rPr lang="en-US" sz="1500">
                <a:solidFill>
                  <a:srgbClr val="1A1A1A"/>
                </a:solidFill>
                <a:latin typeface="Georgia"/>
              </a:rPr>
              <a:t>Two hundred lines of Python. No runtime dependencies beyond sqlglot. The public surface is a single function: validate_sql(sql) → str.</a:t>
            </a:r>
          </a:p>
        </p:txBody>
      </p:sp>
      <p:sp>
        <p:nvSpPr>
          <p:cNvPr id="21" name="Rectangle 20">
            <a:extLst>
              <a:ext uri="{FF2B5EF4-FFF2-40B4-BE49-F238E27FC236}">
                <a16:creationId xmlns:a16="http://schemas.microsoft.com/office/drawing/2014/main" id="{8672B609-2395-5C4C-AC75-909001E01077}"/>
              </a:ext>
            </a:extLst>
          </p:cNvPr>
          <p:cNvSpPr/>
          <p:nvPr/>
        </p:nvSpPr>
        <p:spPr>
          <a:xfrm>
            <a:off x="762000" y="63500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52ED97AD-3CD0-DF46-9D95-58A23AFE21E7}"/>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23" name="TextBox 22">
            <a:extLst>
              <a:ext uri="{FF2B5EF4-FFF2-40B4-BE49-F238E27FC236}">
                <a16:creationId xmlns:a16="http://schemas.microsoft.com/office/drawing/2014/main" id="{28B7A70A-5467-824D-A0BE-78D052CCBAD7}"/>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13 / 22</a:t>
            </a:r>
          </a:p>
        </p:txBody>
      </p:sp>
      <p:sp>
        <p:nvSpPr>
          <p:cNvPr id="24" name="Rectangle 23">
            <a:extLst>
              <a:ext uri="{FF2B5EF4-FFF2-40B4-BE49-F238E27FC236}">
                <a16:creationId xmlns:a16="http://schemas.microsoft.com/office/drawing/2014/main" id="{2A39CB83-C7E0-A942-B955-08ABDDBDE8ED}"/>
              </a:ext>
            </a:extLst>
          </p:cNvPr>
          <p:cNvSpPr/>
          <p:nvPr/>
        </p:nvSpPr>
        <p:spPr>
          <a:xfrm>
            <a:off x="762000" y="762000"/>
            <a:ext cx="1524000" cy="12700"/>
          </a:xfrm>
          <a:prstGeom prst="rect">
            <a:avLst/>
          </a:prstGeom>
          <a:solidFill>
            <a:srgbClr val="B8883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171314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C50752-8899-4E4D-B282-D9B4AB06501D}"/>
              </a:ext>
            </a:extLst>
          </p:cNvPr>
          <p:cNvSpPr txBox="1"/>
          <p:nvPr/>
        </p:nvSpPr>
        <p:spPr>
          <a:xfrm>
            <a:off x="762000" y="914400"/>
            <a:ext cx="7620000" cy="2286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05  ·  IMPLEMENTATION</a:t>
            </a:r>
          </a:p>
        </p:txBody>
      </p:sp>
      <p:sp>
        <p:nvSpPr>
          <p:cNvPr id="3" name="TextBox 2">
            <a:extLst>
              <a:ext uri="{FF2B5EF4-FFF2-40B4-BE49-F238E27FC236}">
                <a16:creationId xmlns:a16="http://schemas.microsoft.com/office/drawing/2014/main" id="{49DB2552-D082-F14D-BB46-DAAEFA6A3346}"/>
              </a:ext>
            </a:extLst>
          </p:cNvPr>
          <p:cNvSpPr txBox="1"/>
          <p:nvPr/>
        </p:nvSpPr>
        <p:spPr>
          <a:xfrm>
            <a:off x="762000" y="1460500"/>
            <a:ext cx="10668000" cy="635000"/>
          </a:xfrm>
          <a:prstGeom prst="rect">
            <a:avLst/>
          </a:prstGeom>
          <a:noFill/>
        </p:spPr>
        <p:txBody>
          <a:bodyPr vertOverflow="overflow" vert="horz" wrap="square" rtlCol="0" anchor="t">
            <a:noAutofit/>
          </a:bodyPr>
          <a:lstStyle/>
          <a:p>
            <a:pPr algn="l"/>
            <a:r>
              <a:rPr lang="en-US" sz="2800">
                <a:solidFill>
                  <a:srgbClr val="1A1A1A"/>
                </a:solidFill>
                <a:latin typeface="Georgia"/>
              </a:rPr>
              <a:t>The orchestrator</a:t>
            </a:r>
          </a:p>
        </p:txBody>
      </p:sp>
      <p:sp>
        <p:nvSpPr>
          <p:cNvPr id="4" name="Rectangle 3">
            <a:extLst>
              <a:ext uri="{FF2B5EF4-FFF2-40B4-BE49-F238E27FC236}">
                <a16:creationId xmlns:a16="http://schemas.microsoft.com/office/drawing/2014/main" id="{7773F6AD-4099-464C-9523-1BE4A43ABB11}"/>
              </a:ext>
            </a:extLst>
          </p:cNvPr>
          <p:cNvSpPr/>
          <p:nvPr/>
        </p:nvSpPr>
        <p:spPr>
          <a:xfrm>
            <a:off x="762000" y="2032000"/>
            <a:ext cx="10668000" cy="3175000"/>
          </a:xfrm>
          <a:prstGeom prst="rect">
            <a:avLst/>
          </a:prstGeom>
          <a:solidFill>
            <a:srgbClr val="EDEAE3"/>
          </a:solidFill>
          <a:ln w="6350" cap="flat" cmpd="sng" algn="ctr">
            <a:solidFill>
              <a:srgbClr val="1A1A1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en-US" sz="1300" dirty="0">
                <a:solidFill>
                  <a:srgbClr val="1F3A5F"/>
                </a:solidFill>
                <a:latin typeface="Consolas"/>
                <a:cs typeface="Consolas"/>
              </a:rPr>
              <a:t>def </a:t>
            </a:r>
            <a:r>
              <a:rPr lang="en-US" sz="1300" dirty="0">
                <a:solidFill>
                  <a:srgbClr val="8B2E2E"/>
                </a:solidFill>
                <a:latin typeface="Consolas"/>
                <a:cs typeface="Consolas"/>
              </a:rPr>
              <a:t>validate_sql</a:t>
            </a:r>
            <a:r>
              <a:rPr lang="en-US" sz="1300" dirty="0">
                <a:solidFill>
                  <a:srgbClr val="1A1A1A"/>
                </a:solidFill>
                <a:latin typeface="Consolas"/>
                <a:cs typeface="Consolas"/>
              </a:rPr>
              <a:t>(sql: </a:t>
            </a:r>
            <a:r>
              <a:rPr lang="en-US" sz="1300" dirty="0">
                <a:solidFill>
                  <a:srgbClr val="5A7A5A"/>
                </a:solidFill>
                <a:latin typeface="Consolas"/>
                <a:cs typeface="Consolas"/>
              </a:rPr>
              <a:t>str</a:t>
            </a:r>
            <a:r>
              <a:rPr lang="en-US" sz="1300" dirty="0">
                <a:solidFill>
                  <a:srgbClr val="1A1A1A"/>
                </a:solidFill>
                <a:latin typeface="Consolas"/>
                <a:cs typeface="Consolas"/>
              </a:rPr>
              <a:t>, allowlist: </a:t>
            </a:r>
            <a:r>
              <a:rPr lang="en-US" sz="1300" dirty="0">
                <a:solidFill>
                  <a:srgbClr val="5A7A5A"/>
                </a:solidFill>
                <a:latin typeface="Consolas"/>
                <a:cs typeface="Consolas"/>
              </a:rPr>
              <a:t>Allowlist</a:t>
            </a:r>
            <a:r>
              <a:rPr lang="en-US" sz="1300" dirty="0">
                <a:solidFill>
                  <a:srgbClr val="1A1A1A"/>
                </a:solidFill>
                <a:latin typeface="Consolas"/>
                <a:cs typeface="Consolas"/>
              </a:rPr>
              <a:t> | </a:t>
            </a:r>
            <a:r>
              <a:rPr lang="en-US" sz="1300" dirty="0">
                <a:solidFill>
                  <a:srgbClr val="1F3A5F"/>
                </a:solidFill>
                <a:latin typeface="Consolas"/>
                <a:cs typeface="Consolas"/>
              </a:rPr>
              <a:t>None</a:t>
            </a:r>
            <a:r>
              <a:rPr lang="en-US" sz="1300" dirty="0">
                <a:solidFill>
                  <a:srgbClr val="1A1A1A"/>
                </a:solidFill>
                <a:latin typeface="Consolas"/>
                <a:cs typeface="Consolas"/>
              </a:rPr>
              <a:t> = </a:t>
            </a:r>
            <a:r>
              <a:rPr lang="en-US" sz="1300" dirty="0">
                <a:solidFill>
                  <a:srgbClr val="1F3A5F"/>
                </a:solidFill>
                <a:latin typeface="Consolas"/>
                <a:cs typeface="Consolas"/>
              </a:rPr>
              <a:t>None</a:t>
            </a:r>
            <a:r>
              <a:rPr lang="en-US" sz="1300" dirty="0">
                <a:solidFill>
                  <a:srgbClr val="1A1A1A"/>
                </a:solidFill>
                <a:latin typeface="Consolas"/>
                <a:cs typeface="Consolas"/>
              </a:rPr>
              <a:t>) -&gt; </a:t>
            </a:r>
            <a:r>
              <a:rPr lang="en-US" sz="1300" dirty="0">
                <a:solidFill>
                  <a:srgbClr val="5A7A5A"/>
                </a:solidFill>
                <a:latin typeface="Consolas"/>
                <a:cs typeface="Consolas"/>
              </a:rPr>
              <a:t>str</a:t>
            </a:r>
            <a:r>
              <a:rPr lang="en-US" sz="1300" dirty="0">
                <a:solidFill>
                  <a:srgbClr val="1A1A1A"/>
                </a:solidFill>
                <a:latin typeface="Consolas"/>
                <a:cs typeface="Consolas"/>
              </a:rPr>
              <a:t>:</a:t>
            </a:r>
          </a:p>
          <a:p>
            <a:pPr algn="l"/>
            <a:r>
              <a:rPr lang="en-US" sz="1300" dirty="0">
                <a:solidFill>
                  <a:srgbClr val="1A1A1A"/>
                </a:solidFill>
                <a:latin typeface="Consolas"/>
                <a:cs typeface="Consolas"/>
              </a:rPr>
              <a:t>    </a:t>
            </a:r>
            <a:r>
              <a:rPr lang="en-US" sz="1300" dirty="0">
                <a:solidFill>
                  <a:srgbClr val="6B6B6B"/>
                </a:solidFill>
                <a:latin typeface="Consolas"/>
                <a:cs typeface="Consolas"/>
              </a:rPr>
              <a:t>"""Parse, validate, and re-emit. Returns safe SQL or raises."""</a:t>
            </a:r>
          </a:p>
          <a:p>
            <a:pPr algn="l"/>
            <a:r>
              <a:rPr lang="en-US" sz="1300" dirty="0">
                <a:solidFill>
                  <a:srgbClr val="1A1A1A"/>
                </a:solidFill>
                <a:latin typeface="Consolas"/>
                <a:cs typeface="Consolas"/>
              </a:rPr>
              <a:t>    </a:t>
            </a:r>
            <a:r>
              <a:rPr lang="en-US" sz="1300" dirty="0">
                <a:solidFill>
                  <a:srgbClr val="1F3A5F"/>
                </a:solidFill>
                <a:latin typeface="Consolas"/>
                <a:cs typeface="Consolas"/>
              </a:rPr>
              <a:t>if </a:t>
            </a:r>
            <a:r>
              <a:rPr lang="en-US" sz="1300" dirty="0">
                <a:solidFill>
                  <a:srgbClr val="1A1A1A"/>
                </a:solidFill>
                <a:latin typeface="Consolas"/>
                <a:cs typeface="Consolas"/>
              </a:rPr>
              <a:t>allowlist </a:t>
            </a:r>
            <a:r>
              <a:rPr lang="en-US" sz="1300" dirty="0">
                <a:solidFill>
                  <a:srgbClr val="1F3A5F"/>
                </a:solidFill>
                <a:latin typeface="Consolas"/>
                <a:cs typeface="Consolas"/>
              </a:rPr>
              <a:t>is None</a:t>
            </a:r>
            <a:r>
              <a:rPr lang="en-US" sz="1300" dirty="0">
                <a:solidFill>
                  <a:srgbClr val="1A1A1A"/>
                </a:solidFill>
                <a:latin typeface="Consolas"/>
                <a:cs typeface="Consolas"/>
              </a:rPr>
              <a:t>:</a:t>
            </a:r>
          </a:p>
          <a:p>
            <a:pPr algn="l"/>
            <a:r>
              <a:rPr lang="en-US" sz="1300" dirty="0">
                <a:solidFill>
                  <a:srgbClr val="1A1A1A"/>
                </a:solidFill>
                <a:latin typeface="Consolas"/>
                <a:cs typeface="Consolas"/>
              </a:rPr>
              <a:t>        allowlist = </a:t>
            </a:r>
            <a:r>
              <a:rPr lang="en-US" sz="1300" dirty="0">
                <a:solidFill>
                  <a:srgbClr val="5A7A5A"/>
                </a:solidFill>
                <a:latin typeface="Consolas"/>
                <a:cs typeface="Consolas"/>
              </a:rPr>
              <a:t>Allowlist</a:t>
            </a:r>
            <a:r>
              <a:rPr lang="en-US" sz="1300" dirty="0">
                <a:solidFill>
                  <a:srgbClr val="1A1A1A"/>
                </a:solidFill>
                <a:latin typeface="Consolas"/>
                <a:cs typeface="Consolas"/>
              </a:rPr>
              <a:t>.default()</a:t>
            </a:r>
          </a:p>
          <a:p>
            <a:pPr algn="l"/>
            <a:endParaRPr lang="en-US" sz="1300" dirty="0">
              <a:solidFill>
                <a:srgbClr val="1A1A1A"/>
              </a:solidFill>
              <a:latin typeface="Consolas"/>
              <a:cs typeface="Consolas"/>
            </a:endParaRPr>
          </a:p>
          <a:p>
            <a:pPr algn="l"/>
            <a:r>
              <a:rPr lang="en-US" sz="1300" dirty="0">
                <a:solidFill>
                  <a:srgbClr val="1A1A1A"/>
                </a:solidFill>
                <a:latin typeface="Consolas"/>
                <a:cs typeface="Consolas"/>
              </a:rPr>
              <a:t>    statements = sqlglot.parse(sql, dialect=</a:t>
            </a:r>
            <a:r>
              <a:rPr lang="en-US" sz="1300" dirty="0">
                <a:solidFill>
                  <a:srgbClr val="B88838"/>
                </a:solidFill>
                <a:latin typeface="Consolas"/>
                <a:cs typeface="Consolas"/>
              </a:rPr>
              <a:t>"snowflake"</a:t>
            </a:r>
            <a:r>
              <a:rPr lang="en-US" sz="1300" dirty="0">
                <a:solidFill>
                  <a:srgbClr val="1A1A1A"/>
                </a:solidFill>
                <a:latin typeface="Consolas"/>
                <a:cs typeface="Consolas"/>
              </a:rPr>
              <a:t>)</a:t>
            </a:r>
          </a:p>
          <a:p>
            <a:pPr algn="l"/>
            <a:endParaRPr lang="en-US" sz="1300" dirty="0">
              <a:solidFill>
                <a:srgbClr val="1A1A1A"/>
              </a:solidFill>
              <a:latin typeface="Consolas"/>
              <a:cs typeface="Consolas"/>
            </a:endParaRPr>
          </a:p>
          <a:p>
            <a:pPr algn="l"/>
            <a:r>
              <a:rPr lang="en-US" sz="1300" dirty="0">
                <a:solidFill>
                  <a:srgbClr val="1A1A1A"/>
                </a:solidFill>
                <a:latin typeface="Consolas"/>
                <a:cs typeface="Consolas"/>
              </a:rPr>
              <a:t>    </a:t>
            </a:r>
            <a:r>
              <a:rPr lang="en-US" sz="1300" dirty="0">
                <a:solidFill>
                  <a:srgbClr val="8B2E2E"/>
                </a:solidFill>
                <a:latin typeface="Consolas"/>
                <a:cs typeface="Consolas"/>
              </a:rPr>
              <a:t>assert_single_statement</a:t>
            </a:r>
            <a:r>
              <a:rPr lang="en-US" sz="1300" dirty="0">
                <a:solidFill>
                  <a:srgbClr val="1A1A1A"/>
                </a:solidFill>
                <a:latin typeface="Consolas"/>
                <a:cs typeface="Consolas"/>
              </a:rPr>
              <a:t>(statements)</a:t>
            </a:r>
          </a:p>
          <a:p>
            <a:pPr algn="l"/>
            <a:r>
              <a:rPr lang="en-US" sz="1300" dirty="0">
                <a:solidFill>
                  <a:srgbClr val="1A1A1A"/>
                </a:solidFill>
                <a:latin typeface="Consolas"/>
                <a:cs typeface="Consolas"/>
              </a:rPr>
              <a:t>    stmt = statements[</a:t>
            </a:r>
            <a:r>
              <a:rPr lang="en-US" sz="1300" dirty="0">
                <a:solidFill>
                  <a:srgbClr val="B88838"/>
                </a:solidFill>
                <a:latin typeface="Consolas"/>
                <a:cs typeface="Consolas"/>
              </a:rPr>
              <a:t>0</a:t>
            </a:r>
            <a:r>
              <a:rPr lang="en-US" sz="1300" dirty="0">
                <a:solidFill>
                  <a:srgbClr val="1A1A1A"/>
                </a:solidFill>
                <a:latin typeface="Consolas"/>
                <a:cs typeface="Consolas"/>
              </a:rPr>
              <a:t>]</a:t>
            </a:r>
          </a:p>
          <a:p>
            <a:pPr algn="l"/>
            <a:r>
              <a:rPr lang="en-US" sz="1300" dirty="0">
                <a:solidFill>
                  <a:srgbClr val="1A1A1A"/>
                </a:solidFill>
                <a:latin typeface="Consolas"/>
                <a:cs typeface="Consolas"/>
              </a:rPr>
              <a:t>    </a:t>
            </a:r>
            <a:r>
              <a:rPr lang="en-US" sz="1300" dirty="0">
                <a:solidFill>
                  <a:srgbClr val="8B2E2E"/>
                </a:solidFill>
                <a:latin typeface="Consolas"/>
                <a:cs typeface="Consolas"/>
              </a:rPr>
              <a:t>assert_statement_type</a:t>
            </a:r>
            <a:r>
              <a:rPr lang="en-US" sz="1300" dirty="0">
                <a:solidFill>
                  <a:srgbClr val="1A1A1A"/>
                </a:solidFill>
                <a:latin typeface="Consolas"/>
                <a:cs typeface="Consolas"/>
              </a:rPr>
              <a:t>(stmt)</a:t>
            </a:r>
          </a:p>
          <a:p>
            <a:pPr algn="l"/>
            <a:r>
              <a:rPr lang="en-US" sz="1300" dirty="0">
                <a:solidFill>
                  <a:srgbClr val="1A1A1A"/>
                </a:solidFill>
                <a:latin typeface="Consolas"/>
                <a:cs typeface="Consolas"/>
              </a:rPr>
              <a:t>    </a:t>
            </a:r>
            <a:r>
              <a:rPr lang="en-US" sz="1300" dirty="0">
                <a:solidFill>
                  <a:srgbClr val="8B2E2E"/>
                </a:solidFill>
                <a:latin typeface="Consolas"/>
                <a:cs typeface="Consolas"/>
              </a:rPr>
              <a:t>assert_allowed_tables</a:t>
            </a:r>
            <a:r>
              <a:rPr lang="en-US" sz="1300" dirty="0">
                <a:solidFill>
                  <a:srgbClr val="1A1A1A"/>
                </a:solidFill>
                <a:latin typeface="Consolas"/>
                <a:cs typeface="Consolas"/>
              </a:rPr>
              <a:t>(stmt, allowlist)</a:t>
            </a:r>
          </a:p>
          <a:p>
            <a:pPr algn="l"/>
            <a:r>
              <a:rPr lang="en-US" sz="1300" dirty="0">
                <a:solidFill>
                  <a:srgbClr val="1A1A1A"/>
                </a:solidFill>
                <a:latin typeface="Consolas"/>
                <a:cs typeface="Consolas"/>
              </a:rPr>
              <a:t>    </a:t>
            </a:r>
            <a:r>
              <a:rPr lang="en-US" sz="1300" dirty="0">
                <a:solidFill>
                  <a:srgbClr val="8B2E2E"/>
                </a:solidFill>
                <a:latin typeface="Consolas"/>
                <a:cs typeface="Consolas"/>
              </a:rPr>
              <a:t>assert_no_forbidden_constructs</a:t>
            </a:r>
            <a:r>
              <a:rPr lang="en-US" sz="1300" dirty="0">
                <a:solidFill>
                  <a:srgbClr val="1A1A1A"/>
                </a:solidFill>
                <a:latin typeface="Consolas"/>
                <a:cs typeface="Consolas"/>
              </a:rPr>
              <a:t>(stmt)</a:t>
            </a:r>
          </a:p>
          <a:p>
            <a:pPr algn="l"/>
            <a:r>
              <a:rPr lang="en-US" sz="1300" dirty="0">
                <a:solidFill>
                  <a:srgbClr val="1A1A1A"/>
                </a:solidFill>
                <a:latin typeface="Consolas"/>
                <a:cs typeface="Consolas"/>
              </a:rPr>
              <a:t>    </a:t>
            </a:r>
            <a:r>
              <a:rPr lang="en-US" sz="1300" dirty="0">
                <a:solidFill>
                  <a:srgbClr val="8B2E2E"/>
                </a:solidFill>
                <a:latin typeface="Consolas"/>
                <a:cs typeface="Consolas"/>
              </a:rPr>
              <a:t>assert_no_forbidden_functions</a:t>
            </a:r>
            <a:r>
              <a:rPr lang="en-US" sz="1300" dirty="0">
                <a:solidFill>
                  <a:srgbClr val="1A1A1A"/>
                </a:solidFill>
                <a:latin typeface="Consolas"/>
                <a:cs typeface="Consolas"/>
              </a:rPr>
              <a:t>(stmt)</a:t>
            </a:r>
          </a:p>
          <a:p>
            <a:pPr algn="l"/>
            <a:endParaRPr lang="en-US" sz="1300" dirty="0">
              <a:solidFill>
                <a:srgbClr val="1A1A1A"/>
              </a:solidFill>
              <a:latin typeface="Consolas"/>
              <a:cs typeface="Consolas"/>
            </a:endParaRPr>
          </a:p>
          <a:p>
            <a:pPr algn="l"/>
            <a:r>
              <a:rPr lang="en-US" sz="1300" dirty="0">
                <a:solidFill>
                  <a:srgbClr val="1A1A1A"/>
                </a:solidFill>
                <a:latin typeface="Consolas"/>
                <a:cs typeface="Consolas"/>
              </a:rPr>
              <a:t>    </a:t>
            </a:r>
            <a:r>
              <a:rPr lang="en-US" sz="1300" dirty="0">
                <a:solidFill>
                  <a:srgbClr val="1F3A5F"/>
                </a:solidFill>
                <a:latin typeface="Consolas"/>
                <a:cs typeface="Consolas"/>
              </a:rPr>
              <a:t>return </a:t>
            </a:r>
            <a:r>
              <a:rPr lang="en-US" sz="1300" dirty="0">
                <a:solidFill>
                  <a:srgbClr val="1A1A1A"/>
                </a:solidFill>
                <a:latin typeface="Consolas"/>
                <a:cs typeface="Consolas"/>
              </a:rPr>
              <a:t>stmt.sql(dialect=</a:t>
            </a:r>
            <a:r>
              <a:rPr lang="en-US" sz="1300" dirty="0">
                <a:solidFill>
                  <a:srgbClr val="B88838"/>
                </a:solidFill>
                <a:latin typeface="Consolas"/>
                <a:cs typeface="Consolas"/>
              </a:rPr>
              <a:t>"snowflake"</a:t>
            </a:r>
            <a:r>
              <a:rPr lang="en-US" sz="1300" dirty="0">
                <a:solidFill>
                  <a:srgbClr val="1A1A1A"/>
                </a:solidFill>
                <a:latin typeface="Consolas"/>
                <a:cs typeface="Consolas"/>
              </a:rPr>
              <a:t>)</a:t>
            </a:r>
          </a:p>
        </p:txBody>
      </p:sp>
      <p:sp>
        <p:nvSpPr>
          <p:cNvPr id="5" name="TextBox 4">
            <a:extLst>
              <a:ext uri="{FF2B5EF4-FFF2-40B4-BE49-F238E27FC236}">
                <a16:creationId xmlns:a16="http://schemas.microsoft.com/office/drawing/2014/main" id="{C172F6C3-869E-4042-B6AF-034A84E604E3}"/>
              </a:ext>
            </a:extLst>
          </p:cNvPr>
          <p:cNvSpPr txBox="1"/>
          <p:nvPr/>
        </p:nvSpPr>
        <p:spPr>
          <a:xfrm>
            <a:off x="762000" y="5397500"/>
            <a:ext cx="10668000" cy="762000"/>
          </a:xfrm>
          <a:prstGeom prst="rect">
            <a:avLst/>
          </a:prstGeom>
          <a:noFill/>
        </p:spPr>
        <p:txBody>
          <a:bodyPr vertOverflow="overflow" vert="horz" wrap="square" rtlCol="0" anchor="t">
            <a:noAutofit/>
          </a:bodyPr>
          <a:lstStyle/>
          <a:p>
            <a:pPr algn="l"/>
            <a:r>
              <a:rPr lang="en-US" sz="1400">
                <a:solidFill>
                  <a:srgbClr val="1A1A1A"/>
                </a:solidFill>
                <a:latin typeface="Georgia"/>
              </a:rPr>
              <a:t>The implementation is small, sequential, and side-effect-free. Each assert_* call is its own function in validators.py, independently tested. New rules are new functions, added to this list.</a:t>
            </a:r>
          </a:p>
        </p:txBody>
      </p:sp>
      <p:sp>
        <p:nvSpPr>
          <p:cNvPr id="6" name="Rectangle 5">
            <a:extLst>
              <a:ext uri="{FF2B5EF4-FFF2-40B4-BE49-F238E27FC236}">
                <a16:creationId xmlns:a16="http://schemas.microsoft.com/office/drawing/2014/main" id="{F1B96CF1-CC4E-B843-B43B-B720F7C85165}"/>
              </a:ext>
            </a:extLst>
          </p:cNvPr>
          <p:cNvSpPr/>
          <p:nvPr/>
        </p:nvSpPr>
        <p:spPr>
          <a:xfrm>
            <a:off x="762000" y="63500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5CF87F85-C57C-E64F-9543-313BD0A263BE}"/>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8" name="TextBox 7">
            <a:extLst>
              <a:ext uri="{FF2B5EF4-FFF2-40B4-BE49-F238E27FC236}">
                <a16:creationId xmlns:a16="http://schemas.microsoft.com/office/drawing/2014/main" id="{2BAB7C2A-6BC2-3C49-B0A6-A6C7254A1C72}"/>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14 / 22</a:t>
            </a:r>
          </a:p>
        </p:txBody>
      </p:sp>
      <p:sp>
        <p:nvSpPr>
          <p:cNvPr id="9" name="Rectangle 8">
            <a:extLst>
              <a:ext uri="{FF2B5EF4-FFF2-40B4-BE49-F238E27FC236}">
                <a16:creationId xmlns:a16="http://schemas.microsoft.com/office/drawing/2014/main" id="{45A4E87E-9871-094E-83DA-6A1C48CDF4CE}"/>
              </a:ext>
            </a:extLst>
          </p:cNvPr>
          <p:cNvSpPr/>
          <p:nvPr/>
        </p:nvSpPr>
        <p:spPr>
          <a:xfrm>
            <a:off x="762000" y="762000"/>
            <a:ext cx="1524000" cy="12700"/>
          </a:xfrm>
          <a:prstGeom prst="rect">
            <a:avLst/>
          </a:prstGeom>
          <a:solidFill>
            <a:srgbClr val="B8883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085833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C359BF-D5F1-0C4C-830E-D955C6116A9F}"/>
              </a:ext>
            </a:extLst>
          </p:cNvPr>
          <p:cNvSpPr txBox="1"/>
          <p:nvPr/>
        </p:nvSpPr>
        <p:spPr>
          <a:xfrm>
            <a:off x="762000" y="914400"/>
            <a:ext cx="7620000" cy="2286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05  ·  IMPLEMENTATION</a:t>
            </a:r>
          </a:p>
        </p:txBody>
      </p:sp>
      <p:sp>
        <p:nvSpPr>
          <p:cNvPr id="3" name="TextBox 2">
            <a:extLst>
              <a:ext uri="{FF2B5EF4-FFF2-40B4-BE49-F238E27FC236}">
                <a16:creationId xmlns:a16="http://schemas.microsoft.com/office/drawing/2014/main" id="{6B621A69-8343-DB40-8C0E-520908391FF1}"/>
              </a:ext>
            </a:extLst>
          </p:cNvPr>
          <p:cNvSpPr txBox="1"/>
          <p:nvPr/>
        </p:nvSpPr>
        <p:spPr>
          <a:xfrm>
            <a:off x="762000" y="1460500"/>
            <a:ext cx="10668000" cy="635000"/>
          </a:xfrm>
          <a:prstGeom prst="rect">
            <a:avLst/>
          </a:prstGeom>
          <a:noFill/>
        </p:spPr>
        <p:txBody>
          <a:bodyPr vertOverflow="overflow" vert="horz" wrap="square" rtlCol="0" anchor="t">
            <a:noAutofit/>
          </a:bodyPr>
          <a:lstStyle/>
          <a:p>
            <a:pPr algn="l"/>
            <a:r>
              <a:rPr lang="en-US" sz="2800">
                <a:solidFill>
                  <a:srgbClr val="1A1A1A"/>
                </a:solidFill>
                <a:latin typeface="Georgia"/>
              </a:rPr>
              <a:t>One query, end to end</a:t>
            </a:r>
          </a:p>
        </p:txBody>
      </p:sp>
      <p:sp>
        <p:nvSpPr>
          <p:cNvPr id="4" name="TextBox 3">
            <a:extLst>
              <a:ext uri="{FF2B5EF4-FFF2-40B4-BE49-F238E27FC236}">
                <a16:creationId xmlns:a16="http://schemas.microsoft.com/office/drawing/2014/main" id="{2798B17E-5381-1C41-ADF9-9D52F86E722B}"/>
              </a:ext>
            </a:extLst>
          </p:cNvPr>
          <p:cNvSpPr txBox="1"/>
          <p:nvPr/>
        </p:nvSpPr>
        <p:spPr>
          <a:xfrm>
            <a:off x="762000" y="2032000"/>
            <a:ext cx="5080000" cy="254000"/>
          </a:xfrm>
          <a:prstGeom prst="rect">
            <a:avLst/>
          </a:prstGeom>
          <a:noFill/>
        </p:spPr>
        <p:txBody>
          <a:bodyPr vertOverflow="overflow" vert="horz" wrap="square" rtlCol="0" anchor="t">
            <a:noAutofit/>
          </a:bodyPr>
          <a:lstStyle/>
          <a:p>
            <a:pPr algn="l"/>
            <a:r>
              <a:rPr lang="en-US" sz="1000">
                <a:solidFill>
                  <a:srgbClr val="6B6B6B"/>
                </a:solidFill>
                <a:latin typeface="Calibri"/>
                <a:cs typeface="Calibri"/>
              </a:rPr>
              <a:t>INPUT  —  FROM THE LLM</a:t>
            </a:r>
          </a:p>
        </p:txBody>
      </p:sp>
      <p:sp>
        <p:nvSpPr>
          <p:cNvPr id="5" name="Rectangle 4">
            <a:extLst>
              <a:ext uri="{FF2B5EF4-FFF2-40B4-BE49-F238E27FC236}">
                <a16:creationId xmlns:a16="http://schemas.microsoft.com/office/drawing/2014/main" id="{992DC39D-1457-0140-A0D4-BFEA19C4B3FD}"/>
              </a:ext>
            </a:extLst>
          </p:cNvPr>
          <p:cNvSpPr/>
          <p:nvPr/>
        </p:nvSpPr>
        <p:spPr>
          <a:xfrm>
            <a:off x="762000" y="2387600"/>
            <a:ext cx="5207000" cy="2540000"/>
          </a:xfrm>
          <a:prstGeom prst="rect">
            <a:avLst/>
          </a:prstGeom>
          <a:solidFill>
            <a:srgbClr val="EDEAE3"/>
          </a:solidFill>
          <a:ln w="6350" cap="flat" cmpd="sng" algn="ctr">
            <a:solidFill>
              <a:srgbClr val="1A1A1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en-US" sz="1300" dirty="0">
                <a:solidFill>
                  <a:srgbClr val="1F3A5F"/>
                </a:solidFill>
                <a:latin typeface="Consolas"/>
                <a:cs typeface="Consolas"/>
              </a:rPr>
              <a:t>SELECT</a:t>
            </a:r>
            <a:r>
              <a:rPr lang="en-US" sz="1300" dirty="0">
                <a:solidFill>
                  <a:srgbClr val="1A1A1A"/>
                </a:solidFill>
                <a:latin typeface="Consolas"/>
                <a:cs typeface="Consolas"/>
              </a:rPr>
              <a:t> entity_id,</a:t>
            </a:r>
          </a:p>
          <a:p>
            <a:pPr algn="l"/>
            <a:r>
              <a:rPr lang="en-US" sz="1300" dirty="0">
                <a:solidFill>
                  <a:srgbClr val="8B2E2E"/>
                </a:solidFill>
                <a:latin typeface="Consolas"/>
                <a:cs typeface="Consolas"/>
              </a:rPr>
              <a:t>       SUM</a:t>
            </a:r>
            <a:r>
              <a:rPr lang="en-US" sz="1300" dirty="0">
                <a:solidFill>
                  <a:srgbClr val="1A1A1A"/>
                </a:solidFill>
                <a:latin typeface="Consolas"/>
                <a:cs typeface="Consolas"/>
              </a:rPr>
              <a:t>(amount) </a:t>
            </a:r>
            <a:r>
              <a:rPr lang="en-US" sz="1300" dirty="0">
                <a:solidFill>
                  <a:srgbClr val="1F3A5F"/>
                </a:solidFill>
                <a:latin typeface="Consolas"/>
                <a:cs typeface="Consolas"/>
              </a:rPr>
              <a:t>AS</a:t>
            </a:r>
            <a:r>
              <a:rPr lang="en-US" sz="1300" dirty="0">
                <a:solidFill>
                  <a:srgbClr val="1A1A1A"/>
                </a:solidFill>
                <a:latin typeface="Consolas"/>
                <a:cs typeface="Consolas"/>
              </a:rPr>
              <a:t> total</a:t>
            </a:r>
          </a:p>
          <a:p>
            <a:pPr algn="l"/>
            <a:r>
              <a:rPr lang="en-US" sz="1300" dirty="0">
                <a:solidFill>
                  <a:srgbClr val="1F3A5F"/>
                </a:solidFill>
                <a:latin typeface="Consolas"/>
                <a:cs typeface="Consolas"/>
              </a:rPr>
              <a:t>FROM</a:t>
            </a:r>
            <a:r>
              <a:rPr lang="en-US" sz="1300" dirty="0">
                <a:solidFill>
                  <a:srgbClr val="1A1A1A"/>
                </a:solidFill>
                <a:latin typeface="Consolas"/>
                <a:cs typeface="Consolas"/>
              </a:rPr>
              <a:t> curated.my_revenue</a:t>
            </a:r>
          </a:p>
          <a:p>
            <a:pPr algn="l"/>
            <a:r>
              <a:rPr lang="en-US" sz="1300" dirty="0">
                <a:solidFill>
                  <a:srgbClr val="1F3A5F"/>
                </a:solidFill>
                <a:latin typeface="Consolas"/>
                <a:cs typeface="Consolas"/>
              </a:rPr>
              <a:t>WHERE</a:t>
            </a:r>
            <a:r>
              <a:rPr lang="en-US" sz="1300" dirty="0">
                <a:solidFill>
                  <a:srgbClr val="1A1A1A"/>
                </a:solidFill>
                <a:latin typeface="Consolas"/>
                <a:cs typeface="Consolas"/>
              </a:rPr>
              <a:t> date &gt;= </a:t>
            </a:r>
            <a:r>
              <a:rPr lang="en-US" sz="1300" dirty="0">
                <a:solidFill>
                  <a:srgbClr val="B88838"/>
                </a:solidFill>
                <a:latin typeface="Consolas"/>
                <a:cs typeface="Consolas"/>
              </a:rPr>
              <a:t>'2025-01-01'</a:t>
            </a:r>
          </a:p>
          <a:p>
            <a:pPr algn="l"/>
            <a:r>
              <a:rPr lang="en-US" sz="1300" dirty="0">
                <a:solidFill>
                  <a:srgbClr val="1F3A5F"/>
                </a:solidFill>
                <a:latin typeface="Consolas"/>
                <a:cs typeface="Consolas"/>
              </a:rPr>
              <a:t>GROUP BY</a:t>
            </a:r>
            <a:r>
              <a:rPr lang="en-US" sz="1300" dirty="0">
                <a:solidFill>
                  <a:srgbClr val="1A1A1A"/>
                </a:solidFill>
                <a:latin typeface="Consolas"/>
                <a:cs typeface="Consolas"/>
              </a:rPr>
              <a:t> entity_id;</a:t>
            </a:r>
          </a:p>
        </p:txBody>
      </p:sp>
      <p:sp>
        <p:nvSpPr>
          <p:cNvPr id="6" name="TextBox 5">
            <a:extLst>
              <a:ext uri="{FF2B5EF4-FFF2-40B4-BE49-F238E27FC236}">
                <a16:creationId xmlns:a16="http://schemas.microsoft.com/office/drawing/2014/main" id="{2DE69C6B-E170-5241-948B-2C52709ACB7C}"/>
              </a:ext>
            </a:extLst>
          </p:cNvPr>
          <p:cNvSpPr txBox="1"/>
          <p:nvPr/>
        </p:nvSpPr>
        <p:spPr>
          <a:xfrm>
            <a:off x="6223000" y="2032000"/>
            <a:ext cx="5207000" cy="254000"/>
          </a:xfrm>
          <a:prstGeom prst="rect">
            <a:avLst/>
          </a:prstGeom>
          <a:noFill/>
        </p:spPr>
        <p:txBody>
          <a:bodyPr vertOverflow="overflow" vert="horz" wrap="square" rtlCol="0" anchor="t">
            <a:noAutofit/>
          </a:bodyPr>
          <a:lstStyle/>
          <a:p>
            <a:pPr algn="l"/>
            <a:r>
              <a:rPr lang="en-US" sz="1000">
                <a:solidFill>
                  <a:srgbClr val="6B6B6B"/>
                </a:solidFill>
                <a:latin typeface="Calibri"/>
                <a:cs typeface="Calibri"/>
              </a:rPr>
              <a:t>OUTPUT  —  APPROVED BY THE FIREWALL</a:t>
            </a:r>
          </a:p>
        </p:txBody>
      </p:sp>
      <p:sp>
        <p:nvSpPr>
          <p:cNvPr id="7" name="Rectangle 6">
            <a:extLst>
              <a:ext uri="{FF2B5EF4-FFF2-40B4-BE49-F238E27FC236}">
                <a16:creationId xmlns:a16="http://schemas.microsoft.com/office/drawing/2014/main" id="{4A3A7C7E-9045-3940-84BC-0AABE381F4B2}"/>
              </a:ext>
            </a:extLst>
          </p:cNvPr>
          <p:cNvSpPr/>
          <p:nvPr/>
        </p:nvSpPr>
        <p:spPr>
          <a:xfrm>
            <a:off x="6223000" y="2387600"/>
            <a:ext cx="5207000" cy="2540000"/>
          </a:xfrm>
          <a:prstGeom prst="rect">
            <a:avLst/>
          </a:prstGeom>
          <a:solidFill>
            <a:srgbClr val="EDEAE3"/>
          </a:solidFill>
          <a:ln w="6350" cap="flat" cmpd="sng" algn="ctr">
            <a:solidFill>
              <a:srgbClr val="1A1A1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en-US" sz="1300" dirty="0">
                <a:solidFill>
                  <a:srgbClr val="1F3A5F"/>
                </a:solidFill>
                <a:latin typeface="Consolas"/>
                <a:cs typeface="Consolas"/>
              </a:rPr>
              <a:t>SELECT</a:t>
            </a:r>
          </a:p>
          <a:p>
            <a:pPr algn="l"/>
            <a:r>
              <a:rPr lang="en-US" sz="1300" dirty="0">
                <a:solidFill>
                  <a:srgbClr val="1A1A1A"/>
                </a:solidFill>
                <a:latin typeface="Consolas"/>
                <a:cs typeface="Consolas"/>
              </a:rPr>
              <a:t>  entity_id,</a:t>
            </a:r>
          </a:p>
          <a:p>
            <a:pPr algn="l"/>
            <a:r>
              <a:rPr lang="en-US" sz="1300" dirty="0">
                <a:solidFill>
                  <a:srgbClr val="8B2E2E"/>
                </a:solidFill>
                <a:latin typeface="Consolas"/>
                <a:cs typeface="Consolas"/>
              </a:rPr>
              <a:t>  SUM</a:t>
            </a:r>
            <a:r>
              <a:rPr lang="en-US" sz="1300" dirty="0">
                <a:solidFill>
                  <a:srgbClr val="1A1A1A"/>
                </a:solidFill>
                <a:latin typeface="Consolas"/>
                <a:cs typeface="Consolas"/>
              </a:rPr>
              <a:t>(amount) </a:t>
            </a:r>
            <a:r>
              <a:rPr lang="en-US" sz="1300" dirty="0">
                <a:solidFill>
                  <a:srgbClr val="1F3A5F"/>
                </a:solidFill>
                <a:latin typeface="Consolas"/>
                <a:cs typeface="Consolas"/>
              </a:rPr>
              <a:t>AS</a:t>
            </a:r>
            <a:r>
              <a:rPr lang="en-US" sz="1300" dirty="0">
                <a:solidFill>
                  <a:srgbClr val="1A1A1A"/>
                </a:solidFill>
                <a:latin typeface="Consolas"/>
                <a:cs typeface="Consolas"/>
              </a:rPr>
              <a:t> total</a:t>
            </a:r>
          </a:p>
          <a:p>
            <a:pPr algn="l"/>
            <a:r>
              <a:rPr lang="en-US" sz="1300" dirty="0">
                <a:solidFill>
                  <a:srgbClr val="1F3A5F"/>
                </a:solidFill>
                <a:latin typeface="Consolas"/>
                <a:cs typeface="Consolas"/>
              </a:rPr>
              <a:t>FROM</a:t>
            </a:r>
            <a:r>
              <a:rPr lang="en-US" sz="1300" dirty="0">
                <a:solidFill>
                  <a:srgbClr val="1A1A1A"/>
                </a:solidFill>
                <a:latin typeface="Consolas"/>
                <a:cs typeface="Consolas"/>
              </a:rPr>
              <a:t> curated.my_revenue</a:t>
            </a:r>
          </a:p>
          <a:p>
            <a:pPr algn="l"/>
            <a:r>
              <a:rPr lang="en-US" sz="1300" dirty="0">
                <a:solidFill>
                  <a:srgbClr val="1F3A5F"/>
                </a:solidFill>
                <a:latin typeface="Consolas"/>
                <a:cs typeface="Consolas"/>
              </a:rPr>
              <a:t>WHERE</a:t>
            </a:r>
            <a:r>
              <a:rPr lang="en-US" sz="1300" dirty="0">
                <a:solidFill>
                  <a:srgbClr val="1A1A1A"/>
                </a:solidFill>
                <a:latin typeface="Consolas"/>
                <a:cs typeface="Consolas"/>
              </a:rPr>
              <a:t> date &gt;= </a:t>
            </a:r>
            <a:r>
              <a:rPr lang="en-US" sz="1300" dirty="0">
                <a:solidFill>
                  <a:srgbClr val="B88838"/>
                </a:solidFill>
                <a:latin typeface="Consolas"/>
                <a:cs typeface="Consolas"/>
              </a:rPr>
              <a:t>'2025-01-01'</a:t>
            </a:r>
          </a:p>
          <a:p>
            <a:pPr algn="l"/>
            <a:r>
              <a:rPr lang="en-US" sz="1300" dirty="0">
                <a:solidFill>
                  <a:srgbClr val="1F3A5F"/>
                </a:solidFill>
                <a:latin typeface="Consolas"/>
                <a:cs typeface="Consolas"/>
              </a:rPr>
              <a:t>GROUP BY</a:t>
            </a:r>
            <a:r>
              <a:rPr lang="en-US" sz="1300" dirty="0">
                <a:solidFill>
                  <a:srgbClr val="1A1A1A"/>
                </a:solidFill>
                <a:latin typeface="Consolas"/>
                <a:cs typeface="Consolas"/>
              </a:rPr>
              <a:t> entity_id</a:t>
            </a:r>
          </a:p>
        </p:txBody>
      </p:sp>
      <p:sp>
        <p:nvSpPr>
          <p:cNvPr id="8" name="TextBox 7">
            <a:extLst>
              <a:ext uri="{FF2B5EF4-FFF2-40B4-BE49-F238E27FC236}">
                <a16:creationId xmlns:a16="http://schemas.microsoft.com/office/drawing/2014/main" id="{C2CFFF3F-049D-8F4D-BB53-1D795EE62833}"/>
              </a:ext>
            </a:extLst>
          </p:cNvPr>
          <p:cNvSpPr txBox="1"/>
          <p:nvPr/>
        </p:nvSpPr>
        <p:spPr>
          <a:xfrm>
            <a:off x="762000" y="5207000"/>
            <a:ext cx="10668000" cy="762000"/>
          </a:xfrm>
          <a:prstGeom prst="rect">
            <a:avLst/>
          </a:prstGeom>
          <a:noFill/>
        </p:spPr>
        <p:txBody>
          <a:bodyPr vertOverflow="overflow" vert="horz" wrap="square" rtlCol="0" anchor="t">
            <a:noAutofit/>
          </a:bodyPr>
          <a:lstStyle/>
          <a:p>
            <a:pPr algn="l"/>
            <a:r>
              <a:rPr lang="en-US" sz="1400">
                <a:solidFill>
                  <a:srgbClr val="1A1A1A"/>
                </a:solidFill>
                <a:latin typeface="Georgia"/>
              </a:rPr>
              <a:t>The firewall returns sqlglot's re-emitted SQL — not the LLM's literal text. Comments are stripped. Whitespace is normalized. The database executes exactly what the firewall approved.</a:t>
            </a:r>
          </a:p>
        </p:txBody>
      </p:sp>
      <p:sp>
        <p:nvSpPr>
          <p:cNvPr id="9" name="Rectangle 8">
            <a:extLst>
              <a:ext uri="{FF2B5EF4-FFF2-40B4-BE49-F238E27FC236}">
                <a16:creationId xmlns:a16="http://schemas.microsoft.com/office/drawing/2014/main" id="{A119647E-1F8A-8249-A856-6E0BEBF4A9F0}"/>
              </a:ext>
            </a:extLst>
          </p:cNvPr>
          <p:cNvSpPr/>
          <p:nvPr/>
        </p:nvSpPr>
        <p:spPr>
          <a:xfrm>
            <a:off x="762000" y="63500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AD88A04C-3BBD-544F-8AC1-01E9E68880AB}"/>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11" name="TextBox 10">
            <a:extLst>
              <a:ext uri="{FF2B5EF4-FFF2-40B4-BE49-F238E27FC236}">
                <a16:creationId xmlns:a16="http://schemas.microsoft.com/office/drawing/2014/main" id="{183F5646-689D-4B48-ADDC-0549BBD89F20}"/>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15 / 22</a:t>
            </a:r>
          </a:p>
        </p:txBody>
      </p:sp>
      <p:sp>
        <p:nvSpPr>
          <p:cNvPr id="12" name="Rectangle 11">
            <a:extLst>
              <a:ext uri="{FF2B5EF4-FFF2-40B4-BE49-F238E27FC236}">
                <a16:creationId xmlns:a16="http://schemas.microsoft.com/office/drawing/2014/main" id="{B945A177-967D-6640-97DA-1B6892A0E5C7}"/>
              </a:ext>
            </a:extLst>
          </p:cNvPr>
          <p:cNvSpPr/>
          <p:nvPr/>
        </p:nvSpPr>
        <p:spPr>
          <a:xfrm>
            <a:off x="762000" y="762000"/>
            <a:ext cx="1524000" cy="12700"/>
          </a:xfrm>
          <a:prstGeom prst="rect">
            <a:avLst/>
          </a:prstGeom>
          <a:solidFill>
            <a:srgbClr val="B8883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178927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404836-EE09-9346-A28A-11691D39DBA8}"/>
              </a:ext>
            </a:extLst>
          </p:cNvPr>
          <p:cNvSpPr txBox="1"/>
          <p:nvPr/>
        </p:nvSpPr>
        <p:spPr>
          <a:xfrm>
            <a:off x="762000" y="914400"/>
            <a:ext cx="7620000" cy="2286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05  ·  IMPLEMENTATION</a:t>
            </a:r>
          </a:p>
        </p:txBody>
      </p:sp>
      <p:sp>
        <p:nvSpPr>
          <p:cNvPr id="3" name="TextBox 2">
            <a:extLst>
              <a:ext uri="{FF2B5EF4-FFF2-40B4-BE49-F238E27FC236}">
                <a16:creationId xmlns:a16="http://schemas.microsoft.com/office/drawing/2014/main" id="{E1F7FC94-2521-E740-92B8-1F59DEB4BDC4}"/>
              </a:ext>
            </a:extLst>
          </p:cNvPr>
          <p:cNvSpPr txBox="1"/>
          <p:nvPr/>
        </p:nvSpPr>
        <p:spPr>
          <a:xfrm>
            <a:off x="762000" y="1460500"/>
            <a:ext cx="10668000" cy="635000"/>
          </a:xfrm>
          <a:prstGeom prst="rect">
            <a:avLst/>
          </a:prstGeom>
          <a:noFill/>
        </p:spPr>
        <p:txBody>
          <a:bodyPr vertOverflow="overflow" vert="horz" wrap="square" rtlCol="0" anchor="t">
            <a:noAutofit/>
          </a:bodyPr>
          <a:lstStyle/>
          <a:p>
            <a:pPr algn="l"/>
            <a:r>
              <a:rPr lang="en-US" sz="2800">
                <a:solidFill>
                  <a:srgbClr val="1A1A1A"/>
                </a:solidFill>
                <a:latin typeface="Georgia"/>
              </a:rPr>
              <a:t>A rejection in context</a:t>
            </a:r>
          </a:p>
        </p:txBody>
      </p:sp>
      <p:sp>
        <p:nvSpPr>
          <p:cNvPr id="4" name="TextBox 3">
            <a:extLst>
              <a:ext uri="{FF2B5EF4-FFF2-40B4-BE49-F238E27FC236}">
                <a16:creationId xmlns:a16="http://schemas.microsoft.com/office/drawing/2014/main" id="{3358387F-EC50-034F-812E-A1C5CF1E9483}"/>
              </a:ext>
            </a:extLst>
          </p:cNvPr>
          <p:cNvSpPr txBox="1"/>
          <p:nvPr/>
        </p:nvSpPr>
        <p:spPr>
          <a:xfrm>
            <a:off x="762000" y="2032000"/>
            <a:ext cx="5080000" cy="254000"/>
          </a:xfrm>
          <a:prstGeom prst="rect">
            <a:avLst/>
          </a:prstGeom>
          <a:noFill/>
        </p:spPr>
        <p:txBody>
          <a:bodyPr vertOverflow="overflow" vert="horz" wrap="square" rtlCol="0" anchor="t">
            <a:noAutofit/>
          </a:bodyPr>
          <a:lstStyle/>
          <a:p>
            <a:pPr algn="l"/>
            <a:r>
              <a:rPr lang="en-US" sz="1000">
                <a:solidFill>
                  <a:srgbClr val="6B6B6B"/>
                </a:solidFill>
                <a:latin typeface="Calibri"/>
                <a:cs typeface="Calibri"/>
              </a:rPr>
              <a:t>LLM OUTPUT</a:t>
            </a:r>
          </a:p>
        </p:txBody>
      </p:sp>
      <p:sp>
        <p:nvSpPr>
          <p:cNvPr id="5" name="Rectangle 4">
            <a:extLst>
              <a:ext uri="{FF2B5EF4-FFF2-40B4-BE49-F238E27FC236}">
                <a16:creationId xmlns:a16="http://schemas.microsoft.com/office/drawing/2014/main" id="{86F91E83-D476-414C-BA11-093F8C5C60B9}"/>
              </a:ext>
            </a:extLst>
          </p:cNvPr>
          <p:cNvSpPr/>
          <p:nvPr/>
        </p:nvSpPr>
        <p:spPr>
          <a:xfrm>
            <a:off x="762000" y="2387600"/>
            <a:ext cx="10668000" cy="1143000"/>
          </a:xfrm>
          <a:prstGeom prst="rect">
            <a:avLst/>
          </a:prstGeom>
          <a:solidFill>
            <a:srgbClr val="EDEAE3"/>
          </a:solidFill>
          <a:ln w="6350" cap="flat" cmpd="sng" algn="ctr">
            <a:solidFill>
              <a:srgbClr val="1A1A1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en-US" sz="1400" dirty="0">
                <a:solidFill>
                  <a:srgbClr val="1F3A5F"/>
                </a:solidFill>
                <a:latin typeface="Consolas"/>
                <a:cs typeface="Consolas"/>
              </a:rPr>
              <a:t>SELECT</a:t>
            </a:r>
            <a:r>
              <a:rPr lang="en-US" sz="1400" dirty="0">
                <a:solidFill>
                  <a:srgbClr val="1A1A1A"/>
                </a:solidFill>
                <a:latin typeface="Consolas"/>
                <a:cs typeface="Consolas"/>
              </a:rPr>
              <a:t> * </a:t>
            </a:r>
            <a:r>
              <a:rPr lang="en-US" sz="1400" dirty="0">
                <a:solidFill>
                  <a:srgbClr val="1F3A5F"/>
                </a:solidFill>
                <a:latin typeface="Consolas"/>
                <a:cs typeface="Consolas"/>
              </a:rPr>
              <a:t>FROM</a:t>
            </a:r>
            <a:r>
              <a:rPr lang="en-US" sz="1400" dirty="0">
                <a:solidFill>
                  <a:srgbClr val="1A1A1A"/>
                </a:solidFill>
                <a:latin typeface="Consolas"/>
                <a:cs typeface="Consolas"/>
              </a:rPr>
              <a:t> curated.my_revenue;</a:t>
            </a:r>
          </a:p>
          <a:p>
            <a:pPr algn="l"/>
            <a:r>
              <a:rPr lang="en-US" sz="1400" dirty="0">
                <a:solidFill>
                  <a:srgbClr val="1F3A5F"/>
                </a:solidFill>
                <a:latin typeface="Consolas"/>
                <a:cs typeface="Consolas"/>
              </a:rPr>
              <a:t>SET</a:t>
            </a:r>
            <a:r>
              <a:rPr lang="en-US" sz="1400" dirty="0">
                <a:solidFill>
                  <a:srgbClr val="1A1A1A"/>
                </a:solidFill>
                <a:latin typeface="Consolas"/>
                <a:cs typeface="Consolas"/>
              </a:rPr>
              <a:t> app_allowed_entities = </a:t>
            </a:r>
            <a:r>
              <a:rPr lang="en-US" sz="1400" dirty="0">
                <a:solidFill>
                  <a:srgbClr val="B88838"/>
                </a:solidFill>
                <a:latin typeface="Consolas"/>
                <a:cs typeface="Consolas"/>
              </a:rPr>
              <a:t>'99'</a:t>
            </a:r>
            <a:r>
              <a:rPr lang="en-US" sz="1400" dirty="0">
                <a:solidFill>
                  <a:srgbClr val="1A1A1A"/>
                </a:solidFill>
                <a:latin typeface="Consolas"/>
                <a:cs typeface="Consolas"/>
              </a:rPr>
              <a:t>;</a:t>
            </a:r>
          </a:p>
        </p:txBody>
      </p:sp>
      <p:sp>
        <p:nvSpPr>
          <p:cNvPr id="6" name="TextBox 5">
            <a:extLst>
              <a:ext uri="{FF2B5EF4-FFF2-40B4-BE49-F238E27FC236}">
                <a16:creationId xmlns:a16="http://schemas.microsoft.com/office/drawing/2014/main" id="{71959E55-FB11-D145-8012-B01E89D3E480}"/>
              </a:ext>
            </a:extLst>
          </p:cNvPr>
          <p:cNvSpPr txBox="1"/>
          <p:nvPr/>
        </p:nvSpPr>
        <p:spPr>
          <a:xfrm>
            <a:off x="762000" y="3873500"/>
            <a:ext cx="5080000" cy="254000"/>
          </a:xfrm>
          <a:prstGeom prst="rect">
            <a:avLst/>
          </a:prstGeom>
          <a:noFill/>
        </p:spPr>
        <p:txBody>
          <a:bodyPr vertOverflow="overflow" vert="horz" wrap="square" rtlCol="0" anchor="t">
            <a:noAutofit/>
          </a:bodyPr>
          <a:lstStyle/>
          <a:p>
            <a:pPr algn="l"/>
            <a:r>
              <a:rPr lang="en-US" sz="1000">
                <a:solidFill>
                  <a:srgbClr val="6B6B6B"/>
                </a:solidFill>
                <a:latin typeface="Calibri"/>
                <a:cs typeface="Calibri"/>
              </a:rPr>
              <a:t>FIREWALL RESPONSE</a:t>
            </a:r>
          </a:p>
        </p:txBody>
      </p:sp>
      <p:sp>
        <p:nvSpPr>
          <p:cNvPr id="7" name="Rectangle 6">
            <a:extLst>
              <a:ext uri="{FF2B5EF4-FFF2-40B4-BE49-F238E27FC236}">
                <a16:creationId xmlns:a16="http://schemas.microsoft.com/office/drawing/2014/main" id="{68B60E74-6A2A-6C4C-BE13-4A512CFF1D89}"/>
              </a:ext>
            </a:extLst>
          </p:cNvPr>
          <p:cNvSpPr/>
          <p:nvPr/>
        </p:nvSpPr>
        <p:spPr>
          <a:xfrm>
            <a:off x="762000" y="4216400"/>
            <a:ext cx="10668000" cy="762000"/>
          </a:xfrm>
          <a:prstGeom prst="rect">
            <a:avLst/>
          </a:prstGeom>
          <a:solidFill>
            <a:srgbClr val="F5EBEB"/>
          </a:solidFill>
          <a:ln w="6350" cap="flat" cmpd="sng" algn="ctr">
            <a:solidFill>
              <a:srgbClr val="8B2E2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600">
                <a:solidFill>
                  <a:srgbClr val="8B2E2E"/>
                </a:solidFill>
                <a:latin typeface="Calibri"/>
                <a:cs typeface="Calibri"/>
              </a:rPr>
              <a:t>✗  Rejected: StatementCountError — expected 1 statement, got 2</a:t>
            </a:r>
          </a:p>
        </p:txBody>
      </p:sp>
      <p:sp>
        <p:nvSpPr>
          <p:cNvPr id="8" name="TextBox 7">
            <a:extLst>
              <a:ext uri="{FF2B5EF4-FFF2-40B4-BE49-F238E27FC236}">
                <a16:creationId xmlns:a16="http://schemas.microsoft.com/office/drawing/2014/main" id="{4812138F-E4B1-4F46-B07C-B79DD8297FB9}"/>
              </a:ext>
            </a:extLst>
          </p:cNvPr>
          <p:cNvSpPr txBox="1"/>
          <p:nvPr/>
        </p:nvSpPr>
        <p:spPr>
          <a:xfrm>
            <a:off x="762000" y="5207000"/>
            <a:ext cx="10668000" cy="762000"/>
          </a:xfrm>
          <a:prstGeom prst="rect">
            <a:avLst/>
          </a:prstGeom>
          <a:noFill/>
        </p:spPr>
        <p:txBody>
          <a:bodyPr vertOverflow="overflow" vert="horz" wrap="square" rtlCol="0" anchor="t">
            <a:noAutofit/>
          </a:bodyPr>
          <a:lstStyle/>
          <a:p>
            <a:pPr algn="l"/>
            <a:r>
              <a:rPr lang="en-US" sz="1400">
                <a:solidFill>
                  <a:srgbClr val="1A1A1A"/>
                </a:solidFill>
                <a:latin typeface="Georgia"/>
              </a:rPr>
              <a:t>The query never reaches Snowflake. No connection is opened. The agent runtime logs the rejection; the user receives a generic refusal message.</a:t>
            </a:r>
          </a:p>
        </p:txBody>
      </p:sp>
      <p:sp>
        <p:nvSpPr>
          <p:cNvPr id="9" name="Rectangle 8">
            <a:extLst>
              <a:ext uri="{FF2B5EF4-FFF2-40B4-BE49-F238E27FC236}">
                <a16:creationId xmlns:a16="http://schemas.microsoft.com/office/drawing/2014/main" id="{29B7D247-043B-BE4B-98F6-B47E3AA56955}"/>
              </a:ext>
            </a:extLst>
          </p:cNvPr>
          <p:cNvSpPr/>
          <p:nvPr/>
        </p:nvSpPr>
        <p:spPr>
          <a:xfrm>
            <a:off x="762000" y="63500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28B08797-341D-1E41-87CC-CF9A9A981994}"/>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11" name="TextBox 10">
            <a:extLst>
              <a:ext uri="{FF2B5EF4-FFF2-40B4-BE49-F238E27FC236}">
                <a16:creationId xmlns:a16="http://schemas.microsoft.com/office/drawing/2014/main" id="{DBA9D1D8-F1C3-9D42-ABD9-627367F7943A}"/>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16 / 22</a:t>
            </a:r>
          </a:p>
        </p:txBody>
      </p:sp>
      <p:sp>
        <p:nvSpPr>
          <p:cNvPr id="12" name="Rectangle 11">
            <a:extLst>
              <a:ext uri="{FF2B5EF4-FFF2-40B4-BE49-F238E27FC236}">
                <a16:creationId xmlns:a16="http://schemas.microsoft.com/office/drawing/2014/main" id="{73A2BA1E-4A90-6347-9AD8-81C8F851FDDF}"/>
              </a:ext>
            </a:extLst>
          </p:cNvPr>
          <p:cNvSpPr/>
          <p:nvPr/>
        </p:nvSpPr>
        <p:spPr>
          <a:xfrm>
            <a:off x="762000" y="762000"/>
            <a:ext cx="1524000" cy="12700"/>
          </a:xfrm>
          <a:prstGeom prst="rect">
            <a:avLst/>
          </a:prstGeom>
          <a:solidFill>
            <a:srgbClr val="B8883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159732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DA8F78A-9559-9547-AD30-11886B986B95}"/>
              </a:ext>
            </a:extLst>
          </p:cNvPr>
          <p:cNvSpPr/>
          <p:nvPr/>
        </p:nvSpPr>
        <p:spPr>
          <a:xfrm>
            <a:off x="762000" y="762000"/>
            <a:ext cx="1524000" cy="127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6E27EC7E-AD85-A946-A627-2193466FD182}"/>
              </a:ext>
            </a:extLst>
          </p:cNvPr>
          <p:cNvSpPr txBox="1"/>
          <p:nvPr/>
        </p:nvSpPr>
        <p:spPr>
          <a:xfrm>
            <a:off x="762000" y="914400"/>
            <a:ext cx="7620000" cy="2794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OPERATIONS</a:t>
            </a:r>
          </a:p>
        </p:txBody>
      </p:sp>
      <p:sp>
        <p:nvSpPr>
          <p:cNvPr id="6" name="TextBox 5">
            <a:extLst>
              <a:ext uri="{FF2B5EF4-FFF2-40B4-BE49-F238E27FC236}">
                <a16:creationId xmlns:a16="http://schemas.microsoft.com/office/drawing/2014/main" id="{6A34DDCA-02CF-324D-BBE4-9BCB79D500F6}"/>
              </a:ext>
            </a:extLst>
          </p:cNvPr>
          <p:cNvSpPr txBox="1"/>
          <p:nvPr/>
        </p:nvSpPr>
        <p:spPr>
          <a:xfrm>
            <a:off x="4572000" y="1397000"/>
            <a:ext cx="6858000" cy="4572000"/>
          </a:xfrm>
          <a:prstGeom prst="rect">
            <a:avLst/>
          </a:prstGeom>
          <a:noFill/>
        </p:spPr>
        <p:txBody>
          <a:bodyPr vertOverflow="overflow" vert="horz" wrap="none" rtlCol="0" anchor="t" anchorCtr="0">
            <a:noAutofit/>
          </a:bodyPr>
          <a:lstStyle/>
          <a:p>
            <a:pPr algn="l"/>
            <a:r>
              <a:rPr lang="en-US" sz="36000">
                <a:solidFill>
                  <a:srgbClr val="DDE5DD"/>
                </a:solidFill>
                <a:latin typeface="Georgia"/>
              </a:rPr>
              <a:t>05</a:t>
            </a:r>
          </a:p>
        </p:txBody>
      </p:sp>
      <p:sp>
        <p:nvSpPr>
          <p:cNvPr id="7" name="Rectangle 6">
            <a:extLst>
              <a:ext uri="{FF2B5EF4-FFF2-40B4-BE49-F238E27FC236}">
                <a16:creationId xmlns:a16="http://schemas.microsoft.com/office/drawing/2014/main" id="{9824EC96-30BB-E641-AE19-9F47F2D782A4}"/>
              </a:ext>
            </a:extLst>
          </p:cNvPr>
          <p:cNvSpPr/>
          <p:nvPr/>
        </p:nvSpPr>
        <p:spPr>
          <a:xfrm>
            <a:off x="762000" y="4064000"/>
            <a:ext cx="25400" cy="10160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DD12B367-B673-524A-8474-F4FC834811D9}"/>
              </a:ext>
            </a:extLst>
          </p:cNvPr>
          <p:cNvSpPr txBox="1"/>
          <p:nvPr/>
        </p:nvSpPr>
        <p:spPr>
          <a:xfrm>
            <a:off x="1016000" y="4064000"/>
            <a:ext cx="5080000" cy="279400"/>
          </a:xfrm>
          <a:prstGeom prst="rect">
            <a:avLst/>
          </a:prstGeom>
          <a:noFill/>
        </p:spPr>
        <p:txBody>
          <a:bodyPr vertOverflow="overflow" vert="horz" wrap="square" rtlCol="0" anchor="t">
            <a:noAutofit/>
          </a:bodyPr>
          <a:lstStyle/>
          <a:p>
            <a:pPr algn="l"/>
            <a:r>
              <a:rPr lang="en-US" sz="1400" i="1">
                <a:solidFill>
                  <a:srgbClr val="6B6B6B"/>
                </a:solidFill>
                <a:latin typeface="Georgia"/>
              </a:rPr>
              <a:t>§ 05</a:t>
            </a:r>
          </a:p>
        </p:txBody>
      </p:sp>
      <p:sp>
        <p:nvSpPr>
          <p:cNvPr id="9" name="TextBox 8">
            <a:extLst>
              <a:ext uri="{FF2B5EF4-FFF2-40B4-BE49-F238E27FC236}">
                <a16:creationId xmlns:a16="http://schemas.microsoft.com/office/drawing/2014/main" id="{F8769C45-A79F-4F47-83F0-C6151F56603B}"/>
              </a:ext>
            </a:extLst>
          </p:cNvPr>
          <p:cNvSpPr txBox="1"/>
          <p:nvPr/>
        </p:nvSpPr>
        <p:spPr>
          <a:xfrm>
            <a:off x="1016000" y="4419600"/>
            <a:ext cx="6858000" cy="762000"/>
          </a:xfrm>
          <a:prstGeom prst="rect">
            <a:avLst/>
          </a:prstGeom>
          <a:noFill/>
        </p:spPr>
        <p:txBody>
          <a:bodyPr vertOverflow="overflow" vert="horz" wrap="square" rtlCol="0" anchor="t">
            <a:noAutofit/>
          </a:bodyPr>
          <a:lstStyle/>
          <a:p>
            <a:pPr algn="l"/>
            <a:r>
              <a:rPr lang="en-US" sz="3600" i="1">
                <a:solidFill>
                  <a:srgbClr val="1A1A1A"/>
                </a:solidFill>
                <a:latin typeface="Georgia"/>
              </a:rPr>
              <a:t>Operating the control</a:t>
            </a:r>
          </a:p>
        </p:txBody>
      </p:sp>
    </p:spTree>
    <p:extLst>
      <p:ext uri="{BB962C8B-B14F-4D97-AF65-F5344CB8AC3E}">
        <p14:creationId xmlns:p14="http://schemas.microsoft.com/office/powerpoint/2010/main" val="2757274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50FAC8-B57C-E743-BE3E-756CE1BC1A6B}"/>
              </a:ext>
            </a:extLst>
          </p:cNvPr>
          <p:cNvSpPr txBox="1"/>
          <p:nvPr/>
        </p:nvSpPr>
        <p:spPr>
          <a:xfrm>
            <a:off x="762000" y="914400"/>
            <a:ext cx="7620000" cy="2286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06  ·  OPERATIONS</a:t>
            </a:r>
          </a:p>
        </p:txBody>
      </p:sp>
      <p:sp>
        <p:nvSpPr>
          <p:cNvPr id="3" name="TextBox 2">
            <a:extLst>
              <a:ext uri="{FF2B5EF4-FFF2-40B4-BE49-F238E27FC236}">
                <a16:creationId xmlns:a16="http://schemas.microsoft.com/office/drawing/2014/main" id="{5946C4D1-490C-4E4F-BB3A-7458049A5138}"/>
              </a:ext>
            </a:extLst>
          </p:cNvPr>
          <p:cNvSpPr txBox="1"/>
          <p:nvPr/>
        </p:nvSpPr>
        <p:spPr>
          <a:xfrm>
            <a:off x="762000" y="1460500"/>
            <a:ext cx="10668000" cy="635000"/>
          </a:xfrm>
          <a:prstGeom prst="rect">
            <a:avLst/>
          </a:prstGeom>
          <a:noFill/>
        </p:spPr>
        <p:txBody>
          <a:bodyPr vertOverflow="overflow" vert="horz" wrap="square" rtlCol="0" anchor="t">
            <a:noAutofit/>
          </a:bodyPr>
          <a:lstStyle/>
          <a:p>
            <a:pPr algn="l"/>
            <a:r>
              <a:rPr lang="en-US" sz="2800">
                <a:solidFill>
                  <a:srgbClr val="1A1A1A"/>
                </a:solidFill>
                <a:latin typeface="Georgia"/>
              </a:rPr>
              <a:t>Confidence comes from tests</a:t>
            </a:r>
          </a:p>
        </p:txBody>
      </p:sp>
      <p:sp>
        <p:nvSpPr>
          <p:cNvPr id="4" name="TextBox 3">
            <a:extLst>
              <a:ext uri="{FF2B5EF4-FFF2-40B4-BE49-F238E27FC236}">
                <a16:creationId xmlns:a16="http://schemas.microsoft.com/office/drawing/2014/main" id="{9C91A316-F426-0F47-A2FA-B80CB71D5A87}"/>
              </a:ext>
            </a:extLst>
          </p:cNvPr>
          <p:cNvSpPr txBox="1"/>
          <p:nvPr/>
        </p:nvSpPr>
        <p:spPr>
          <a:xfrm>
            <a:off x="762000" y="2006600"/>
            <a:ext cx="10668000" cy="1270000"/>
          </a:xfrm>
          <a:prstGeom prst="rect">
            <a:avLst/>
          </a:prstGeom>
          <a:noFill/>
        </p:spPr>
        <p:txBody>
          <a:bodyPr vertOverflow="overflow" vert="horz" wrap="square" rtlCol="0" anchor="t">
            <a:noAutofit/>
          </a:bodyPr>
          <a:lstStyle/>
          <a:p>
            <a:pPr algn="l"/>
            <a:r>
              <a:rPr lang="en-US" sz="1400">
                <a:solidFill>
                  <a:srgbClr val="1A1A1A"/>
                </a:solidFill>
                <a:latin typeface="Georgia"/>
              </a:rPr>
              <a:t>The firewall is a pure function. Its correctness is provable through tests. The acceptance suite covers ten categories of input — valid SELECTs, CTE-wrapped SELECTs, joins between allowlisted views, multi-statement attacks, DDL and DML, session-state changes, out-of-scope tables, forbidden functions, unparseable input, and a corpus of prompt-injection patterns from the literature.</a:t>
            </a:r>
          </a:p>
        </p:txBody>
      </p:sp>
      <p:graphicFrame>
        <p:nvGraphicFramePr>
          <p:cNvPr id="6" name="Table 5">
            <a:extLst>
              <a:ext uri="{FF2B5EF4-FFF2-40B4-BE49-F238E27FC236}">
                <a16:creationId xmlns:a16="http://schemas.microsoft.com/office/drawing/2014/main" id="{4BB4B12B-B72B-5143-950C-EA96623D9AC9}"/>
              </a:ext>
            </a:extLst>
          </p:cNvPr>
          <p:cNvGraphicFramePr>
            <a:graphicFrameLocks noGrp="1"/>
          </p:cNvGraphicFramePr>
          <p:nvPr>
            <p:extLst>
              <p:ext uri="{D42A27DB-BD31-4B8C-83A1-F6EECF244321}">
                <p14:modId xmlns:p14="http://schemas.microsoft.com/office/powerpoint/2010/main" val="3516621412"/>
              </p:ext>
            </p:extLst>
          </p:nvPr>
        </p:nvGraphicFramePr>
        <p:xfrm>
          <a:off x="762000" y="3429000"/>
          <a:ext cx="10668000" cy="223520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501041386"/>
                    </a:ext>
                  </a:extLst>
                </a:gridCol>
                <a:gridCol w="1524000">
                  <a:extLst>
                    <a:ext uri="{9D8B030D-6E8A-4147-A177-3AD203B41FA5}">
                      <a16:colId xmlns:a16="http://schemas.microsoft.com/office/drawing/2014/main" val="1642529996"/>
                    </a:ext>
                  </a:extLst>
                </a:gridCol>
                <a:gridCol w="3048000">
                  <a:extLst>
                    <a:ext uri="{9D8B030D-6E8A-4147-A177-3AD203B41FA5}">
                      <a16:colId xmlns:a16="http://schemas.microsoft.com/office/drawing/2014/main" val="3486072000"/>
                    </a:ext>
                  </a:extLst>
                </a:gridCol>
              </a:tblGrid>
              <a:tr h="406400">
                <a:tc>
                  <a:txBody>
                    <a:bodyPr/>
                    <a:lstStyle/>
                    <a:p>
                      <a:pPr algn="l"/>
                      <a:r>
                        <a:rPr lang="en-US" sz="1200" b="1">
                          <a:solidFill>
                            <a:srgbClr val="FFFFFF"/>
                          </a:solidFill>
                          <a:latin typeface="Calibri"/>
                          <a:cs typeface="Calibri"/>
                        </a:rPr>
                        <a:t>Category</a:t>
                      </a:r>
                    </a:p>
                  </a:txBody>
                  <a:tcPr anchor="ctr">
                    <a:solidFill>
                      <a:srgbClr val="1F3A5F"/>
                    </a:solidFill>
                  </a:tcPr>
                </a:tc>
                <a:tc>
                  <a:txBody>
                    <a:bodyPr/>
                    <a:lstStyle/>
                    <a:p>
                      <a:pPr algn="l"/>
                      <a:r>
                        <a:rPr lang="en-US" sz="1200" b="1">
                          <a:solidFill>
                            <a:srgbClr val="FFFFFF"/>
                          </a:solidFill>
                          <a:latin typeface="Calibri"/>
                          <a:cs typeface="Calibri"/>
                        </a:rPr>
                        <a:t>Count</a:t>
                      </a:r>
                    </a:p>
                  </a:txBody>
                  <a:tcPr anchor="ctr">
                    <a:solidFill>
                      <a:srgbClr val="1F3A5F"/>
                    </a:solidFill>
                  </a:tcPr>
                </a:tc>
                <a:tc>
                  <a:txBody>
                    <a:bodyPr/>
                    <a:lstStyle/>
                    <a:p>
                      <a:pPr algn="l"/>
                      <a:r>
                        <a:rPr lang="en-US" sz="1200" b="1">
                          <a:solidFill>
                            <a:srgbClr val="FFFFFF"/>
                          </a:solidFill>
                          <a:latin typeface="Calibri"/>
                          <a:cs typeface="Calibri"/>
                        </a:rPr>
                        <a:t>Outcome</a:t>
                      </a:r>
                    </a:p>
                  </a:txBody>
                  <a:tcPr anchor="ctr">
                    <a:solidFill>
                      <a:srgbClr val="1F3A5F"/>
                    </a:solidFill>
                  </a:tcPr>
                </a:tc>
                <a:extLst>
                  <a:ext uri="{0D108BD9-81ED-4DB2-BD59-A6C34878D82A}">
                    <a16:rowId xmlns:a16="http://schemas.microsoft.com/office/drawing/2014/main" val="4216005702"/>
                  </a:ext>
                </a:extLst>
              </a:tr>
              <a:tr h="457200">
                <a:tc>
                  <a:txBody>
                    <a:bodyPr/>
                    <a:lstStyle/>
                    <a:p>
                      <a:pPr algn="l"/>
                      <a:r>
                        <a:rPr lang="en-US" sz="1300">
                          <a:solidFill>
                            <a:srgbClr val="1A1A1A"/>
                          </a:solidFill>
                          <a:latin typeface="Calibri"/>
                          <a:cs typeface="Calibri"/>
                        </a:rPr>
                        <a:t>Valid queries (representative corpus)</a:t>
                      </a:r>
                    </a:p>
                  </a:txBody>
                  <a:tcPr anchor="ctr">
                    <a:solidFill>
                      <a:srgbClr val="FAFAF7"/>
                    </a:solidFill>
                  </a:tcPr>
                </a:tc>
                <a:tc>
                  <a:txBody>
                    <a:bodyPr/>
                    <a:lstStyle/>
                    <a:p>
                      <a:pPr algn="l"/>
                      <a:r>
                        <a:rPr lang="en-US" sz="1300">
                          <a:solidFill>
                            <a:srgbClr val="1A1A1A"/>
                          </a:solidFill>
                          <a:latin typeface="Consolas"/>
                          <a:cs typeface="Consolas"/>
                        </a:rPr>
                        <a:t>100+</a:t>
                      </a:r>
                    </a:p>
                  </a:txBody>
                  <a:tcPr anchor="ctr">
                    <a:solidFill>
                      <a:srgbClr val="FAFAF7"/>
                    </a:solidFill>
                  </a:tcPr>
                </a:tc>
                <a:tc>
                  <a:txBody>
                    <a:bodyPr/>
                    <a:lstStyle/>
                    <a:p>
                      <a:pPr algn="l"/>
                      <a:r>
                        <a:rPr lang="en-US" sz="1300">
                          <a:solidFill>
                            <a:srgbClr val="1A1A1A"/>
                          </a:solidFill>
                          <a:latin typeface="Calibri"/>
                          <a:cs typeface="Calibri"/>
                        </a:rPr>
                        <a:t>Pass</a:t>
                      </a:r>
                    </a:p>
                  </a:txBody>
                  <a:tcPr anchor="ctr">
                    <a:solidFill>
                      <a:srgbClr val="FAFAF7"/>
                    </a:solidFill>
                  </a:tcPr>
                </a:tc>
                <a:extLst>
                  <a:ext uri="{0D108BD9-81ED-4DB2-BD59-A6C34878D82A}">
                    <a16:rowId xmlns:a16="http://schemas.microsoft.com/office/drawing/2014/main" val="893921242"/>
                  </a:ext>
                </a:extLst>
              </a:tr>
              <a:tr h="457200">
                <a:tc>
                  <a:txBody>
                    <a:bodyPr/>
                    <a:lstStyle/>
                    <a:p>
                      <a:pPr algn="l"/>
                      <a:r>
                        <a:rPr lang="en-US" sz="1300">
                          <a:solidFill>
                            <a:srgbClr val="1A1A1A"/>
                          </a:solidFill>
                          <a:latin typeface="Calibri"/>
                          <a:cs typeface="Calibri"/>
                        </a:rPr>
                        <a:t>Attack patterns (literature + red team)</a:t>
                      </a:r>
                    </a:p>
                  </a:txBody>
                  <a:tcPr anchor="ctr">
                    <a:solidFill>
                      <a:srgbClr val="EDEAE3"/>
                    </a:solidFill>
                  </a:tcPr>
                </a:tc>
                <a:tc>
                  <a:txBody>
                    <a:bodyPr/>
                    <a:lstStyle/>
                    <a:p>
                      <a:pPr algn="l"/>
                      <a:r>
                        <a:rPr lang="en-US" sz="1300">
                          <a:solidFill>
                            <a:srgbClr val="1A1A1A"/>
                          </a:solidFill>
                          <a:latin typeface="Consolas"/>
                          <a:cs typeface="Consolas"/>
                        </a:rPr>
                        <a:t>50+</a:t>
                      </a:r>
                    </a:p>
                  </a:txBody>
                  <a:tcPr anchor="ctr">
                    <a:solidFill>
                      <a:srgbClr val="EDEAE3"/>
                    </a:solidFill>
                  </a:tcPr>
                </a:tc>
                <a:tc>
                  <a:txBody>
                    <a:bodyPr/>
                    <a:lstStyle/>
                    <a:p>
                      <a:pPr algn="l"/>
                      <a:r>
                        <a:rPr lang="en-US" sz="1300">
                          <a:solidFill>
                            <a:srgbClr val="1A1A1A"/>
                          </a:solidFill>
                          <a:latin typeface="Calibri"/>
                          <a:cs typeface="Calibri"/>
                        </a:rPr>
                        <a:t>Reject</a:t>
                      </a:r>
                    </a:p>
                  </a:txBody>
                  <a:tcPr anchor="ctr">
                    <a:solidFill>
                      <a:srgbClr val="EDEAE3"/>
                    </a:solidFill>
                  </a:tcPr>
                </a:tc>
                <a:extLst>
                  <a:ext uri="{0D108BD9-81ED-4DB2-BD59-A6C34878D82A}">
                    <a16:rowId xmlns:a16="http://schemas.microsoft.com/office/drawing/2014/main" val="2594355787"/>
                  </a:ext>
                </a:extLst>
              </a:tr>
              <a:tr h="457200">
                <a:tc>
                  <a:txBody>
                    <a:bodyPr/>
                    <a:lstStyle/>
                    <a:p>
                      <a:pPr algn="l"/>
                      <a:r>
                        <a:rPr lang="en-US" sz="1300">
                          <a:solidFill>
                            <a:srgbClr val="1A1A1A"/>
                          </a:solidFill>
                          <a:latin typeface="Calibri"/>
                          <a:cs typeface="Calibri"/>
                        </a:rPr>
                        <a:t>Edge cases (CTEs, joins, subqueries)</a:t>
                      </a:r>
                    </a:p>
                  </a:txBody>
                  <a:tcPr anchor="ctr">
                    <a:solidFill>
                      <a:srgbClr val="FAFAF7"/>
                    </a:solidFill>
                  </a:tcPr>
                </a:tc>
                <a:tc>
                  <a:txBody>
                    <a:bodyPr/>
                    <a:lstStyle/>
                    <a:p>
                      <a:pPr algn="l"/>
                      <a:r>
                        <a:rPr lang="en-US" sz="1300">
                          <a:solidFill>
                            <a:srgbClr val="1A1A1A"/>
                          </a:solidFill>
                          <a:latin typeface="Consolas"/>
                          <a:cs typeface="Consolas"/>
                        </a:rPr>
                        <a:t>30+</a:t>
                      </a:r>
                    </a:p>
                  </a:txBody>
                  <a:tcPr anchor="ctr">
                    <a:solidFill>
                      <a:srgbClr val="FAFAF7"/>
                    </a:solidFill>
                  </a:tcPr>
                </a:tc>
                <a:tc>
                  <a:txBody>
                    <a:bodyPr/>
                    <a:lstStyle/>
                    <a:p>
                      <a:pPr algn="l"/>
                      <a:r>
                        <a:rPr lang="en-US" sz="1300">
                          <a:solidFill>
                            <a:srgbClr val="1A1A1A"/>
                          </a:solidFill>
                          <a:latin typeface="Calibri"/>
                          <a:cs typeface="Calibri"/>
                        </a:rPr>
                        <a:t>Pass</a:t>
                      </a:r>
                    </a:p>
                  </a:txBody>
                  <a:tcPr anchor="ctr">
                    <a:solidFill>
                      <a:srgbClr val="FAFAF7"/>
                    </a:solidFill>
                  </a:tcPr>
                </a:tc>
                <a:extLst>
                  <a:ext uri="{0D108BD9-81ED-4DB2-BD59-A6C34878D82A}">
                    <a16:rowId xmlns:a16="http://schemas.microsoft.com/office/drawing/2014/main" val="2254435102"/>
                  </a:ext>
                </a:extLst>
              </a:tr>
              <a:tr h="457200">
                <a:tc>
                  <a:txBody>
                    <a:bodyPr/>
                    <a:lstStyle/>
                    <a:p>
                      <a:pPr algn="l"/>
                      <a:r>
                        <a:rPr lang="en-US" sz="1300">
                          <a:solidFill>
                            <a:srgbClr val="1A1A1A"/>
                          </a:solidFill>
                          <a:latin typeface="Calibri"/>
                          <a:cs typeface="Calibri"/>
                        </a:rPr>
                        <a:t>Unparseable input</a:t>
                      </a:r>
                    </a:p>
                  </a:txBody>
                  <a:tcPr anchor="ctr">
                    <a:solidFill>
                      <a:srgbClr val="EDEAE3"/>
                    </a:solidFill>
                  </a:tcPr>
                </a:tc>
                <a:tc>
                  <a:txBody>
                    <a:bodyPr/>
                    <a:lstStyle/>
                    <a:p>
                      <a:pPr algn="l"/>
                      <a:r>
                        <a:rPr lang="en-US" sz="1300">
                          <a:solidFill>
                            <a:srgbClr val="1A1A1A"/>
                          </a:solidFill>
                          <a:latin typeface="Consolas"/>
                          <a:cs typeface="Consolas"/>
                        </a:rPr>
                        <a:t>10+</a:t>
                      </a:r>
                    </a:p>
                  </a:txBody>
                  <a:tcPr anchor="ctr">
                    <a:solidFill>
                      <a:srgbClr val="EDEAE3"/>
                    </a:solidFill>
                  </a:tcPr>
                </a:tc>
                <a:tc>
                  <a:txBody>
                    <a:bodyPr/>
                    <a:lstStyle/>
                    <a:p>
                      <a:pPr algn="l"/>
                      <a:r>
                        <a:rPr lang="en-US" sz="1300">
                          <a:solidFill>
                            <a:srgbClr val="1A1A1A"/>
                          </a:solidFill>
                          <a:latin typeface="Calibri"/>
                          <a:cs typeface="Calibri"/>
                        </a:rPr>
                        <a:t>Reject cleanly</a:t>
                      </a:r>
                    </a:p>
                  </a:txBody>
                  <a:tcPr anchor="ctr">
                    <a:solidFill>
                      <a:srgbClr val="EDEAE3"/>
                    </a:solidFill>
                  </a:tcPr>
                </a:tc>
                <a:extLst>
                  <a:ext uri="{0D108BD9-81ED-4DB2-BD59-A6C34878D82A}">
                    <a16:rowId xmlns:a16="http://schemas.microsoft.com/office/drawing/2014/main" val="375017386"/>
                  </a:ext>
                </a:extLst>
              </a:tr>
            </a:tbl>
          </a:graphicData>
        </a:graphic>
      </p:graphicFrame>
      <p:sp>
        <p:nvSpPr>
          <p:cNvPr id="7" name="TextBox 6">
            <a:extLst>
              <a:ext uri="{FF2B5EF4-FFF2-40B4-BE49-F238E27FC236}">
                <a16:creationId xmlns:a16="http://schemas.microsoft.com/office/drawing/2014/main" id="{AB86E921-E044-9A42-8B0A-541D52755629}"/>
              </a:ext>
            </a:extLst>
          </p:cNvPr>
          <p:cNvSpPr txBox="1"/>
          <p:nvPr/>
        </p:nvSpPr>
        <p:spPr>
          <a:xfrm>
            <a:off x="762000" y="5842000"/>
            <a:ext cx="10668000" cy="304800"/>
          </a:xfrm>
          <a:prstGeom prst="rect">
            <a:avLst/>
          </a:prstGeom>
          <a:noFill/>
        </p:spPr>
        <p:txBody>
          <a:bodyPr vertOverflow="overflow" vert="horz" wrap="square" rtlCol="0" anchor="t">
            <a:noAutofit/>
          </a:bodyPr>
          <a:lstStyle/>
          <a:p>
            <a:pPr algn="l"/>
            <a:r>
              <a:rPr lang="en-US" sz="1300" i="1">
                <a:solidFill>
                  <a:srgbClr val="6B6B6B"/>
                </a:solidFill>
                <a:latin typeface="Georgia"/>
              </a:rPr>
              <a:t>All tests run in milliseconds. No database, no fixtures.</a:t>
            </a:r>
          </a:p>
        </p:txBody>
      </p:sp>
      <p:sp>
        <p:nvSpPr>
          <p:cNvPr id="8" name="Rectangle 7">
            <a:extLst>
              <a:ext uri="{FF2B5EF4-FFF2-40B4-BE49-F238E27FC236}">
                <a16:creationId xmlns:a16="http://schemas.microsoft.com/office/drawing/2014/main" id="{9AE13197-A27A-894D-920A-A628C223CBD0}"/>
              </a:ext>
            </a:extLst>
          </p:cNvPr>
          <p:cNvSpPr/>
          <p:nvPr/>
        </p:nvSpPr>
        <p:spPr>
          <a:xfrm>
            <a:off x="762000" y="63500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9B310684-1604-C949-A891-F936BCD9B76F}"/>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10" name="TextBox 9">
            <a:extLst>
              <a:ext uri="{FF2B5EF4-FFF2-40B4-BE49-F238E27FC236}">
                <a16:creationId xmlns:a16="http://schemas.microsoft.com/office/drawing/2014/main" id="{310D8610-7A5F-8B4E-9DFE-098217B59A32}"/>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18 / 22</a:t>
            </a:r>
          </a:p>
        </p:txBody>
      </p:sp>
      <p:sp>
        <p:nvSpPr>
          <p:cNvPr id="11" name="Rectangle 10">
            <a:extLst>
              <a:ext uri="{FF2B5EF4-FFF2-40B4-BE49-F238E27FC236}">
                <a16:creationId xmlns:a16="http://schemas.microsoft.com/office/drawing/2014/main" id="{AFCC29A6-1BD5-1646-B32E-272E4BFD9733}"/>
              </a:ext>
            </a:extLst>
          </p:cNvPr>
          <p:cNvSpPr/>
          <p:nvPr/>
        </p:nvSpPr>
        <p:spPr>
          <a:xfrm>
            <a:off x="762000" y="762000"/>
            <a:ext cx="1524000" cy="12700"/>
          </a:xfrm>
          <a:prstGeom prst="rect">
            <a:avLst/>
          </a:prstGeom>
          <a:solidFill>
            <a:srgbClr val="5A7A5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189623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293897-7426-9046-B749-C35F77449C25}"/>
              </a:ext>
            </a:extLst>
          </p:cNvPr>
          <p:cNvSpPr txBox="1"/>
          <p:nvPr/>
        </p:nvSpPr>
        <p:spPr>
          <a:xfrm>
            <a:off x="762000" y="914400"/>
            <a:ext cx="7620000" cy="2286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06  ·  OPERATIONS</a:t>
            </a:r>
          </a:p>
        </p:txBody>
      </p:sp>
      <p:sp>
        <p:nvSpPr>
          <p:cNvPr id="3" name="TextBox 2">
            <a:extLst>
              <a:ext uri="{FF2B5EF4-FFF2-40B4-BE49-F238E27FC236}">
                <a16:creationId xmlns:a16="http://schemas.microsoft.com/office/drawing/2014/main" id="{2030F722-D723-214C-9685-46F2055E1B3A}"/>
              </a:ext>
            </a:extLst>
          </p:cNvPr>
          <p:cNvSpPr txBox="1"/>
          <p:nvPr/>
        </p:nvSpPr>
        <p:spPr>
          <a:xfrm>
            <a:off x="762000" y="1460500"/>
            <a:ext cx="10668000" cy="635000"/>
          </a:xfrm>
          <a:prstGeom prst="rect">
            <a:avLst/>
          </a:prstGeom>
          <a:noFill/>
        </p:spPr>
        <p:txBody>
          <a:bodyPr vertOverflow="overflow" vert="horz" wrap="square" rtlCol="0" anchor="t">
            <a:noAutofit/>
          </a:bodyPr>
          <a:lstStyle/>
          <a:p>
            <a:pPr algn="l"/>
            <a:r>
              <a:rPr lang="en-US" sz="2800">
                <a:solidFill>
                  <a:srgbClr val="1A1A1A"/>
                </a:solidFill>
                <a:latin typeface="Georgia"/>
              </a:rPr>
              <a:t>What we log, what we measure</a:t>
            </a:r>
          </a:p>
        </p:txBody>
      </p:sp>
      <p:sp>
        <p:nvSpPr>
          <p:cNvPr id="4" name="TextBox 3">
            <a:extLst>
              <a:ext uri="{FF2B5EF4-FFF2-40B4-BE49-F238E27FC236}">
                <a16:creationId xmlns:a16="http://schemas.microsoft.com/office/drawing/2014/main" id="{44CEE037-6EE5-F248-A07D-365CA1D714F1}"/>
              </a:ext>
            </a:extLst>
          </p:cNvPr>
          <p:cNvSpPr txBox="1"/>
          <p:nvPr/>
        </p:nvSpPr>
        <p:spPr>
          <a:xfrm>
            <a:off x="762000" y="2095500"/>
            <a:ext cx="5080000" cy="254000"/>
          </a:xfrm>
          <a:prstGeom prst="rect">
            <a:avLst/>
          </a:prstGeom>
          <a:noFill/>
        </p:spPr>
        <p:txBody>
          <a:bodyPr vertOverflow="overflow" vert="horz" wrap="square" rtlCol="0" anchor="t">
            <a:noAutofit/>
          </a:bodyPr>
          <a:lstStyle/>
          <a:p>
            <a:pPr algn="l"/>
            <a:r>
              <a:rPr lang="en-US" sz="1000">
                <a:solidFill>
                  <a:srgbClr val="6B6B6B"/>
                </a:solidFill>
                <a:latin typeface="Calibri"/>
                <a:cs typeface="Calibri"/>
              </a:rPr>
              <a:t>LOGS</a:t>
            </a:r>
          </a:p>
        </p:txBody>
      </p:sp>
      <p:sp>
        <p:nvSpPr>
          <p:cNvPr id="5" name="Rectangle 4">
            <a:extLst>
              <a:ext uri="{FF2B5EF4-FFF2-40B4-BE49-F238E27FC236}">
                <a16:creationId xmlns:a16="http://schemas.microsoft.com/office/drawing/2014/main" id="{7C503E85-E2FC-884D-9E56-76318C0A862D}"/>
              </a:ext>
            </a:extLst>
          </p:cNvPr>
          <p:cNvSpPr/>
          <p:nvPr/>
        </p:nvSpPr>
        <p:spPr>
          <a:xfrm>
            <a:off x="762000" y="2387600"/>
            <a:ext cx="5080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87B9A0C2-F5BD-ED48-9820-9D3A369350D8}"/>
              </a:ext>
            </a:extLst>
          </p:cNvPr>
          <p:cNvSpPr txBox="1"/>
          <p:nvPr/>
        </p:nvSpPr>
        <p:spPr>
          <a:xfrm>
            <a:off x="762000" y="2540000"/>
            <a:ext cx="5080000" cy="279400"/>
          </a:xfrm>
          <a:prstGeom prst="rect">
            <a:avLst/>
          </a:prstGeom>
          <a:noFill/>
        </p:spPr>
        <p:txBody>
          <a:bodyPr vertOverflow="overflow" vert="horz" wrap="square" rtlCol="0" anchor="t">
            <a:noAutofit/>
          </a:bodyPr>
          <a:lstStyle/>
          <a:p>
            <a:pPr algn="l"/>
            <a:r>
              <a:rPr lang="en-US" sz="1400">
                <a:solidFill>
                  <a:srgbClr val="1A1A1A"/>
                </a:solidFill>
                <a:latin typeface="Georgia"/>
              </a:rPr>
              <a:t>Rejection summary</a:t>
            </a:r>
          </a:p>
        </p:txBody>
      </p:sp>
      <p:sp>
        <p:nvSpPr>
          <p:cNvPr id="7" name="TextBox 6">
            <a:extLst>
              <a:ext uri="{FF2B5EF4-FFF2-40B4-BE49-F238E27FC236}">
                <a16:creationId xmlns:a16="http://schemas.microsoft.com/office/drawing/2014/main" id="{8625B435-17A4-CD4B-8F48-E7CF4F40D3E4}"/>
              </a:ext>
            </a:extLst>
          </p:cNvPr>
          <p:cNvSpPr txBox="1"/>
          <p:nvPr/>
        </p:nvSpPr>
        <p:spPr>
          <a:xfrm>
            <a:off x="762000" y="2819400"/>
            <a:ext cx="5080000" cy="457200"/>
          </a:xfrm>
          <a:prstGeom prst="rect">
            <a:avLst/>
          </a:prstGeom>
          <a:noFill/>
        </p:spPr>
        <p:txBody>
          <a:bodyPr vertOverflow="overflow" vert="horz" wrap="square" rtlCol="0" anchor="t">
            <a:noAutofit/>
          </a:bodyPr>
          <a:lstStyle/>
          <a:p>
            <a:pPr algn="l"/>
            <a:r>
              <a:rPr lang="en-US" sz="1300">
                <a:solidFill>
                  <a:srgbClr val="6B6B6B"/>
                </a:solidFill>
                <a:latin typeface="Calibri"/>
                <a:cs typeface="Calibri"/>
              </a:rPr>
              <a:t>WARN — request id, exception class</a:t>
            </a:r>
          </a:p>
        </p:txBody>
      </p:sp>
      <p:sp>
        <p:nvSpPr>
          <p:cNvPr id="8" name="TextBox 7">
            <a:extLst>
              <a:ext uri="{FF2B5EF4-FFF2-40B4-BE49-F238E27FC236}">
                <a16:creationId xmlns:a16="http://schemas.microsoft.com/office/drawing/2014/main" id="{6EA5D145-31E4-1149-B858-F15A0077C35B}"/>
              </a:ext>
            </a:extLst>
          </p:cNvPr>
          <p:cNvSpPr txBox="1"/>
          <p:nvPr/>
        </p:nvSpPr>
        <p:spPr>
          <a:xfrm>
            <a:off x="762000" y="3352800"/>
            <a:ext cx="5080000" cy="279400"/>
          </a:xfrm>
          <a:prstGeom prst="rect">
            <a:avLst/>
          </a:prstGeom>
          <a:noFill/>
        </p:spPr>
        <p:txBody>
          <a:bodyPr vertOverflow="overflow" vert="horz" wrap="square" rtlCol="0" anchor="t">
            <a:noAutofit/>
          </a:bodyPr>
          <a:lstStyle/>
          <a:p>
            <a:pPr algn="l"/>
            <a:r>
              <a:rPr lang="en-US" sz="1400">
                <a:solidFill>
                  <a:srgbClr val="1A1A1A"/>
                </a:solidFill>
                <a:latin typeface="Georgia"/>
              </a:rPr>
              <a:t>Rejected SQL detail</a:t>
            </a:r>
          </a:p>
        </p:txBody>
      </p:sp>
      <p:sp>
        <p:nvSpPr>
          <p:cNvPr id="9" name="TextBox 8">
            <a:extLst>
              <a:ext uri="{FF2B5EF4-FFF2-40B4-BE49-F238E27FC236}">
                <a16:creationId xmlns:a16="http://schemas.microsoft.com/office/drawing/2014/main" id="{73DB4BA3-372B-CB40-8DAD-6C3BF90EC128}"/>
              </a:ext>
            </a:extLst>
          </p:cNvPr>
          <p:cNvSpPr txBox="1"/>
          <p:nvPr/>
        </p:nvSpPr>
        <p:spPr>
          <a:xfrm>
            <a:off x="762000" y="3632200"/>
            <a:ext cx="5080000" cy="457200"/>
          </a:xfrm>
          <a:prstGeom prst="rect">
            <a:avLst/>
          </a:prstGeom>
          <a:noFill/>
        </p:spPr>
        <p:txBody>
          <a:bodyPr vertOverflow="overflow" vert="horz" wrap="square" rtlCol="0" anchor="t">
            <a:noAutofit/>
          </a:bodyPr>
          <a:lstStyle/>
          <a:p>
            <a:pPr algn="l"/>
            <a:r>
              <a:rPr lang="en-US" sz="1300">
                <a:solidFill>
                  <a:srgbClr val="6B6B6B"/>
                </a:solidFill>
                <a:latin typeface="Calibri"/>
                <a:cs typeface="Calibri"/>
              </a:rPr>
              <a:t>DEBUG — separate retention from hot logs</a:t>
            </a:r>
          </a:p>
        </p:txBody>
      </p:sp>
      <p:sp>
        <p:nvSpPr>
          <p:cNvPr id="10" name="TextBox 9">
            <a:extLst>
              <a:ext uri="{FF2B5EF4-FFF2-40B4-BE49-F238E27FC236}">
                <a16:creationId xmlns:a16="http://schemas.microsoft.com/office/drawing/2014/main" id="{EB440F8D-6F7F-E94A-B9AF-16D7BF2B83FF}"/>
              </a:ext>
            </a:extLst>
          </p:cNvPr>
          <p:cNvSpPr txBox="1"/>
          <p:nvPr/>
        </p:nvSpPr>
        <p:spPr>
          <a:xfrm>
            <a:off x="762000" y="4165600"/>
            <a:ext cx="5080000" cy="279400"/>
          </a:xfrm>
          <a:prstGeom prst="rect">
            <a:avLst/>
          </a:prstGeom>
          <a:noFill/>
        </p:spPr>
        <p:txBody>
          <a:bodyPr vertOverflow="overflow" vert="horz" wrap="square" rtlCol="0" anchor="t">
            <a:noAutofit/>
          </a:bodyPr>
          <a:lstStyle/>
          <a:p>
            <a:pPr algn="l"/>
            <a:r>
              <a:rPr lang="en-US" sz="1400">
                <a:solidFill>
                  <a:srgbClr val="1A1A1A"/>
                </a:solidFill>
                <a:latin typeface="Georgia"/>
              </a:rPr>
              <a:t>Successful validations</a:t>
            </a:r>
          </a:p>
        </p:txBody>
      </p:sp>
      <p:sp>
        <p:nvSpPr>
          <p:cNvPr id="11" name="TextBox 10">
            <a:extLst>
              <a:ext uri="{FF2B5EF4-FFF2-40B4-BE49-F238E27FC236}">
                <a16:creationId xmlns:a16="http://schemas.microsoft.com/office/drawing/2014/main" id="{4634AF36-A65C-3F4F-9608-EA164507A4F3}"/>
              </a:ext>
            </a:extLst>
          </p:cNvPr>
          <p:cNvSpPr txBox="1"/>
          <p:nvPr/>
        </p:nvSpPr>
        <p:spPr>
          <a:xfrm>
            <a:off x="762000" y="4445000"/>
            <a:ext cx="5080000" cy="457200"/>
          </a:xfrm>
          <a:prstGeom prst="rect">
            <a:avLst/>
          </a:prstGeom>
          <a:noFill/>
        </p:spPr>
        <p:txBody>
          <a:bodyPr vertOverflow="overflow" vert="horz" wrap="square" rtlCol="0" anchor="t">
            <a:noAutofit/>
          </a:bodyPr>
          <a:lstStyle/>
          <a:p>
            <a:pPr algn="l"/>
            <a:r>
              <a:rPr lang="en-US" sz="1300">
                <a:solidFill>
                  <a:srgbClr val="6B6B6B"/>
                </a:solidFill>
                <a:latin typeface="Calibri"/>
                <a:cs typeface="Calibri"/>
              </a:rPr>
              <a:t>Available at DEBUG; not logged at INFO</a:t>
            </a:r>
          </a:p>
        </p:txBody>
      </p:sp>
      <p:sp>
        <p:nvSpPr>
          <p:cNvPr id="12" name="TextBox 11">
            <a:extLst>
              <a:ext uri="{FF2B5EF4-FFF2-40B4-BE49-F238E27FC236}">
                <a16:creationId xmlns:a16="http://schemas.microsoft.com/office/drawing/2014/main" id="{6028821A-7A79-4548-9BAC-B47C251B2F2E}"/>
              </a:ext>
            </a:extLst>
          </p:cNvPr>
          <p:cNvSpPr txBox="1"/>
          <p:nvPr/>
        </p:nvSpPr>
        <p:spPr>
          <a:xfrm>
            <a:off x="6350000" y="2095500"/>
            <a:ext cx="5080000" cy="254000"/>
          </a:xfrm>
          <a:prstGeom prst="rect">
            <a:avLst/>
          </a:prstGeom>
          <a:noFill/>
        </p:spPr>
        <p:txBody>
          <a:bodyPr vertOverflow="overflow" vert="horz" wrap="square" rtlCol="0" anchor="t">
            <a:noAutofit/>
          </a:bodyPr>
          <a:lstStyle/>
          <a:p>
            <a:pPr algn="l"/>
            <a:r>
              <a:rPr lang="en-US" sz="1000">
                <a:solidFill>
                  <a:srgbClr val="6B6B6B"/>
                </a:solidFill>
                <a:latin typeface="Calibri"/>
                <a:cs typeface="Calibri"/>
              </a:rPr>
              <a:t>METRICS</a:t>
            </a:r>
          </a:p>
        </p:txBody>
      </p:sp>
      <p:sp>
        <p:nvSpPr>
          <p:cNvPr id="13" name="Rectangle 12">
            <a:extLst>
              <a:ext uri="{FF2B5EF4-FFF2-40B4-BE49-F238E27FC236}">
                <a16:creationId xmlns:a16="http://schemas.microsoft.com/office/drawing/2014/main" id="{395DA29D-257A-9E41-99F0-E989C811DE62}"/>
              </a:ext>
            </a:extLst>
          </p:cNvPr>
          <p:cNvSpPr/>
          <p:nvPr/>
        </p:nvSpPr>
        <p:spPr>
          <a:xfrm>
            <a:off x="6350000" y="2387600"/>
            <a:ext cx="5080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F908F8A8-18FD-8E4E-BA78-A99496E6C6AD}"/>
              </a:ext>
            </a:extLst>
          </p:cNvPr>
          <p:cNvSpPr txBox="1"/>
          <p:nvPr/>
        </p:nvSpPr>
        <p:spPr>
          <a:xfrm>
            <a:off x="6350000" y="2540000"/>
            <a:ext cx="5080000" cy="279400"/>
          </a:xfrm>
          <a:prstGeom prst="rect">
            <a:avLst/>
          </a:prstGeom>
          <a:noFill/>
        </p:spPr>
        <p:txBody>
          <a:bodyPr vertOverflow="overflow" vert="horz" wrap="square" rtlCol="0" anchor="t">
            <a:noAutofit/>
          </a:bodyPr>
          <a:lstStyle/>
          <a:p>
            <a:pPr algn="l"/>
            <a:r>
              <a:rPr lang="en-US" sz="1200">
                <a:solidFill>
                  <a:srgbClr val="1A1A1A"/>
                </a:solidFill>
                <a:latin typeface="Consolas"/>
                <a:cs typeface="Consolas"/>
              </a:rPr>
              <a:t>sql_firewall_validations_total</a:t>
            </a:r>
          </a:p>
        </p:txBody>
      </p:sp>
      <p:sp>
        <p:nvSpPr>
          <p:cNvPr id="15" name="TextBox 14">
            <a:extLst>
              <a:ext uri="{FF2B5EF4-FFF2-40B4-BE49-F238E27FC236}">
                <a16:creationId xmlns:a16="http://schemas.microsoft.com/office/drawing/2014/main" id="{ACF26426-C0ED-924F-B971-8FE46F259704}"/>
              </a:ext>
            </a:extLst>
          </p:cNvPr>
          <p:cNvSpPr txBox="1"/>
          <p:nvPr/>
        </p:nvSpPr>
        <p:spPr>
          <a:xfrm>
            <a:off x="6350000" y="2819400"/>
            <a:ext cx="5080000" cy="457200"/>
          </a:xfrm>
          <a:prstGeom prst="rect">
            <a:avLst/>
          </a:prstGeom>
          <a:noFill/>
        </p:spPr>
        <p:txBody>
          <a:bodyPr vertOverflow="overflow" vert="horz" wrap="square" rtlCol="0" anchor="t">
            <a:noAutofit/>
          </a:bodyPr>
          <a:lstStyle/>
          <a:p>
            <a:pPr algn="l"/>
            <a:r>
              <a:rPr lang="en-US" sz="1300">
                <a:solidFill>
                  <a:srgbClr val="6B6B6B"/>
                </a:solidFill>
                <a:latin typeface="Calibri"/>
                <a:cs typeface="Calibri"/>
              </a:rPr>
              <a:t>Counter, by outcome</a:t>
            </a:r>
          </a:p>
        </p:txBody>
      </p:sp>
      <p:sp>
        <p:nvSpPr>
          <p:cNvPr id="16" name="TextBox 15">
            <a:extLst>
              <a:ext uri="{FF2B5EF4-FFF2-40B4-BE49-F238E27FC236}">
                <a16:creationId xmlns:a16="http://schemas.microsoft.com/office/drawing/2014/main" id="{5272C82A-BC3A-F549-8BDE-9895EB80CB10}"/>
              </a:ext>
            </a:extLst>
          </p:cNvPr>
          <p:cNvSpPr txBox="1"/>
          <p:nvPr/>
        </p:nvSpPr>
        <p:spPr>
          <a:xfrm>
            <a:off x="6350000" y="3352800"/>
            <a:ext cx="5080000" cy="279400"/>
          </a:xfrm>
          <a:prstGeom prst="rect">
            <a:avLst/>
          </a:prstGeom>
          <a:noFill/>
        </p:spPr>
        <p:txBody>
          <a:bodyPr vertOverflow="overflow" vert="horz" wrap="square" rtlCol="0" anchor="t">
            <a:noAutofit/>
          </a:bodyPr>
          <a:lstStyle/>
          <a:p>
            <a:pPr algn="l"/>
            <a:r>
              <a:rPr lang="en-US" sz="1200">
                <a:solidFill>
                  <a:srgbClr val="1A1A1A"/>
                </a:solidFill>
                <a:latin typeface="Consolas"/>
                <a:cs typeface="Consolas"/>
              </a:rPr>
              <a:t>sql_firewall_rejections_total</a:t>
            </a:r>
          </a:p>
        </p:txBody>
      </p:sp>
      <p:sp>
        <p:nvSpPr>
          <p:cNvPr id="17" name="TextBox 16">
            <a:extLst>
              <a:ext uri="{FF2B5EF4-FFF2-40B4-BE49-F238E27FC236}">
                <a16:creationId xmlns:a16="http://schemas.microsoft.com/office/drawing/2014/main" id="{B2DE85AB-C007-D149-B66E-CDD8A5F14CE2}"/>
              </a:ext>
            </a:extLst>
          </p:cNvPr>
          <p:cNvSpPr txBox="1"/>
          <p:nvPr/>
        </p:nvSpPr>
        <p:spPr>
          <a:xfrm>
            <a:off x="6350000" y="3632200"/>
            <a:ext cx="5080000" cy="457200"/>
          </a:xfrm>
          <a:prstGeom prst="rect">
            <a:avLst/>
          </a:prstGeom>
          <a:noFill/>
        </p:spPr>
        <p:txBody>
          <a:bodyPr vertOverflow="overflow" vert="horz" wrap="square" rtlCol="0" anchor="t">
            <a:noAutofit/>
          </a:bodyPr>
          <a:lstStyle/>
          <a:p>
            <a:pPr algn="l"/>
            <a:r>
              <a:rPr lang="en-US" sz="1300">
                <a:solidFill>
                  <a:srgbClr val="6B6B6B"/>
                </a:solidFill>
                <a:latin typeface="Calibri"/>
                <a:cs typeface="Calibri"/>
              </a:rPr>
              <a:t>Counter, by reason</a:t>
            </a:r>
          </a:p>
        </p:txBody>
      </p:sp>
      <p:sp>
        <p:nvSpPr>
          <p:cNvPr id="18" name="TextBox 17">
            <a:extLst>
              <a:ext uri="{FF2B5EF4-FFF2-40B4-BE49-F238E27FC236}">
                <a16:creationId xmlns:a16="http://schemas.microsoft.com/office/drawing/2014/main" id="{D9E8028D-7894-3645-A3A5-F04B57B252B2}"/>
              </a:ext>
            </a:extLst>
          </p:cNvPr>
          <p:cNvSpPr txBox="1"/>
          <p:nvPr/>
        </p:nvSpPr>
        <p:spPr>
          <a:xfrm>
            <a:off x="6350000" y="4165600"/>
            <a:ext cx="5080000" cy="279400"/>
          </a:xfrm>
          <a:prstGeom prst="rect">
            <a:avLst/>
          </a:prstGeom>
          <a:noFill/>
        </p:spPr>
        <p:txBody>
          <a:bodyPr vertOverflow="overflow" vert="horz" wrap="square" rtlCol="0" anchor="t">
            <a:noAutofit/>
          </a:bodyPr>
          <a:lstStyle/>
          <a:p>
            <a:pPr algn="l"/>
            <a:r>
              <a:rPr lang="en-US" sz="1200">
                <a:solidFill>
                  <a:srgbClr val="1A1A1A"/>
                </a:solidFill>
                <a:latin typeface="Consolas"/>
                <a:cs typeface="Consolas"/>
              </a:rPr>
              <a:t>sql_firewall_validation_duration_seconds</a:t>
            </a:r>
          </a:p>
        </p:txBody>
      </p:sp>
      <p:sp>
        <p:nvSpPr>
          <p:cNvPr id="19" name="TextBox 18">
            <a:extLst>
              <a:ext uri="{FF2B5EF4-FFF2-40B4-BE49-F238E27FC236}">
                <a16:creationId xmlns:a16="http://schemas.microsoft.com/office/drawing/2014/main" id="{D9204C82-72F2-F04C-A1B4-9F84634D7EE6}"/>
              </a:ext>
            </a:extLst>
          </p:cNvPr>
          <p:cNvSpPr txBox="1"/>
          <p:nvPr/>
        </p:nvSpPr>
        <p:spPr>
          <a:xfrm>
            <a:off x="6350000" y="4445000"/>
            <a:ext cx="5080000" cy="457200"/>
          </a:xfrm>
          <a:prstGeom prst="rect">
            <a:avLst/>
          </a:prstGeom>
          <a:noFill/>
        </p:spPr>
        <p:txBody>
          <a:bodyPr vertOverflow="overflow" vert="horz" wrap="square" rtlCol="0" anchor="t">
            <a:noAutofit/>
          </a:bodyPr>
          <a:lstStyle/>
          <a:p>
            <a:pPr algn="l"/>
            <a:r>
              <a:rPr lang="en-US" sz="1300">
                <a:solidFill>
                  <a:srgbClr val="6B6B6B"/>
                </a:solidFill>
                <a:latin typeface="Calibri"/>
                <a:cs typeface="Calibri"/>
              </a:rPr>
              <a:t>Histogram</a:t>
            </a:r>
          </a:p>
        </p:txBody>
      </p:sp>
      <p:sp>
        <p:nvSpPr>
          <p:cNvPr id="20" name="Rectangle 19">
            <a:extLst>
              <a:ext uri="{FF2B5EF4-FFF2-40B4-BE49-F238E27FC236}">
                <a16:creationId xmlns:a16="http://schemas.microsoft.com/office/drawing/2014/main" id="{BC959AE2-B423-1C44-9A14-166B57DFA4B7}"/>
              </a:ext>
            </a:extLst>
          </p:cNvPr>
          <p:cNvSpPr/>
          <p:nvPr/>
        </p:nvSpPr>
        <p:spPr>
          <a:xfrm>
            <a:off x="762000" y="52070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F3053D56-3B0D-8943-A787-DF106D8FF4EB}"/>
              </a:ext>
            </a:extLst>
          </p:cNvPr>
          <p:cNvSpPr txBox="1"/>
          <p:nvPr/>
        </p:nvSpPr>
        <p:spPr>
          <a:xfrm>
            <a:off x="762000" y="5397500"/>
            <a:ext cx="10668000" cy="762000"/>
          </a:xfrm>
          <a:prstGeom prst="rect">
            <a:avLst/>
          </a:prstGeom>
          <a:noFill/>
        </p:spPr>
        <p:txBody>
          <a:bodyPr vertOverflow="overflow" vert="horz" wrap="square" rtlCol="0" anchor="t">
            <a:noAutofit/>
          </a:bodyPr>
          <a:lstStyle/>
          <a:p>
            <a:pPr algn="l"/>
            <a:r>
              <a:rPr lang="en-US" sz="1400" i="1">
                <a:solidFill>
                  <a:srgbClr val="1A1A1A"/>
                </a:solidFill>
                <a:latin typeface="Georgia"/>
              </a:rPr>
              <a:t>A spike in rejections is a leading indicator — either an LLM regression or an active prompt-injection attempt. Both are worth paging the on-call engineer.</a:t>
            </a:r>
          </a:p>
        </p:txBody>
      </p:sp>
      <p:sp>
        <p:nvSpPr>
          <p:cNvPr id="22" name="Rectangle 21">
            <a:extLst>
              <a:ext uri="{FF2B5EF4-FFF2-40B4-BE49-F238E27FC236}">
                <a16:creationId xmlns:a16="http://schemas.microsoft.com/office/drawing/2014/main" id="{E94D7495-B7FE-D545-A499-65789A37BA05}"/>
              </a:ext>
            </a:extLst>
          </p:cNvPr>
          <p:cNvSpPr/>
          <p:nvPr/>
        </p:nvSpPr>
        <p:spPr>
          <a:xfrm>
            <a:off x="762000" y="63500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A63250F9-DA56-B941-9A58-427070A19BBF}"/>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24" name="TextBox 23">
            <a:extLst>
              <a:ext uri="{FF2B5EF4-FFF2-40B4-BE49-F238E27FC236}">
                <a16:creationId xmlns:a16="http://schemas.microsoft.com/office/drawing/2014/main" id="{EF3E62C3-4D32-0B4B-8F0A-9B50777D4E62}"/>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19 / 22</a:t>
            </a:r>
          </a:p>
        </p:txBody>
      </p:sp>
      <p:sp>
        <p:nvSpPr>
          <p:cNvPr id="25" name="Rectangle 24">
            <a:extLst>
              <a:ext uri="{FF2B5EF4-FFF2-40B4-BE49-F238E27FC236}">
                <a16:creationId xmlns:a16="http://schemas.microsoft.com/office/drawing/2014/main" id="{31F12944-71C4-794D-9558-C30D19FC8387}"/>
              </a:ext>
            </a:extLst>
          </p:cNvPr>
          <p:cNvSpPr/>
          <p:nvPr/>
        </p:nvSpPr>
        <p:spPr>
          <a:xfrm>
            <a:off x="762000" y="762000"/>
            <a:ext cx="1524000" cy="12700"/>
          </a:xfrm>
          <a:prstGeom prst="rect">
            <a:avLst/>
          </a:prstGeom>
          <a:solidFill>
            <a:srgbClr val="5A7A5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04543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5929B9-9E59-6A4E-A541-0FE2E9029A95}"/>
              </a:ext>
            </a:extLst>
          </p:cNvPr>
          <p:cNvSpPr txBox="1"/>
          <p:nvPr/>
        </p:nvSpPr>
        <p:spPr>
          <a:xfrm>
            <a:off x="762000" y="914400"/>
            <a:ext cx="7620000" cy="2286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06  ·  OPERATIONS</a:t>
            </a:r>
          </a:p>
        </p:txBody>
      </p:sp>
      <p:sp>
        <p:nvSpPr>
          <p:cNvPr id="3" name="TextBox 2">
            <a:extLst>
              <a:ext uri="{FF2B5EF4-FFF2-40B4-BE49-F238E27FC236}">
                <a16:creationId xmlns:a16="http://schemas.microsoft.com/office/drawing/2014/main" id="{AC08FF67-087F-A142-BF57-C8FB8A7E2E17}"/>
              </a:ext>
            </a:extLst>
          </p:cNvPr>
          <p:cNvSpPr txBox="1"/>
          <p:nvPr/>
        </p:nvSpPr>
        <p:spPr>
          <a:xfrm>
            <a:off x="762000" y="1460500"/>
            <a:ext cx="10668000" cy="635000"/>
          </a:xfrm>
          <a:prstGeom prst="rect">
            <a:avLst/>
          </a:prstGeom>
          <a:noFill/>
        </p:spPr>
        <p:txBody>
          <a:bodyPr vertOverflow="overflow" vert="horz" wrap="square" rtlCol="0" anchor="t">
            <a:noAutofit/>
          </a:bodyPr>
          <a:lstStyle/>
          <a:p>
            <a:pPr algn="l"/>
            <a:r>
              <a:rPr lang="en-US" sz="2800">
                <a:solidFill>
                  <a:srgbClr val="1A1A1A"/>
                </a:solidFill>
                <a:latin typeface="Georgia"/>
              </a:rPr>
              <a:t>Who owns what</a:t>
            </a:r>
          </a:p>
        </p:txBody>
      </p:sp>
      <p:graphicFrame>
        <p:nvGraphicFramePr>
          <p:cNvPr id="5" name="Table 4">
            <a:extLst>
              <a:ext uri="{FF2B5EF4-FFF2-40B4-BE49-F238E27FC236}">
                <a16:creationId xmlns:a16="http://schemas.microsoft.com/office/drawing/2014/main" id="{2F2EA02B-C727-E245-8EF3-9A24FE48780C}"/>
              </a:ext>
            </a:extLst>
          </p:cNvPr>
          <p:cNvGraphicFramePr>
            <a:graphicFrameLocks noGrp="1"/>
          </p:cNvGraphicFramePr>
          <p:nvPr>
            <p:extLst>
              <p:ext uri="{D42A27DB-BD31-4B8C-83A1-F6EECF244321}">
                <p14:modId xmlns:p14="http://schemas.microsoft.com/office/powerpoint/2010/main" val="1321986801"/>
              </p:ext>
            </p:extLst>
          </p:nvPr>
        </p:nvGraphicFramePr>
        <p:xfrm>
          <a:off x="762000" y="2095500"/>
          <a:ext cx="10668000" cy="29972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4173262402"/>
                    </a:ext>
                  </a:extLst>
                </a:gridCol>
                <a:gridCol w="2794000">
                  <a:extLst>
                    <a:ext uri="{9D8B030D-6E8A-4147-A177-3AD203B41FA5}">
                      <a16:colId xmlns:a16="http://schemas.microsoft.com/office/drawing/2014/main" val="616583279"/>
                    </a:ext>
                  </a:extLst>
                </a:gridCol>
                <a:gridCol w="4699000">
                  <a:extLst>
                    <a:ext uri="{9D8B030D-6E8A-4147-A177-3AD203B41FA5}">
                      <a16:colId xmlns:a16="http://schemas.microsoft.com/office/drawing/2014/main" val="2983531408"/>
                    </a:ext>
                  </a:extLst>
                </a:gridCol>
              </a:tblGrid>
              <a:tr h="457200">
                <a:tc>
                  <a:txBody>
                    <a:bodyPr/>
                    <a:lstStyle/>
                    <a:p>
                      <a:pPr algn="l"/>
                      <a:r>
                        <a:rPr lang="en-US" sz="1200" b="1">
                          <a:solidFill>
                            <a:srgbClr val="FFFFFF"/>
                          </a:solidFill>
                          <a:latin typeface="Calibri"/>
                          <a:cs typeface="Calibri"/>
                        </a:rPr>
                        <a:t>Artifact</a:t>
                      </a:r>
                    </a:p>
                  </a:txBody>
                  <a:tcPr anchor="ctr">
                    <a:solidFill>
                      <a:srgbClr val="1F3A5F"/>
                    </a:solidFill>
                  </a:tcPr>
                </a:tc>
                <a:tc>
                  <a:txBody>
                    <a:bodyPr/>
                    <a:lstStyle/>
                    <a:p>
                      <a:pPr algn="l"/>
                      <a:r>
                        <a:rPr lang="en-US" sz="1200" b="1">
                          <a:solidFill>
                            <a:srgbClr val="FFFFFF"/>
                          </a:solidFill>
                          <a:latin typeface="Calibri"/>
                          <a:cs typeface="Calibri"/>
                        </a:rPr>
                        <a:t>Owner</a:t>
                      </a:r>
                    </a:p>
                  </a:txBody>
                  <a:tcPr anchor="ctr">
                    <a:solidFill>
                      <a:srgbClr val="1F3A5F"/>
                    </a:solidFill>
                  </a:tcPr>
                </a:tc>
                <a:tc>
                  <a:txBody>
                    <a:bodyPr/>
                    <a:lstStyle/>
                    <a:p>
                      <a:pPr algn="l"/>
                      <a:r>
                        <a:rPr lang="en-US" sz="1200" b="1">
                          <a:solidFill>
                            <a:srgbClr val="FFFFFF"/>
                          </a:solidFill>
                          <a:latin typeface="Calibri"/>
                          <a:cs typeface="Calibri"/>
                        </a:rPr>
                        <a:t>Change process</a:t>
                      </a:r>
                    </a:p>
                  </a:txBody>
                  <a:tcPr anchor="ctr">
                    <a:solidFill>
                      <a:srgbClr val="1F3A5F"/>
                    </a:solidFill>
                  </a:tcPr>
                </a:tc>
                <a:extLst>
                  <a:ext uri="{0D108BD9-81ED-4DB2-BD59-A6C34878D82A}">
                    <a16:rowId xmlns:a16="http://schemas.microsoft.com/office/drawing/2014/main" val="3357671154"/>
                  </a:ext>
                </a:extLst>
              </a:tr>
              <a:tr h="635000">
                <a:tc>
                  <a:txBody>
                    <a:bodyPr/>
                    <a:lstStyle/>
                    <a:p>
                      <a:pPr algn="l"/>
                      <a:r>
                        <a:rPr lang="en-US" sz="1300">
                          <a:solidFill>
                            <a:srgbClr val="1A1A1A"/>
                          </a:solidFill>
                          <a:latin typeface="Georgia"/>
                        </a:rPr>
                        <a:t>Validation rules (code)</a:t>
                      </a:r>
                    </a:p>
                  </a:txBody>
                  <a:tcPr anchor="ctr">
                    <a:solidFill>
                      <a:srgbClr val="FAFAF7"/>
                    </a:solidFill>
                  </a:tcPr>
                </a:tc>
                <a:tc>
                  <a:txBody>
                    <a:bodyPr/>
                    <a:lstStyle/>
                    <a:p>
                      <a:pPr algn="l"/>
                      <a:r>
                        <a:rPr lang="en-US" sz="1300">
                          <a:solidFill>
                            <a:srgbClr val="1A1A1A"/>
                          </a:solidFill>
                          <a:latin typeface="Calibri"/>
                          <a:cs typeface="Calibri"/>
                        </a:rPr>
                        <a:t>Platform engineering</a:t>
                      </a:r>
                    </a:p>
                  </a:txBody>
                  <a:tcPr anchor="ctr">
                    <a:solidFill>
                      <a:srgbClr val="FAFAF7"/>
                    </a:solidFill>
                  </a:tcPr>
                </a:tc>
                <a:tc>
                  <a:txBody>
                    <a:bodyPr/>
                    <a:lstStyle/>
                    <a:p>
                      <a:pPr algn="l"/>
                      <a:r>
                        <a:rPr lang="en-US" sz="1300">
                          <a:solidFill>
                            <a:srgbClr val="1A1A1A"/>
                          </a:solidFill>
                          <a:latin typeface="Calibri"/>
                          <a:cs typeface="Calibri"/>
                        </a:rPr>
                        <a:t>PR review with security sign-off</a:t>
                      </a:r>
                    </a:p>
                  </a:txBody>
                  <a:tcPr anchor="ctr">
                    <a:solidFill>
                      <a:srgbClr val="FAFAF7"/>
                    </a:solidFill>
                  </a:tcPr>
                </a:tc>
                <a:extLst>
                  <a:ext uri="{0D108BD9-81ED-4DB2-BD59-A6C34878D82A}">
                    <a16:rowId xmlns:a16="http://schemas.microsoft.com/office/drawing/2014/main" val="2437621008"/>
                  </a:ext>
                </a:extLst>
              </a:tr>
              <a:tr h="635000">
                <a:tc>
                  <a:txBody>
                    <a:bodyPr/>
                    <a:lstStyle/>
                    <a:p>
                      <a:pPr algn="l"/>
                      <a:r>
                        <a:rPr lang="en-US" sz="1300">
                          <a:solidFill>
                            <a:srgbClr val="1A1A1A"/>
                          </a:solidFill>
                          <a:latin typeface="Georgia"/>
                        </a:rPr>
                        <a:t>Allowlist of tables</a:t>
                      </a:r>
                    </a:p>
                  </a:txBody>
                  <a:tcPr anchor="ctr">
                    <a:solidFill>
                      <a:srgbClr val="EDEAE3"/>
                    </a:solidFill>
                  </a:tcPr>
                </a:tc>
                <a:tc>
                  <a:txBody>
                    <a:bodyPr/>
                    <a:lstStyle/>
                    <a:p>
                      <a:pPr algn="l"/>
                      <a:r>
                        <a:rPr lang="en-US" sz="1300">
                          <a:solidFill>
                            <a:srgbClr val="1A1A1A"/>
                          </a:solidFill>
                          <a:latin typeface="Calibri"/>
                          <a:cs typeface="Calibri"/>
                        </a:rPr>
                        <a:t>Data engineering</a:t>
                      </a:r>
                    </a:p>
                  </a:txBody>
                  <a:tcPr anchor="ctr">
                    <a:solidFill>
                      <a:srgbClr val="EDEAE3"/>
                    </a:solidFill>
                  </a:tcPr>
                </a:tc>
                <a:tc>
                  <a:txBody>
                    <a:bodyPr/>
                    <a:lstStyle/>
                    <a:p>
                      <a:pPr algn="l"/>
                      <a:r>
                        <a:rPr lang="en-US" sz="1300">
                          <a:solidFill>
                            <a:srgbClr val="1A1A1A"/>
                          </a:solidFill>
                          <a:latin typeface="Calibri"/>
                          <a:cs typeface="Calibri"/>
                        </a:rPr>
                        <a:t>Updated per curated-view deploy; PR review</a:t>
                      </a:r>
                    </a:p>
                  </a:txBody>
                  <a:tcPr anchor="ctr">
                    <a:solidFill>
                      <a:srgbClr val="EDEAE3"/>
                    </a:solidFill>
                  </a:tcPr>
                </a:tc>
                <a:extLst>
                  <a:ext uri="{0D108BD9-81ED-4DB2-BD59-A6C34878D82A}">
                    <a16:rowId xmlns:a16="http://schemas.microsoft.com/office/drawing/2014/main" val="3101519755"/>
                  </a:ext>
                </a:extLst>
              </a:tr>
              <a:tr h="635000">
                <a:tc>
                  <a:txBody>
                    <a:bodyPr/>
                    <a:lstStyle/>
                    <a:p>
                      <a:pPr algn="l"/>
                      <a:r>
                        <a:rPr lang="en-US" sz="1300">
                          <a:solidFill>
                            <a:srgbClr val="1A1A1A"/>
                          </a:solidFill>
                          <a:latin typeface="Georgia"/>
                        </a:rPr>
                        <a:t>Forbidden function list</a:t>
                      </a:r>
                    </a:p>
                  </a:txBody>
                  <a:tcPr anchor="ctr">
                    <a:solidFill>
                      <a:srgbClr val="FAFAF7"/>
                    </a:solidFill>
                  </a:tcPr>
                </a:tc>
                <a:tc>
                  <a:txBody>
                    <a:bodyPr/>
                    <a:lstStyle/>
                    <a:p>
                      <a:pPr algn="l"/>
                      <a:r>
                        <a:rPr lang="en-US" sz="1300">
                          <a:solidFill>
                            <a:srgbClr val="1A1A1A"/>
                          </a:solidFill>
                          <a:latin typeface="Calibri"/>
                          <a:cs typeface="Calibri"/>
                        </a:rPr>
                        <a:t>Security</a:t>
                      </a:r>
                    </a:p>
                  </a:txBody>
                  <a:tcPr anchor="ctr">
                    <a:solidFill>
                      <a:srgbClr val="FAFAF7"/>
                    </a:solidFill>
                  </a:tcPr>
                </a:tc>
                <a:tc>
                  <a:txBody>
                    <a:bodyPr/>
                    <a:lstStyle/>
                    <a:p>
                      <a:pPr algn="l"/>
                      <a:r>
                        <a:rPr lang="en-US" sz="1300">
                          <a:solidFill>
                            <a:srgbClr val="1A1A1A"/>
                          </a:solidFill>
                          <a:latin typeface="Calibri"/>
                          <a:cs typeface="Calibri"/>
                        </a:rPr>
                        <a:t>Reviewed quarterly against Snowflake release notes</a:t>
                      </a:r>
                    </a:p>
                  </a:txBody>
                  <a:tcPr anchor="ctr">
                    <a:solidFill>
                      <a:srgbClr val="FAFAF7"/>
                    </a:solidFill>
                  </a:tcPr>
                </a:tc>
                <a:extLst>
                  <a:ext uri="{0D108BD9-81ED-4DB2-BD59-A6C34878D82A}">
                    <a16:rowId xmlns:a16="http://schemas.microsoft.com/office/drawing/2014/main" val="1430796702"/>
                  </a:ext>
                </a:extLst>
              </a:tr>
              <a:tr h="635000">
                <a:tc>
                  <a:txBody>
                    <a:bodyPr/>
                    <a:lstStyle/>
                    <a:p>
                      <a:pPr algn="l"/>
                      <a:r>
                        <a:rPr lang="en-US" sz="1300">
                          <a:solidFill>
                            <a:srgbClr val="1A1A1A"/>
                          </a:solidFill>
                          <a:latin typeface="Georgia"/>
                        </a:rPr>
                        <a:t>Test corpus</a:t>
                      </a:r>
                    </a:p>
                  </a:txBody>
                  <a:tcPr anchor="ctr">
                    <a:solidFill>
                      <a:srgbClr val="EDEAE3"/>
                    </a:solidFill>
                  </a:tcPr>
                </a:tc>
                <a:tc>
                  <a:txBody>
                    <a:bodyPr/>
                    <a:lstStyle/>
                    <a:p>
                      <a:pPr algn="l"/>
                      <a:r>
                        <a:rPr lang="en-US" sz="1300">
                          <a:solidFill>
                            <a:srgbClr val="1A1A1A"/>
                          </a:solidFill>
                          <a:latin typeface="Calibri"/>
                          <a:cs typeface="Calibri"/>
                        </a:rPr>
                        <a:t>Platform + security</a:t>
                      </a:r>
                    </a:p>
                  </a:txBody>
                  <a:tcPr anchor="ctr">
                    <a:solidFill>
                      <a:srgbClr val="EDEAE3"/>
                    </a:solidFill>
                  </a:tcPr>
                </a:tc>
                <a:tc>
                  <a:txBody>
                    <a:bodyPr/>
                    <a:lstStyle/>
                    <a:p>
                      <a:pPr algn="l"/>
                      <a:r>
                        <a:rPr lang="en-US" sz="1300">
                          <a:solidFill>
                            <a:srgbClr val="1A1A1A"/>
                          </a:solidFill>
                          <a:latin typeface="Calibri"/>
                          <a:cs typeface="Calibri"/>
                        </a:rPr>
                        <a:t>Extended on every confirmed attack pattern</a:t>
                      </a:r>
                    </a:p>
                  </a:txBody>
                  <a:tcPr anchor="ctr">
                    <a:solidFill>
                      <a:srgbClr val="EDEAE3"/>
                    </a:solidFill>
                  </a:tcPr>
                </a:tc>
                <a:extLst>
                  <a:ext uri="{0D108BD9-81ED-4DB2-BD59-A6C34878D82A}">
                    <a16:rowId xmlns:a16="http://schemas.microsoft.com/office/drawing/2014/main" val="2740479620"/>
                  </a:ext>
                </a:extLst>
              </a:tr>
            </a:tbl>
          </a:graphicData>
        </a:graphic>
      </p:graphicFrame>
      <p:sp>
        <p:nvSpPr>
          <p:cNvPr id="6" name="TextBox 5">
            <a:extLst>
              <a:ext uri="{FF2B5EF4-FFF2-40B4-BE49-F238E27FC236}">
                <a16:creationId xmlns:a16="http://schemas.microsoft.com/office/drawing/2014/main" id="{DC765D78-6234-284C-A749-B58E557B65A8}"/>
              </a:ext>
            </a:extLst>
          </p:cNvPr>
          <p:cNvSpPr txBox="1"/>
          <p:nvPr/>
        </p:nvSpPr>
        <p:spPr>
          <a:xfrm>
            <a:off x="762000" y="5397500"/>
            <a:ext cx="10668000" cy="762000"/>
          </a:xfrm>
          <a:prstGeom prst="rect">
            <a:avLst/>
          </a:prstGeom>
          <a:noFill/>
        </p:spPr>
        <p:txBody>
          <a:bodyPr vertOverflow="overflow" vert="horz" wrap="square" rtlCol="0" anchor="t">
            <a:noAutofit/>
          </a:bodyPr>
          <a:lstStyle/>
          <a:p>
            <a:pPr algn="l"/>
            <a:r>
              <a:rPr lang="en-US" sz="1400" i="1">
                <a:solidFill>
                  <a:srgbClr val="1A1A1A"/>
                </a:solidFill>
                <a:latin typeface="Georgia"/>
              </a:rPr>
              <a:t>Separation of ownership is part of the security property. The same person does not write the rule and update the allowlist that bypasses it.</a:t>
            </a:r>
          </a:p>
        </p:txBody>
      </p:sp>
      <p:sp>
        <p:nvSpPr>
          <p:cNvPr id="7" name="Rectangle 6">
            <a:extLst>
              <a:ext uri="{FF2B5EF4-FFF2-40B4-BE49-F238E27FC236}">
                <a16:creationId xmlns:a16="http://schemas.microsoft.com/office/drawing/2014/main" id="{97B726EA-4245-E749-BA37-0CDB642FE86B}"/>
              </a:ext>
            </a:extLst>
          </p:cNvPr>
          <p:cNvSpPr/>
          <p:nvPr/>
        </p:nvSpPr>
        <p:spPr>
          <a:xfrm>
            <a:off x="762000" y="63500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E1F56C0D-388C-BC46-93FC-92AE2F9A21B0}"/>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9" name="TextBox 8">
            <a:extLst>
              <a:ext uri="{FF2B5EF4-FFF2-40B4-BE49-F238E27FC236}">
                <a16:creationId xmlns:a16="http://schemas.microsoft.com/office/drawing/2014/main" id="{99CF05C1-5C43-2D4D-8D00-A4E850DDFEBE}"/>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20 / 22</a:t>
            </a:r>
          </a:p>
        </p:txBody>
      </p:sp>
      <p:sp>
        <p:nvSpPr>
          <p:cNvPr id="10" name="Rectangle 9">
            <a:extLst>
              <a:ext uri="{FF2B5EF4-FFF2-40B4-BE49-F238E27FC236}">
                <a16:creationId xmlns:a16="http://schemas.microsoft.com/office/drawing/2014/main" id="{405DFB94-DA0A-CD4C-AAEC-586DDF2EC11E}"/>
              </a:ext>
            </a:extLst>
          </p:cNvPr>
          <p:cNvSpPr/>
          <p:nvPr/>
        </p:nvSpPr>
        <p:spPr>
          <a:xfrm>
            <a:off x="762000" y="762000"/>
            <a:ext cx="1524000" cy="12700"/>
          </a:xfrm>
          <a:prstGeom prst="rect">
            <a:avLst/>
          </a:prstGeom>
          <a:solidFill>
            <a:srgbClr val="5A7A5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040368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6B48FA8-AB74-F940-865C-E2383E759DD7}"/>
              </a:ext>
            </a:extLst>
          </p:cNvPr>
          <p:cNvSpPr/>
          <p:nvPr/>
        </p:nvSpPr>
        <p:spPr>
          <a:xfrm>
            <a:off x="762000" y="762000"/>
            <a:ext cx="1524000" cy="127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D3BE245C-9013-E94B-9A06-4092C52032DF}"/>
              </a:ext>
            </a:extLst>
          </p:cNvPr>
          <p:cNvSpPr txBox="1"/>
          <p:nvPr/>
        </p:nvSpPr>
        <p:spPr>
          <a:xfrm>
            <a:off x="762000" y="914400"/>
            <a:ext cx="7620000" cy="2794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CLOSING</a:t>
            </a:r>
          </a:p>
        </p:txBody>
      </p:sp>
      <p:sp>
        <p:nvSpPr>
          <p:cNvPr id="6" name="TextBox 5">
            <a:extLst>
              <a:ext uri="{FF2B5EF4-FFF2-40B4-BE49-F238E27FC236}">
                <a16:creationId xmlns:a16="http://schemas.microsoft.com/office/drawing/2014/main" id="{62A56295-5118-9F42-BBFC-55B687178182}"/>
              </a:ext>
            </a:extLst>
          </p:cNvPr>
          <p:cNvSpPr txBox="1"/>
          <p:nvPr/>
        </p:nvSpPr>
        <p:spPr>
          <a:xfrm>
            <a:off x="4572000" y="1397000"/>
            <a:ext cx="6858000" cy="4572000"/>
          </a:xfrm>
          <a:prstGeom prst="rect">
            <a:avLst/>
          </a:prstGeom>
          <a:noFill/>
        </p:spPr>
        <p:txBody>
          <a:bodyPr vertOverflow="overflow" vert="horz" wrap="none" rtlCol="0" anchor="t" anchorCtr="0">
            <a:noAutofit/>
          </a:bodyPr>
          <a:lstStyle/>
          <a:p>
            <a:pPr algn="l"/>
            <a:r>
              <a:rPr lang="en-US" sz="36000">
                <a:solidFill>
                  <a:srgbClr val="EDEAE3"/>
                </a:solidFill>
                <a:latin typeface="Georgia"/>
              </a:rPr>
              <a:t>06</a:t>
            </a:r>
          </a:p>
        </p:txBody>
      </p:sp>
      <p:sp>
        <p:nvSpPr>
          <p:cNvPr id="7" name="Rectangle 6">
            <a:extLst>
              <a:ext uri="{FF2B5EF4-FFF2-40B4-BE49-F238E27FC236}">
                <a16:creationId xmlns:a16="http://schemas.microsoft.com/office/drawing/2014/main" id="{58DB8C03-8FA0-9447-B646-AADFDD282128}"/>
              </a:ext>
            </a:extLst>
          </p:cNvPr>
          <p:cNvSpPr/>
          <p:nvPr/>
        </p:nvSpPr>
        <p:spPr>
          <a:xfrm>
            <a:off x="762000" y="4064000"/>
            <a:ext cx="25400" cy="1016000"/>
          </a:xfrm>
          <a:prstGeom prst="rect">
            <a:avLst/>
          </a:prstGeom>
          <a:solidFill>
            <a:srgbClr val="8B2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D2083072-99AA-B34E-B9A9-5EEE929DC188}"/>
              </a:ext>
            </a:extLst>
          </p:cNvPr>
          <p:cNvSpPr txBox="1"/>
          <p:nvPr/>
        </p:nvSpPr>
        <p:spPr>
          <a:xfrm>
            <a:off x="1016000" y="4064000"/>
            <a:ext cx="5080000" cy="279400"/>
          </a:xfrm>
          <a:prstGeom prst="rect">
            <a:avLst/>
          </a:prstGeom>
          <a:noFill/>
        </p:spPr>
        <p:txBody>
          <a:bodyPr vertOverflow="overflow" vert="horz" wrap="square" rtlCol="0" anchor="t">
            <a:noAutofit/>
          </a:bodyPr>
          <a:lstStyle/>
          <a:p>
            <a:pPr algn="l"/>
            <a:r>
              <a:rPr lang="en-US" sz="1400" i="1">
                <a:solidFill>
                  <a:srgbClr val="6B6B6B"/>
                </a:solidFill>
                <a:latin typeface="Georgia"/>
              </a:rPr>
              <a:t>§ 06</a:t>
            </a:r>
          </a:p>
        </p:txBody>
      </p:sp>
      <p:sp>
        <p:nvSpPr>
          <p:cNvPr id="9" name="TextBox 8">
            <a:extLst>
              <a:ext uri="{FF2B5EF4-FFF2-40B4-BE49-F238E27FC236}">
                <a16:creationId xmlns:a16="http://schemas.microsoft.com/office/drawing/2014/main" id="{BDAD9C86-05F3-A54C-A9BC-47DB055EA47C}"/>
              </a:ext>
            </a:extLst>
          </p:cNvPr>
          <p:cNvSpPr txBox="1"/>
          <p:nvPr/>
        </p:nvSpPr>
        <p:spPr>
          <a:xfrm>
            <a:off x="1016000" y="4419600"/>
            <a:ext cx="6858000" cy="762000"/>
          </a:xfrm>
          <a:prstGeom prst="rect">
            <a:avLst/>
          </a:prstGeom>
          <a:noFill/>
        </p:spPr>
        <p:txBody>
          <a:bodyPr vertOverflow="overflow" vert="horz" wrap="square" rtlCol="0" anchor="t">
            <a:noAutofit/>
          </a:bodyPr>
          <a:lstStyle/>
          <a:p>
            <a:pPr algn="l"/>
            <a:r>
              <a:rPr lang="en-US" sz="3600" i="1">
                <a:solidFill>
                  <a:srgbClr val="1A1A1A"/>
                </a:solidFill>
                <a:latin typeface="Georgia"/>
              </a:rPr>
              <a:t>The mental model</a:t>
            </a:r>
          </a:p>
        </p:txBody>
      </p:sp>
    </p:spTree>
    <p:extLst>
      <p:ext uri="{BB962C8B-B14F-4D97-AF65-F5344CB8AC3E}">
        <p14:creationId xmlns:p14="http://schemas.microsoft.com/office/powerpoint/2010/main" val="18931622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937786-3251-BC4B-B6A2-17039A7F29AF}"/>
              </a:ext>
            </a:extLst>
          </p:cNvPr>
          <p:cNvSpPr txBox="1"/>
          <p:nvPr/>
        </p:nvSpPr>
        <p:spPr>
          <a:xfrm>
            <a:off x="762000" y="914400"/>
            <a:ext cx="7620000" cy="228600"/>
          </a:xfrm>
          <a:prstGeom prst="rect">
            <a:avLst/>
          </a:prstGeom>
          <a:noFill/>
        </p:spPr>
        <p:txBody>
          <a:bodyPr vertOverflow="overflow" vert="horz" wrap="square" rtlCol="0" anchor="t">
            <a:noAutofit/>
          </a:bodyPr>
          <a:lstStyle/>
          <a:p>
            <a:pPr algn="l"/>
            <a:r>
              <a:rPr lang="en-US" sz="1100" b="1">
                <a:solidFill>
                  <a:srgbClr val="1A1A1A"/>
                </a:solidFill>
                <a:latin typeface="Calibri"/>
                <a:cs typeface="Calibri"/>
              </a:rPr>
              <a:t>§ 07  ·  CLOSING</a:t>
            </a:r>
          </a:p>
        </p:txBody>
      </p:sp>
      <p:sp>
        <p:nvSpPr>
          <p:cNvPr id="3" name="TextBox 2">
            <a:extLst>
              <a:ext uri="{FF2B5EF4-FFF2-40B4-BE49-F238E27FC236}">
                <a16:creationId xmlns:a16="http://schemas.microsoft.com/office/drawing/2014/main" id="{EE045467-8738-414B-98CC-804A198E10F0}"/>
              </a:ext>
            </a:extLst>
          </p:cNvPr>
          <p:cNvSpPr txBox="1"/>
          <p:nvPr/>
        </p:nvSpPr>
        <p:spPr>
          <a:xfrm>
            <a:off x="762000" y="1651000"/>
            <a:ext cx="10668000" cy="635000"/>
          </a:xfrm>
          <a:prstGeom prst="rect">
            <a:avLst/>
          </a:prstGeom>
          <a:noFill/>
        </p:spPr>
        <p:txBody>
          <a:bodyPr vertOverflow="overflow" vert="horz" wrap="square" rtlCol="0" anchor="t">
            <a:noAutofit/>
          </a:bodyPr>
          <a:lstStyle/>
          <a:p>
            <a:pPr algn="l"/>
            <a:r>
              <a:rPr lang="en-US" sz="3200">
                <a:solidFill>
                  <a:srgbClr val="1A1A1A"/>
                </a:solidFill>
                <a:latin typeface="Georgia"/>
              </a:rPr>
              <a:t>Cheap layer, expensive failures avoided</a:t>
            </a:r>
          </a:p>
        </p:txBody>
      </p:sp>
      <p:sp>
        <p:nvSpPr>
          <p:cNvPr id="4" name="TextBox 3">
            <a:extLst>
              <a:ext uri="{FF2B5EF4-FFF2-40B4-BE49-F238E27FC236}">
                <a16:creationId xmlns:a16="http://schemas.microsoft.com/office/drawing/2014/main" id="{4AFC0E29-9F58-7241-9B3E-6D9713CE1CB2}"/>
              </a:ext>
            </a:extLst>
          </p:cNvPr>
          <p:cNvSpPr txBox="1"/>
          <p:nvPr/>
        </p:nvSpPr>
        <p:spPr>
          <a:xfrm>
            <a:off x="762000" y="2794000"/>
            <a:ext cx="7874000" cy="2540000"/>
          </a:xfrm>
          <a:prstGeom prst="rect">
            <a:avLst/>
          </a:prstGeom>
          <a:noFill/>
        </p:spPr>
        <p:txBody>
          <a:bodyPr vertOverflow="overflow" vert="horz" wrap="square" rtlCol="0" anchor="t">
            <a:noAutofit/>
          </a:bodyPr>
          <a:lstStyle/>
          <a:p>
            <a:pPr algn="l"/>
            <a:r>
              <a:rPr lang="en-US">
                <a:solidFill>
                  <a:srgbClr val="1A1A1A"/>
                </a:solidFill>
                <a:latin typeface="Georgia"/>
              </a:rPr>
              <a:t>The SQL Firewall is the cheapest control in the stack. It runs in milliseconds, has no database dependency, and rejects most attempted misuse before it reaches any layer with state. It does not replace row access policies, identity binding, or the thoughtful curation of views. It catches the queries that should not have been written at all.</a:t>
            </a:r>
          </a:p>
        </p:txBody>
      </p:sp>
      <p:sp>
        <p:nvSpPr>
          <p:cNvPr id="5" name="TextBox 4">
            <a:extLst>
              <a:ext uri="{FF2B5EF4-FFF2-40B4-BE49-F238E27FC236}">
                <a16:creationId xmlns:a16="http://schemas.microsoft.com/office/drawing/2014/main" id="{BB42A74F-9D61-6D4E-8079-7537A4BAD451}"/>
              </a:ext>
            </a:extLst>
          </p:cNvPr>
          <p:cNvSpPr txBox="1"/>
          <p:nvPr/>
        </p:nvSpPr>
        <p:spPr>
          <a:xfrm>
            <a:off x="762000" y="5461000"/>
            <a:ext cx="7874000" cy="355600"/>
          </a:xfrm>
          <a:prstGeom prst="rect">
            <a:avLst/>
          </a:prstGeom>
          <a:noFill/>
        </p:spPr>
        <p:txBody>
          <a:bodyPr vertOverflow="overflow" vert="horz" wrap="square" rtlCol="0" anchor="t">
            <a:noAutofit/>
          </a:bodyPr>
          <a:lstStyle/>
          <a:p>
            <a:pPr algn="l"/>
            <a:r>
              <a:rPr lang="en-US" sz="1600" i="1">
                <a:solidFill>
                  <a:srgbClr val="8B2E2E"/>
                </a:solidFill>
                <a:latin typeface="Georgia"/>
              </a:rPr>
              <a:t>First wall.  Not the only wall.</a:t>
            </a:r>
          </a:p>
        </p:txBody>
      </p:sp>
      <p:sp>
        <p:nvSpPr>
          <p:cNvPr id="6" name="Rectangle 5">
            <a:extLst>
              <a:ext uri="{FF2B5EF4-FFF2-40B4-BE49-F238E27FC236}">
                <a16:creationId xmlns:a16="http://schemas.microsoft.com/office/drawing/2014/main" id="{622963B4-8373-D241-9212-B32C5FE997D5}"/>
              </a:ext>
            </a:extLst>
          </p:cNvPr>
          <p:cNvSpPr/>
          <p:nvPr/>
        </p:nvSpPr>
        <p:spPr>
          <a:xfrm>
            <a:off x="762000" y="6350000"/>
            <a:ext cx="10668000" cy="6350"/>
          </a:xfrm>
          <a:prstGeom prst="rect">
            <a:avLst/>
          </a:prstGeom>
          <a:solidFill>
            <a:srgbClr val="D4D4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037564F3-FF7D-9541-90A1-F27D556B82DD}"/>
              </a:ext>
            </a:extLst>
          </p:cNvPr>
          <p:cNvSpPr txBox="1"/>
          <p:nvPr/>
        </p:nvSpPr>
        <p:spPr>
          <a:xfrm>
            <a:off x="762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SQL FIREWALL</a:t>
            </a:r>
          </a:p>
        </p:txBody>
      </p:sp>
      <p:sp>
        <p:nvSpPr>
          <p:cNvPr id="8" name="TextBox 7">
            <a:extLst>
              <a:ext uri="{FF2B5EF4-FFF2-40B4-BE49-F238E27FC236}">
                <a16:creationId xmlns:a16="http://schemas.microsoft.com/office/drawing/2014/main" id="{A22672DD-F4B6-044A-AF49-97041E81ABC9}"/>
              </a:ext>
            </a:extLst>
          </p:cNvPr>
          <p:cNvSpPr txBox="1"/>
          <p:nvPr/>
        </p:nvSpPr>
        <p:spPr>
          <a:xfrm>
            <a:off x="6350000" y="6477000"/>
            <a:ext cx="5080000" cy="228600"/>
          </a:xfrm>
          <a:prstGeom prst="rect">
            <a:avLst/>
          </a:prstGeom>
          <a:noFill/>
        </p:spPr>
        <p:txBody>
          <a:bodyPr vertOverflow="overflow" vert="horz" wrap="square" rtlCol="0" anchor="t">
            <a:noAutofit/>
          </a:bodyPr>
          <a:lstStyle/>
          <a:p>
            <a:pPr algn="l"/>
            <a:r>
              <a:rPr lang="en-US" sz="900">
                <a:solidFill>
                  <a:srgbClr val="6B6B6B"/>
                </a:solidFill>
                <a:latin typeface="Calibri"/>
                <a:cs typeface="Calibri"/>
              </a:rPr>
              <a:t>PAGE 22 / 22</a:t>
            </a:r>
          </a:p>
        </p:txBody>
      </p:sp>
      <p:sp>
        <p:nvSpPr>
          <p:cNvPr id="9" name="Rectangle 8">
            <a:extLst>
              <a:ext uri="{FF2B5EF4-FFF2-40B4-BE49-F238E27FC236}">
                <a16:creationId xmlns:a16="http://schemas.microsoft.com/office/drawing/2014/main" id="{E2293668-8DCE-AB4D-94AF-6B634FD82AD6}"/>
              </a:ext>
            </a:extLst>
          </p:cNvPr>
          <p:cNvSpPr/>
          <p:nvPr/>
        </p:nvSpPr>
        <p:spPr>
          <a:xfrm>
            <a:off x="762000" y="762000"/>
            <a:ext cx="1524000" cy="12700"/>
          </a:xfrm>
          <a:prstGeom prst="rect">
            <a:avLst/>
          </a:prstGeom>
          <a:solidFill>
            <a:srgbClr val="6B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517089965"/>
      </p:ext>
    </p:extLst>
  </p:cSld>
  <p:clrMapOvr>
    <a:masterClrMapping/>
  </p:clrMapOvr>
</p:sld>
</file>

<file path=ppt/theme/theme1.xml><?xml version="1.0" encoding="utf-8"?>
<a:theme xmlns:a="http://schemas.openxmlformats.org/drawingml/2006/main" name="Office Theme [1777841527454]">
  <a:themeElements>
    <a:clrScheme name="Office">
      <a:dk1>
        <a:srgbClr val="1A1A1A"/>
      </a:dk1>
      <a:lt1>
        <a:srgbClr val="FAFAF7"/>
      </a:lt1>
      <a:dk2>
        <a:srgbClr val="6B6B6B"/>
      </a:dk2>
      <a:lt2>
        <a:srgbClr val="EDEAE3"/>
      </a:lt2>
      <a:accent1>
        <a:srgbClr val="8B2E2E"/>
      </a:accent1>
      <a:accent2>
        <a:srgbClr val="6B6B6B"/>
      </a:accent2>
      <a:accent3>
        <a:srgbClr val="D4D4D0"/>
      </a:accent3>
      <a:accent4>
        <a:srgbClr val="EDEAE3"/>
      </a:accent4>
      <a:accent5>
        <a:srgbClr val="F5EBEB"/>
      </a:accent5>
      <a:accent6>
        <a:srgbClr val="1A1A1A"/>
      </a:accent6>
      <a:hlink>
        <a:srgbClr val="467886"/>
      </a:hlink>
      <a:folHlink>
        <a:srgbClr val="96607D"/>
      </a:folHlink>
    </a:clrScheme>
    <a:fontScheme name="Office">
      <a:majorFont>
        <a:latin typeface="Georgia"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66653FF-646A-4B49-9258-2318D3199184}">
  <we:reference id="wa200010001" version="1.0.0.1" store="en-US" storeType="OMEX"/>
  <we:alternateReferences>
    <we:reference id="WA200010001" version="1.0.0.1" store="" storeType="OMEX"/>
  </we:alternateReferences>
  <we:properties>
    <we:property name="claude.fileId" value="&quot;4410b57b-6458-4a6f-be98-6f83dcaf5a1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46</TotalTime>
  <Words>1783</Words>
  <Application>Microsoft Office PowerPoint</Application>
  <PresentationFormat>Widescreen</PresentationFormat>
  <Paragraphs>275</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 [1777841527454]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Subramanian S R</dc:creator>
  <cp:lastModifiedBy>Subramanian S R</cp:lastModifiedBy>
  <cp:revision>5</cp:revision>
  <dcterms:created xsi:type="dcterms:W3CDTF">2026-05-03T20:50:53Z</dcterms:created>
  <dcterms:modified xsi:type="dcterms:W3CDTF">2026-05-04T14:54:21Z</dcterms:modified>
</cp:coreProperties>
</file>