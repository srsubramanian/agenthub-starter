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/>
    <p:restoredTop sz="94638"/>
  </p:normalViewPr>
  <p:slideViewPr>
    <p:cSldViewPr snapToGrid="0">
      <p:cViewPr varScale="1">
        <p:scale>
          <a:sx n="99" d="100"/>
          <a:sy n="99" d="100"/>
        </p:scale>
        <p:origin x="192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C240-2360-479E-CA9F-C8899501C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E2072-0469-C7CB-CDD9-0FDCADBE8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F5B25-D29C-3F77-5E11-5B636CD76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97A69-18F0-DF64-D2A2-166B17C9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272AE-4093-CA88-5C28-37F6FE99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1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FF99-69BF-6878-2EBA-223CFB2CE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1A239-E712-B55B-AA8A-044E507BA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3A76E-BF1D-85E5-070F-A7591162E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830E1-30DC-2241-6C96-F6D43B64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63020-3F75-EAED-862A-5E3ACE3E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2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B60A-A395-5389-EE42-0AF99F3D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D0AC8-57AF-E675-89A9-A096E3DB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8F09A-B1BE-E56C-8F33-4B47F933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B9A73-83A8-9D93-0FF1-7A6F3E70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8CEE-786E-0F69-7A44-20D72CAB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1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7D71-F318-2A9E-37CF-5BB51767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4898C-5410-0488-E3F6-3B1A8ECED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FD3F6-818A-340F-829C-C6AFC00D8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31A71-1748-C40B-30F6-98A728CB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479BF-5107-CE4E-4EDC-95F10604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6E062-4C43-CA47-8931-3B3097E6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2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34E1F-9C25-DF8D-DF8E-BD723D996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86712-78F9-8B1A-4026-192601477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FB29C-306A-5381-5FAB-FE0708B07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7AD23-5AAC-141A-00B1-5CD0ABF35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23EBE-E6E5-EE5A-0AD9-0452717F0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E3F9E-A8C4-67BA-5145-5F37D7D7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7DC3AE-6725-6AB6-4AB1-DF22C8BD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52A3D3-CDC9-3DAE-EA23-B2CB796A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4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15AB1-9EA0-B986-6F3E-3DDF5107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FF0EA-3333-5C4A-AA49-6FAC3315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FE7D4-1B64-D419-D634-5CB9F2256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7EA4E-62F7-FE1D-10AE-BC330781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1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95FE9-E569-C0AA-8CC0-FE2834431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5F087-BB78-BE36-17BA-A2CF0E4CB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47B8D-84B5-2216-ADE1-63424D6F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5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C261-9A56-4EBA-D774-9397C552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6151A-4F58-572F-3416-EF2C0C5AF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97048-D335-CC0C-0D59-19A6FF86D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82CB3-83DC-D31E-4B01-E7E9EAD2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4A408-BD08-8EC6-2D58-AE752DD3E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74882-F7C1-8B03-3829-C1E7DA59F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9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A208-27AF-2F72-BA3A-9E9B005C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772D2-091D-4485-54DD-1A0EF7D54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416AA-2C11-8CA2-8F10-19338404E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67E45-8065-F8D6-A140-A67B30A9B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713CA-E0A5-1F0D-0A2B-0CCE696E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6B58B-FE96-380F-96CC-E46E6FF2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7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32E4-B8CE-0B97-72A4-ABA42C74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500EF-2C3C-83AA-46DB-661B41D32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87AC3-53A4-EEEE-6A57-F8A63AAC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2108C-F5D4-44B4-418B-CAA81D6D9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C6008-1614-33A8-6C0B-7C947D57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8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D9088-7721-4499-98B1-A6A33A03A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1FB92-B605-146B-EBC5-6C8F363DC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BEC-AFF3-0F63-2F0C-B2A0FD36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0910A-2C0C-2791-B3C7-A9E7CF3D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4F5B2-712A-CD0C-FE2D-5FB7EC1C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9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6B214-3549-F734-19BE-7E3D4878B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9F04D-58C6-DBA4-DD15-00738A8BD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CF5C7-EA6F-1DFA-DEFD-FFF3823B6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3FC0C-8826-3F44-9E5F-749A46E54B0B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7B754-170A-85B2-BC32-419B1F276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C6A57-8D1F-8E01-87B7-99DB77EC9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CB1EE-CBE0-F447-846F-EBBF4933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9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457200" y="177800"/>
            <a:ext cx="7366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lang="en-US" sz="2800" b="1" dirty="0">
                <a:solidFill>
                  <a:srgbClr val="1E2761"/>
                </a:solidFill>
                <a:latin typeface="Georgia"/>
              </a:rPr>
              <a:t>Team Coverage at a Glance</a:t>
            </a:r>
          </a:p>
        </p:txBody>
      </p:sp>
      <p:sp>
        <p:nvSpPr>
          <p:cNvPr id="101" name="Subtitle"/>
          <p:cNvSpPr/>
          <p:nvPr/>
        </p:nvSpPr>
        <p:spPr>
          <a:xfrm>
            <a:off x="457200" y="635000"/>
            <a:ext cx="7366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lang="en-US" sz="1400" dirty="0">
                <a:solidFill>
                  <a:srgbClr val="44518A"/>
                </a:solidFill>
              </a:rPr>
              <a:t>Who owns what across our application areas</a:t>
            </a:r>
          </a:p>
        </p:txBody>
      </p:sp>
      <p:sp>
        <p:nvSpPr>
          <p:cNvPr id="102" name="Stat 9"/>
          <p:cNvSpPr/>
          <p:nvPr/>
        </p:nvSpPr>
        <p:spPr>
          <a:xfrm>
            <a:off x="8026400" y="177800"/>
            <a:ext cx="11684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2000" b="1" dirty="0">
                <a:solidFill>
                  <a:srgbClr val="1E2761"/>
                </a:solidFill>
                <a:latin typeface="Georgia"/>
              </a:rPr>
              <a:t>11</a:t>
            </a:r>
          </a:p>
          <a:p>
            <a:pPr algn="ctr">
              <a:buNone/>
            </a:pPr>
            <a:r>
              <a:rPr lang="en-US" sz="1400" dirty="0">
                <a:solidFill>
                  <a:srgbClr val="44518A"/>
                </a:solidFill>
              </a:rPr>
              <a:t>Team members</a:t>
            </a:r>
          </a:p>
        </p:txBody>
      </p:sp>
      <p:sp>
        <p:nvSpPr>
          <p:cNvPr id="103" name="Stat 6"/>
          <p:cNvSpPr/>
          <p:nvPr/>
        </p:nvSpPr>
        <p:spPr>
          <a:xfrm>
            <a:off x="9296400" y="177800"/>
            <a:ext cx="11684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2000" b="1" dirty="0">
                <a:solidFill>
                  <a:srgbClr val="1E2761"/>
                </a:solidFill>
                <a:latin typeface="Georgia"/>
              </a:rPr>
              <a:t>7</a:t>
            </a:r>
          </a:p>
          <a:p>
            <a:pPr algn="ctr">
              <a:buNone/>
            </a:pPr>
            <a:r>
              <a:rPr lang="en-US" sz="1400" dirty="0">
                <a:solidFill>
                  <a:srgbClr val="44518A"/>
                </a:solidFill>
              </a:rPr>
              <a:t>Workstreams</a:t>
            </a:r>
          </a:p>
        </p:txBody>
      </p:sp>
      <p:sp>
        <p:nvSpPr>
          <p:cNvPr id="104" name="Stat 1"/>
          <p:cNvSpPr/>
          <p:nvPr/>
        </p:nvSpPr>
        <p:spPr>
          <a:xfrm>
            <a:off x="10566400" y="177800"/>
            <a:ext cx="11684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2000" b="1" dirty="0">
                <a:solidFill>
                  <a:srgbClr val="1E2761"/>
                </a:solidFill>
                <a:latin typeface="Georgia"/>
              </a:rPr>
              <a:t>1</a:t>
            </a:r>
          </a:p>
          <a:p>
            <a:pPr algn="ctr">
              <a:buNone/>
            </a:pPr>
            <a:r>
              <a:rPr lang="en-US" sz="1400" dirty="0">
                <a:solidFill>
                  <a:srgbClr val="44518A"/>
                </a:solidFill>
              </a:rPr>
              <a:t>Senior backup</a:t>
            </a:r>
          </a:p>
        </p:txBody>
      </p:sp>
      <p:sp>
        <p:nvSpPr>
          <p:cNvPr id="105" name="Top rule"/>
          <p:cNvSpPr/>
          <p:nvPr/>
        </p:nvSpPr>
        <p:spPr>
          <a:xfrm>
            <a:off x="457200" y="901700"/>
            <a:ext cx="11277600" cy="20320"/>
          </a:xfrm>
          <a:prstGeom prst="rect">
            <a:avLst/>
          </a:prstGeom>
          <a:solidFill>
            <a:srgbClr val="C997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Hdr Team member"/>
          <p:cNvSpPr/>
          <p:nvPr/>
        </p:nvSpPr>
        <p:spPr>
          <a:xfrm>
            <a:off x="635000" y="9906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Team member</a:t>
            </a:r>
          </a:p>
        </p:txBody>
      </p:sp>
      <p:sp>
        <p:nvSpPr>
          <p:cNvPr id="158" name="Lg filled"/>
          <p:cNvSpPr/>
          <p:nvPr/>
        </p:nvSpPr>
        <p:spPr>
          <a:xfrm>
            <a:off x="457200" y="6248400"/>
            <a:ext cx="152400" cy="152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9" name="Lg label Primary focus"/>
          <p:cNvSpPr/>
          <p:nvPr/>
        </p:nvSpPr>
        <p:spPr>
          <a:xfrm>
            <a:off x="685800" y="61976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sz="1400" dirty="0">
                <a:solidFill>
                  <a:srgbClr val="1E2761"/>
                </a:solidFill>
              </a:rPr>
              <a:t>Primary focus</a:t>
            </a:r>
          </a:p>
        </p:txBody>
      </p:sp>
      <p:sp>
        <p:nvSpPr>
          <p:cNvPr id="160" name="Lg open"/>
          <p:cNvSpPr/>
          <p:nvPr/>
        </p:nvSpPr>
        <p:spPr>
          <a:xfrm>
            <a:off x="2133600" y="6248400"/>
            <a:ext cx="152400" cy="1524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1" name="Lg label Cross-application support"/>
          <p:cNvSpPr/>
          <p:nvPr/>
        </p:nvSpPr>
        <p:spPr>
          <a:xfrm>
            <a:off x="2362200" y="6197600"/>
            <a:ext cx="22225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sz="1400" dirty="0">
                <a:solidFill>
                  <a:srgbClr val="1E2761"/>
                </a:solidFill>
              </a:rPr>
              <a:t>Cross-application support</a:t>
            </a:r>
          </a:p>
        </p:txBody>
      </p:sp>
      <p:sp>
        <p:nvSpPr>
          <p:cNvPr id="162" name="Lg star"/>
          <p:cNvSpPr/>
          <p:nvPr/>
        </p:nvSpPr>
        <p:spPr>
          <a:xfrm>
            <a:off x="4749800" y="6235700"/>
            <a:ext cx="177800" cy="177800"/>
          </a:xfrm>
          <a:prstGeom prst="star5">
            <a:avLst/>
          </a:prstGeom>
          <a:solidFill>
            <a:srgbClr val="C997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3" name="Lg label Senior backup"/>
          <p:cNvSpPr/>
          <p:nvPr/>
        </p:nvSpPr>
        <p:spPr>
          <a:xfrm>
            <a:off x="5003800" y="61976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>
              <a:buNone/>
            </a:pPr>
            <a:r>
              <a:rPr lang="en-US" sz="1400" dirty="0">
                <a:solidFill>
                  <a:srgbClr val="1E2761"/>
                </a:solidFill>
              </a:rPr>
              <a:t>Senior backup</a:t>
            </a:r>
          </a:p>
        </p:txBody>
      </p:sp>
      <p:sp>
        <p:nvSpPr>
          <p:cNvPr id="164" name="Footnote"/>
          <p:cNvSpPr/>
          <p:nvPr/>
        </p:nvSpPr>
        <p:spPr>
          <a:xfrm>
            <a:off x="457200" y="6502400"/>
            <a:ext cx="112776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buNone/>
            </a:pPr>
            <a:r>
              <a:rPr lang="en-US" sz="1400" i="1" dirty="0">
                <a:solidFill>
                  <a:srgbClr val="44518A"/>
                </a:solidFill>
              </a:rPr>
              <a:t>Primary assignments shown as filled dots; open dots reflect cross-application work — the team flexes across areas based on delivery needs.</a:t>
            </a:r>
          </a:p>
        </p:txBody>
      </p:sp>
      <p:sp>
        <p:nvSpPr>
          <p:cNvPr id="300" name="Card 1"/>
          <p:cNvSpPr/>
          <p:nvPr/>
        </p:nvSpPr>
        <p:spPr>
          <a:xfrm>
            <a:off x="457200" y="1422400"/>
            <a:ext cx="10541000" cy="5588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1 — Senior</a:t>
            </a:r>
          </a:p>
          <a:p>
            <a:pPr>
              <a:buNone/>
            </a:pPr>
            <a:r>
              <a:rPr lang="en-US" sz="1200" i="1" dirty="0">
                <a:solidFill>
                  <a:srgbClr val="44518A"/>
                </a:solidFill>
              </a:rPr>
              <a:t>Oversight &amp; backup across all areas</a:t>
            </a:r>
          </a:p>
        </p:txBody>
      </p:sp>
      <p:sp>
        <p:nvSpPr>
          <p:cNvPr id="301" name="Card 2"/>
          <p:cNvSpPr/>
          <p:nvPr/>
        </p:nvSpPr>
        <p:spPr>
          <a:xfrm>
            <a:off x="457200" y="20193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2</a:t>
            </a:r>
          </a:p>
        </p:txBody>
      </p:sp>
      <p:sp>
        <p:nvSpPr>
          <p:cNvPr id="302" name="Card 3"/>
          <p:cNvSpPr/>
          <p:nvPr/>
        </p:nvSpPr>
        <p:spPr>
          <a:xfrm>
            <a:off x="457200" y="24384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3</a:t>
            </a:r>
          </a:p>
        </p:txBody>
      </p:sp>
      <p:sp>
        <p:nvSpPr>
          <p:cNvPr id="303" name="Card 4"/>
          <p:cNvSpPr/>
          <p:nvPr/>
        </p:nvSpPr>
        <p:spPr>
          <a:xfrm>
            <a:off x="457200" y="28575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4</a:t>
            </a:r>
          </a:p>
        </p:txBody>
      </p:sp>
      <p:sp>
        <p:nvSpPr>
          <p:cNvPr id="304" name="Card 5"/>
          <p:cNvSpPr/>
          <p:nvPr/>
        </p:nvSpPr>
        <p:spPr>
          <a:xfrm>
            <a:off x="457200" y="32766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5</a:t>
            </a:r>
          </a:p>
        </p:txBody>
      </p:sp>
      <p:sp>
        <p:nvSpPr>
          <p:cNvPr id="305" name="Card 6"/>
          <p:cNvSpPr/>
          <p:nvPr/>
        </p:nvSpPr>
        <p:spPr>
          <a:xfrm>
            <a:off x="457200" y="36957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6</a:t>
            </a:r>
          </a:p>
        </p:txBody>
      </p:sp>
      <p:sp>
        <p:nvSpPr>
          <p:cNvPr id="306" name="Card 7"/>
          <p:cNvSpPr/>
          <p:nvPr/>
        </p:nvSpPr>
        <p:spPr>
          <a:xfrm>
            <a:off x="457200" y="41148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10</a:t>
            </a:r>
          </a:p>
        </p:txBody>
      </p:sp>
      <p:sp>
        <p:nvSpPr>
          <p:cNvPr id="307" name="Card 8"/>
          <p:cNvSpPr/>
          <p:nvPr/>
        </p:nvSpPr>
        <p:spPr>
          <a:xfrm>
            <a:off x="457200" y="45339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7</a:t>
            </a:r>
          </a:p>
        </p:txBody>
      </p:sp>
      <p:sp>
        <p:nvSpPr>
          <p:cNvPr id="308" name="Card 9"/>
          <p:cNvSpPr/>
          <p:nvPr/>
        </p:nvSpPr>
        <p:spPr>
          <a:xfrm>
            <a:off x="457200" y="49530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8</a:t>
            </a:r>
          </a:p>
        </p:txBody>
      </p:sp>
      <p:sp>
        <p:nvSpPr>
          <p:cNvPr id="309" name="Card 10"/>
          <p:cNvSpPr/>
          <p:nvPr/>
        </p:nvSpPr>
        <p:spPr>
          <a:xfrm>
            <a:off x="457200" y="53721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11</a:t>
            </a:r>
          </a:p>
        </p:txBody>
      </p:sp>
      <p:sp>
        <p:nvSpPr>
          <p:cNvPr id="310" name="Card 11"/>
          <p:cNvSpPr/>
          <p:nvPr/>
        </p:nvSpPr>
        <p:spPr>
          <a:xfrm>
            <a:off x="457200" y="5791200"/>
            <a:ext cx="10541000" cy="381000"/>
          </a:xfrm>
          <a:prstGeom prst="roundRect">
            <a:avLst>
              <a:gd name="adj" fmla="val 22000"/>
            </a:avLst>
          </a:prstGeom>
          <a:solidFill>
            <a:srgbClr val="EAF2FD"/>
          </a:solidFill>
          <a:ln w="9525">
            <a:solidFill>
              <a:srgbClr val="D5E3F8"/>
            </a:solidFill>
          </a:ln>
        </p:spPr>
        <p:txBody>
          <a:bodyPr lIns="177800" tIns="0" rIns="7874000" bIns="0" anchor="ctr"/>
          <a:lstStyle/>
          <a:p>
            <a:pPr>
              <a:buNone/>
            </a:pPr>
            <a:r>
              <a:rPr lang="en-US" sz="1400" b="1" dirty="0">
                <a:solidFill>
                  <a:srgbClr val="1E2761"/>
                </a:solidFill>
              </a:rPr>
              <a:t>Name 9</a:t>
            </a:r>
          </a:p>
        </p:txBody>
      </p:sp>
      <p:sp>
        <p:nvSpPr>
          <p:cNvPr id="311" name="Backup star"/>
          <p:cNvSpPr/>
          <p:nvPr/>
        </p:nvSpPr>
        <p:spPr>
          <a:xfrm>
            <a:off x="2133600" y="1485900"/>
            <a:ext cx="203200" cy="203200"/>
          </a:xfrm>
          <a:prstGeom prst="star5">
            <a:avLst/>
          </a:prstGeom>
          <a:solidFill>
            <a:srgbClr val="C997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4" name="Group bar 0"/>
          <p:cNvSpPr/>
          <p:nvPr/>
        </p:nvSpPr>
        <p:spPr>
          <a:xfrm>
            <a:off x="11074400" y="1422400"/>
            <a:ext cx="63500" cy="558800"/>
          </a:xfrm>
          <a:prstGeom prst="rect">
            <a:avLst/>
          </a:prstGeom>
          <a:solidFill>
            <a:srgbClr val="C9971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5" name="Group label 0"/>
          <p:cNvSpPr/>
          <p:nvPr/>
        </p:nvSpPr>
        <p:spPr>
          <a:xfrm>
            <a:off x="11163300" y="1422400"/>
            <a:ext cx="355600" cy="558800"/>
          </a:xfrm>
          <a:prstGeom prst="rect">
            <a:avLst/>
          </a:prstGeom>
          <a:noFill/>
          <a:ln>
            <a:noFill/>
          </a:ln>
        </p:spPr>
        <p:txBody>
          <a:bodyPr vert="vert270" wrap="non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Backup</a:t>
            </a:r>
          </a:p>
        </p:txBody>
      </p:sp>
      <p:sp>
        <p:nvSpPr>
          <p:cNvPr id="346" name="Group bar 1"/>
          <p:cNvSpPr/>
          <p:nvPr/>
        </p:nvSpPr>
        <p:spPr>
          <a:xfrm>
            <a:off x="11074400" y="2019300"/>
            <a:ext cx="63500" cy="2476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7" name="Group label 1"/>
          <p:cNvSpPr/>
          <p:nvPr/>
        </p:nvSpPr>
        <p:spPr>
          <a:xfrm>
            <a:off x="11163300" y="2019300"/>
            <a:ext cx="355600" cy="2476500"/>
          </a:xfrm>
          <a:prstGeom prst="rect">
            <a:avLst/>
          </a:prstGeom>
          <a:noFill/>
          <a:ln>
            <a:noFill/>
          </a:ln>
        </p:spPr>
        <p:txBody>
          <a:bodyPr vert="vert270" wrap="non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RM, WB &amp; Virtual Assistant</a:t>
            </a:r>
          </a:p>
        </p:txBody>
      </p:sp>
      <p:sp>
        <p:nvSpPr>
          <p:cNvPr id="736" name="Group bar 2"/>
          <p:cNvSpPr/>
          <p:nvPr/>
        </p:nvSpPr>
        <p:spPr>
          <a:xfrm>
            <a:off x="11074400" y="4533900"/>
            <a:ext cx="63500" cy="1638300"/>
          </a:xfrm>
          <a:prstGeom prst="rect">
            <a:avLst/>
          </a:prstGeom>
          <a:solidFill>
            <a:srgbClr val="5B7F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7" name="Group label 2"/>
          <p:cNvSpPr/>
          <p:nvPr/>
        </p:nvSpPr>
        <p:spPr>
          <a:xfrm>
            <a:off x="11163300" y="4533900"/>
            <a:ext cx="355600" cy="1638300"/>
          </a:xfrm>
          <a:prstGeom prst="rect">
            <a:avLst/>
          </a:prstGeom>
          <a:noFill/>
          <a:ln>
            <a:noFill/>
          </a:ln>
        </p:spPr>
        <p:txBody>
          <a:bodyPr vert="vert270" wrap="none" lIns="0" tIns="0" rIns="0" bIns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Insights, Trends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&amp; Transaction Research</a:t>
            </a:r>
          </a:p>
        </p:txBody>
      </p:sp>
      <p:sp>
        <p:nvSpPr>
          <p:cNvPr id="1500" name="Hdr RM, WB &amp; Report Center Virtual Assistant"/>
          <p:cNvSpPr/>
          <p:nvPr/>
        </p:nvSpPr>
        <p:spPr>
          <a:xfrm>
            <a:off x="3175000" y="939800"/>
            <a:ext cx="1727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RM, WB &amp; Report Center Virtual Assistant</a:t>
            </a:r>
          </a:p>
        </p:txBody>
      </p:sp>
      <p:sp>
        <p:nvSpPr>
          <p:cNvPr id="1501" name="Hdr Merchant Insights"/>
          <p:cNvSpPr/>
          <p:nvPr/>
        </p:nvSpPr>
        <p:spPr>
          <a:xfrm>
            <a:off x="4902200" y="939800"/>
            <a:ext cx="9906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Merchant Insights</a:t>
            </a:r>
          </a:p>
        </p:txBody>
      </p:sp>
      <p:sp>
        <p:nvSpPr>
          <p:cNvPr id="1502" name="Hdr Trends"/>
          <p:cNvSpPr/>
          <p:nvPr/>
        </p:nvSpPr>
        <p:spPr>
          <a:xfrm>
            <a:off x="5892800" y="939800"/>
            <a:ext cx="711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Trends</a:t>
            </a:r>
          </a:p>
        </p:txBody>
      </p:sp>
      <p:sp>
        <p:nvSpPr>
          <p:cNvPr id="1503" name="Hdr Transaction Research"/>
          <p:cNvSpPr/>
          <p:nvPr/>
        </p:nvSpPr>
        <p:spPr>
          <a:xfrm>
            <a:off x="6604000" y="939800"/>
            <a:ext cx="965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Transaction Research</a:t>
            </a:r>
          </a:p>
        </p:txBody>
      </p:sp>
      <p:sp>
        <p:nvSpPr>
          <p:cNvPr id="1504" name="Hdr Report Center Interactive Viewer"/>
          <p:cNvSpPr/>
          <p:nvPr/>
        </p:nvSpPr>
        <p:spPr>
          <a:xfrm>
            <a:off x="7569200" y="939800"/>
            <a:ext cx="14224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Report Center Interactive Viewer</a:t>
            </a:r>
          </a:p>
        </p:txBody>
      </p:sp>
      <p:sp>
        <p:nvSpPr>
          <p:cNvPr id="1505" name="Hdr Overview"/>
          <p:cNvSpPr/>
          <p:nvPr/>
        </p:nvSpPr>
        <p:spPr>
          <a:xfrm>
            <a:off x="8991600" y="93980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Overview</a:t>
            </a:r>
          </a:p>
        </p:txBody>
      </p:sp>
      <p:sp>
        <p:nvSpPr>
          <p:cNvPr id="1506" name="Hdr WalkMe &amp; Adobe Analytics"/>
          <p:cNvSpPr/>
          <p:nvPr/>
        </p:nvSpPr>
        <p:spPr>
          <a:xfrm>
            <a:off x="9753600" y="939800"/>
            <a:ext cx="12446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WalkMe &amp; Adobe Analytics</a:t>
            </a:r>
          </a:p>
        </p:txBody>
      </p:sp>
      <p:sp>
        <p:nvSpPr>
          <p:cNvPr id="1507" name="Dot o r0c0"/>
          <p:cNvSpPr/>
          <p:nvPr/>
        </p:nvSpPr>
        <p:spPr>
          <a:xfrm>
            <a:off x="3956050" y="1619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08" name="Dot o r0c1"/>
          <p:cNvSpPr/>
          <p:nvPr/>
        </p:nvSpPr>
        <p:spPr>
          <a:xfrm>
            <a:off x="5314950" y="1619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09" name="Dot o r0c2"/>
          <p:cNvSpPr/>
          <p:nvPr/>
        </p:nvSpPr>
        <p:spPr>
          <a:xfrm>
            <a:off x="6165850" y="1619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0" name="Dot o r0c3"/>
          <p:cNvSpPr/>
          <p:nvPr/>
        </p:nvSpPr>
        <p:spPr>
          <a:xfrm>
            <a:off x="7004050" y="1619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1" name="Dot o r0c4"/>
          <p:cNvSpPr/>
          <p:nvPr/>
        </p:nvSpPr>
        <p:spPr>
          <a:xfrm>
            <a:off x="8197850" y="1619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2" name="Dot o r0c5"/>
          <p:cNvSpPr/>
          <p:nvPr/>
        </p:nvSpPr>
        <p:spPr>
          <a:xfrm>
            <a:off x="9290050" y="1619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3" name="Dot o r0c6"/>
          <p:cNvSpPr/>
          <p:nvPr/>
        </p:nvSpPr>
        <p:spPr>
          <a:xfrm>
            <a:off x="10293350" y="1619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4" name="Dot f r1c0"/>
          <p:cNvSpPr/>
          <p:nvPr/>
        </p:nvSpPr>
        <p:spPr>
          <a:xfrm>
            <a:off x="3956050" y="21272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15" name="Dot o r1c1"/>
          <p:cNvSpPr/>
          <p:nvPr/>
        </p:nvSpPr>
        <p:spPr>
          <a:xfrm>
            <a:off x="5314950" y="2127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6" name="Dot o r1c2"/>
          <p:cNvSpPr/>
          <p:nvPr/>
        </p:nvSpPr>
        <p:spPr>
          <a:xfrm>
            <a:off x="6165850" y="2127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7" name="Dot o r1c3"/>
          <p:cNvSpPr/>
          <p:nvPr/>
        </p:nvSpPr>
        <p:spPr>
          <a:xfrm>
            <a:off x="7004050" y="2127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8" name="Dot o r1c4"/>
          <p:cNvSpPr/>
          <p:nvPr/>
        </p:nvSpPr>
        <p:spPr>
          <a:xfrm>
            <a:off x="8197850" y="2127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9" name="Dot o r1c5"/>
          <p:cNvSpPr/>
          <p:nvPr/>
        </p:nvSpPr>
        <p:spPr>
          <a:xfrm>
            <a:off x="9290050" y="2127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0" name="Dot o r1c6"/>
          <p:cNvSpPr/>
          <p:nvPr/>
        </p:nvSpPr>
        <p:spPr>
          <a:xfrm>
            <a:off x="10293350" y="21272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1" name="Dot f r2c0"/>
          <p:cNvSpPr/>
          <p:nvPr/>
        </p:nvSpPr>
        <p:spPr>
          <a:xfrm>
            <a:off x="3956050" y="25463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22" name="Dot o r2c1"/>
          <p:cNvSpPr/>
          <p:nvPr/>
        </p:nvSpPr>
        <p:spPr>
          <a:xfrm>
            <a:off x="5314950" y="25463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3" name="Dot o r2c2"/>
          <p:cNvSpPr/>
          <p:nvPr/>
        </p:nvSpPr>
        <p:spPr>
          <a:xfrm>
            <a:off x="6165850" y="25463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4" name="Dot o r2c3"/>
          <p:cNvSpPr/>
          <p:nvPr/>
        </p:nvSpPr>
        <p:spPr>
          <a:xfrm>
            <a:off x="7004050" y="25463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5" name="Dot o r2c4"/>
          <p:cNvSpPr/>
          <p:nvPr/>
        </p:nvSpPr>
        <p:spPr>
          <a:xfrm>
            <a:off x="8197850" y="25463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6" name="Dot o r2c5"/>
          <p:cNvSpPr/>
          <p:nvPr/>
        </p:nvSpPr>
        <p:spPr>
          <a:xfrm>
            <a:off x="9290050" y="25463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7" name="Dot o r2c6"/>
          <p:cNvSpPr/>
          <p:nvPr/>
        </p:nvSpPr>
        <p:spPr>
          <a:xfrm>
            <a:off x="10293350" y="25463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8" name="Dot f r3c0"/>
          <p:cNvSpPr/>
          <p:nvPr/>
        </p:nvSpPr>
        <p:spPr>
          <a:xfrm>
            <a:off x="3956050" y="29654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29" name="Dot o r3c1"/>
          <p:cNvSpPr/>
          <p:nvPr/>
        </p:nvSpPr>
        <p:spPr>
          <a:xfrm>
            <a:off x="5314950" y="29654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0" name="Dot o r3c2"/>
          <p:cNvSpPr/>
          <p:nvPr/>
        </p:nvSpPr>
        <p:spPr>
          <a:xfrm>
            <a:off x="6165850" y="29654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1" name="Dot o r3c3"/>
          <p:cNvSpPr/>
          <p:nvPr/>
        </p:nvSpPr>
        <p:spPr>
          <a:xfrm>
            <a:off x="7004050" y="29654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2" name="Dot o r3c4"/>
          <p:cNvSpPr/>
          <p:nvPr/>
        </p:nvSpPr>
        <p:spPr>
          <a:xfrm>
            <a:off x="8197850" y="29654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3" name="Dot o r3c5"/>
          <p:cNvSpPr/>
          <p:nvPr/>
        </p:nvSpPr>
        <p:spPr>
          <a:xfrm>
            <a:off x="9290050" y="29654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4" name="Dot o r3c6"/>
          <p:cNvSpPr/>
          <p:nvPr/>
        </p:nvSpPr>
        <p:spPr>
          <a:xfrm>
            <a:off x="10293350" y="29654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5" name="Dot f r4c0"/>
          <p:cNvSpPr/>
          <p:nvPr/>
        </p:nvSpPr>
        <p:spPr>
          <a:xfrm>
            <a:off x="3956050" y="33845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36" name="Dot o r4c1"/>
          <p:cNvSpPr/>
          <p:nvPr/>
        </p:nvSpPr>
        <p:spPr>
          <a:xfrm>
            <a:off x="5314950" y="33845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7" name="Dot o r4c2"/>
          <p:cNvSpPr/>
          <p:nvPr/>
        </p:nvSpPr>
        <p:spPr>
          <a:xfrm>
            <a:off x="6165850" y="33845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8" name="Dot o r4c3"/>
          <p:cNvSpPr/>
          <p:nvPr/>
        </p:nvSpPr>
        <p:spPr>
          <a:xfrm>
            <a:off x="7004050" y="33845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9" name="Dot o r4c4"/>
          <p:cNvSpPr/>
          <p:nvPr/>
        </p:nvSpPr>
        <p:spPr>
          <a:xfrm>
            <a:off x="8197850" y="33845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0" name="Dot o r4c5"/>
          <p:cNvSpPr/>
          <p:nvPr/>
        </p:nvSpPr>
        <p:spPr>
          <a:xfrm>
            <a:off x="9290050" y="33845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1" name="Dot o r4c6"/>
          <p:cNvSpPr/>
          <p:nvPr/>
        </p:nvSpPr>
        <p:spPr>
          <a:xfrm>
            <a:off x="10293350" y="33845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2" name="Dot f r5c0"/>
          <p:cNvSpPr/>
          <p:nvPr/>
        </p:nvSpPr>
        <p:spPr>
          <a:xfrm>
            <a:off x="3956050" y="38036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43" name="Dot o r5c1"/>
          <p:cNvSpPr/>
          <p:nvPr/>
        </p:nvSpPr>
        <p:spPr>
          <a:xfrm>
            <a:off x="5314950" y="38036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4" name="Dot o r5c2"/>
          <p:cNvSpPr/>
          <p:nvPr/>
        </p:nvSpPr>
        <p:spPr>
          <a:xfrm>
            <a:off x="6165850" y="38036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5" name="Dot o r5c3"/>
          <p:cNvSpPr/>
          <p:nvPr/>
        </p:nvSpPr>
        <p:spPr>
          <a:xfrm>
            <a:off x="7004050" y="38036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6" name="Dot o r5c4"/>
          <p:cNvSpPr/>
          <p:nvPr/>
        </p:nvSpPr>
        <p:spPr>
          <a:xfrm>
            <a:off x="8197850" y="38036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7" name="Dot o r5c5"/>
          <p:cNvSpPr/>
          <p:nvPr/>
        </p:nvSpPr>
        <p:spPr>
          <a:xfrm>
            <a:off x="9290050" y="38036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8" name="Dot f r5c6"/>
          <p:cNvSpPr/>
          <p:nvPr/>
        </p:nvSpPr>
        <p:spPr>
          <a:xfrm>
            <a:off x="10293350" y="3803650"/>
            <a:ext cx="165100" cy="165100"/>
          </a:xfrm>
          <a:prstGeom prst="ellipse">
            <a:avLst/>
          </a:prstGeom>
          <a:solidFill>
            <a:srgbClr val="1E2761"/>
          </a:solidFill>
        </p:spPr>
        <p:txBody>
          <a:bodyPr/>
          <a:lstStyle/>
          <a:p>
            <a:endParaRPr/>
          </a:p>
        </p:txBody>
      </p:sp>
      <p:sp>
        <p:nvSpPr>
          <p:cNvPr id="1549" name="Dot f r6c0"/>
          <p:cNvSpPr/>
          <p:nvPr/>
        </p:nvSpPr>
        <p:spPr>
          <a:xfrm>
            <a:off x="3956050" y="42227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50" name="Dot o r6c1"/>
          <p:cNvSpPr/>
          <p:nvPr/>
        </p:nvSpPr>
        <p:spPr>
          <a:xfrm>
            <a:off x="5314950" y="42227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1" name="Dot o r6c2"/>
          <p:cNvSpPr/>
          <p:nvPr/>
        </p:nvSpPr>
        <p:spPr>
          <a:xfrm>
            <a:off x="6165850" y="42227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2" name="Dot o r6c3"/>
          <p:cNvSpPr/>
          <p:nvPr/>
        </p:nvSpPr>
        <p:spPr>
          <a:xfrm>
            <a:off x="7004050" y="42227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3" name="Dot o r6c4"/>
          <p:cNvSpPr/>
          <p:nvPr/>
        </p:nvSpPr>
        <p:spPr>
          <a:xfrm>
            <a:off x="8197850" y="42227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4" name="Dot o r6c5"/>
          <p:cNvSpPr/>
          <p:nvPr/>
        </p:nvSpPr>
        <p:spPr>
          <a:xfrm>
            <a:off x="9290050" y="42227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5" name="Dot f r6c6"/>
          <p:cNvSpPr/>
          <p:nvPr/>
        </p:nvSpPr>
        <p:spPr>
          <a:xfrm>
            <a:off x="10293350" y="4222750"/>
            <a:ext cx="165100" cy="165100"/>
          </a:xfrm>
          <a:prstGeom prst="ellipse">
            <a:avLst/>
          </a:prstGeom>
          <a:solidFill>
            <a:srgbClr val="1E2761"/>
          </a:solidFill>
        </p:spPr>
        <p:txBody>
          <a:bodyPr/>
          <a:lstStyle/>
          <a:p>
            <a:endParaRPr/>
          </a:p>
        </p:txBody>
      </p:sp>
      <p:sp>
        <p:nvSpPr>
          <p:cNvPr id="1700" name="Dot o r7c0"/>
          <p:cNvSpPr/>
          <p:nvPr/>
        </p:nvSpPr>
        <p:spPr>
          <a:xfrm>
            <a:off x="3956050" y="46418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01" name="Dot f r7c1"/>
          <p:cNvSpPr/>
          <p:nvPr/>
        </p:nvSpPr>
        <p:spPr>
          <a:xfrm>
            <a:off x="5314950" y="46418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2" name="Dot f r7c2"/>
          <p:cNvSpPr/>
          <p:nvPr/>
        </p:nvSpPr>
        <p:spPr>
          <a:xfrm>
            <a:off x="6165850" y="46418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3" name="Dot f r7c3"/>
          <p:cNvSpPr/>
          <p:nvPr/>
        </p:nvSpPr>
        <p:spPr>
          <a:xfrm>
            <a:off x="7004050" y="46418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4" name="Dot f r7c4"/>
          <p:cNvSpPr/>
          <p:nvPr/>
        </p:nvSpPr>
        <p:spPr>
          <a:xfrm>
            <a:off x="8197850" y="46418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5" name="Dot f r7c5"/>
          <p:cNvSpPr/>
          <p:nvPr/>
        </p:nvSpPr>
        <p:spPr>
          <a:xfrm>
            <a:off x="9290050" y="46418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6" name="Dot f r7c6"/>
          <p:cNvSpPr/>
          <p:nvPr/>
        </p:nvSpPr>
        <p:spPr>
          <a:xfrm>
            <a:off x="10293350" y="4641850"/>
            <a:ext cx="165100" cy="165100"/>
          </a:xfrm>
          <a:prstGeom prst="ellipse">
            <a:avLst/>
          </a:prstGeom>
          <a:solidFill>
            <a:srgbClr val="1E2761"/>
          </a:solidFill>
        </p:spPr>
        <p:txBody>
          <a:bodyPr/>
          <a:lstStyle/>
          <a:p>
            <a:endParaRPr/>
          </a:p>
        </p:txBody>
      </p:sp>
      <p:sp>
        <p:nvSpPr>
          <p:cNvPr id="1707" name="Dot o r8c0"/>
          <p:cNvSpPr/>
          <p:nvPr/>
        </p:nvSpPr>
        <p:spPr>
          <a:xfrm>
            <a:off x="3956050" y="50609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08" name="Dot f r8c1"/>
          <p:cNvSpPr/>
          <p:nvPr/>
        </p:nvSpPr>
        <p:spPr>
          <a:xfrm>
            <a:off x="5314950" y="50609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9" name="Dot f r8c2"/>
          <p:cNvSpPr/>
          <p:nvPr/>
        </p:nvSpPr>
        <p:spPr>
          <a:xfrm>
            <a:off x="6165850" y="50609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0" name="Dot f r8c3"/>
          <p:cNvSpPr/>
          <p:nvPr/>
        </p:nvSpPr>
        <p:spPr>
          <a:xfrm>
            <a:off x="7004050" y="50609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1" name="Dot f r8c4"/>
          <p:cNvSpPr/>
          <p:nvPr/>
        </p:nvSpPr>
        <p:spPr>
          <a:xfrm>
            <a:off x="8197850" y="50609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2" name="Dot f r8c5"/>
          <p:cNvSpPr/>
          <p:nvPr/>
        </p:nvSpPr>
        <p:spPr>
          <a:xfrm>
            <a:off x="9290050" y="50609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3" name="Dot o r8c6"/>
          <p:cNvSpPr/>
          <p:nvPr/>
        </p:nvSpPr>
        <p:spPr>
          <a:xfrm>
            <a:off x="10293350" y="50609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14" name="Dot o r9c0"/>
          <p:cNvSpPr/>
          <p:nvPr/>
        </p:nvSpPr>
        <p:spPr>
          <a:xfrm>
            <a:off x="3956050" y="54800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15" name="Dot f r9c1"/>
          <p:cNvSpPr/>
          <p:nvPr/>
        </p:nvSpPr>
        <p:spPr>
          <a:xfrm>
            <a:off x="5314950" y="54800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6" name="Dot f r9c2"/>
          <p:cNvSpPr/>
          <p:nvPr/>
        </p:nvSpPr>
        <p:spPr>
          <a:xfrm>
            <a:off x="6165850" y="54800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7" name="Dot f r9c3"/>
          <p:cNvSpPr/>
          <p:nvPr/>
        </p:nvSpPr>
        <p:spPr>
          <a:xfrm>
            <a:off x="7004050" y="54800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8" name="Dot f r9c4"/>
          <p:cNvSpPr/>
          <p:nvPr/>
        </p:nvSpPr>
        <p:spPr>
          <a:xfrm>
            <a:off x="8197850" y="54800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9" name="Dot f r9c5"/>
          <p:cNvSpPr/>
          <p:nvPr/>
        </p:nvSpPr>
        <p:spPr>
          <a:xfrm>
            <a:off x="9290050" y="54800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20" name="Dot o r9c6"/>
          <p:cNvSpPr/>
          <p:nvPr/>
        </p:nvSpPr>
        <p:spPr>
          <a:xfrm>
            <a:off x="10293350" y="54800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21" name="Dot o r10c0"/>
          <p:cNvSpPr/>
          <p:nvPr/>
        </p:nvSpPr>
        <p:spPr>
          <a:xfrm>
            <a:off x="3956050" y="58991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22" name="Dot f r10c1"/>
          <p:cNvSpPr/>
          <p:nvPr/>
        </p:nvSpPr>
        <p:spPr>
          <a:xfrm>
            <a:off x="5314950" y="58991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23" name="Dot f r10c2"/>
          <p:cNvSpPr/>
          <p:nvPr/>
        </p:nvSpPr>
        <p:spPr>
          <a:xfrm>
            <a:off x="6165850" y="58991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24" name="Dot f r10c3"/>
          <p:cNvSpPr/>
          <p:nvPr/>
        </p:nvSpPr>
        <p:spPr>
          <a:xfrm>
            <a:off x="7004050" y="58991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25" name="Dot f r10c4"/>
          <p:cNvSpPr/>
          <p:nvPr/>
        </p:nvSpPr>
        <p:spPr>
          <a:xfrm>
            <a:off x="8197850" y="58991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26" name="Dot f r10c5"/>
          <p:cNvSpPr/>
          <p:nvPr/>
        </p:nvSpPr>
        <p:spPr>
          <a:xfrm>
            <a:off x="9290050" y="5899150"/>
            <a:ext cx="165100" cy="165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27" name="Dot o r10c6"/>
          <p:cNvSpPr/>
          <p:nvPr/>
        </p:nvSpPr>
        <p:spPr>
          <a:xfrm>
            <a:off x="10293350" y="5899150"/>
            <a:ext cx="165100" cy="165100"/>
          </a:xfrm>
          <a:prstGeom prst="ellipse">
            <a:avLst/>
          </a:prstGeom>
          <a:noFill/>
          <a:ln w="19050">
            <a:solidFill>
              <a:srgbClr val="1E2761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23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258565001]">
  <a:themeElements>
    <a:clrScheme name="Office">
      <a:dk1>
        <a:srgbClr val="1E2761"/>
      </a:dk1>
      <a:lt1>
        <a:srgbClr val="FFFFFF"/>
      </a:lt1>
      <a:dk2>
        <a:srgbClr val="15204D"/>
      </a:dk2>
      <a:lt2>
        <a:srgbClr val="EAF2FD"/>
      </a:lt2>
      <a:accent1>
        <a:srgbClr val="1E2761"/>
      </a:accent1>
      <a:accent2>
        <a:srgbClr val="5B7FBF"/>
      </a:accent2>
      <a:accent3>
        <a:srgbClr val="C9971C"/>
      </a:accent3>
      <a:accent4>
        <a:srgbClr val="8CA3D8"/>
      </a:accent4>
      <a:accent5>
        <a:srgbClr val="44518A"/>
      </a:accent5>
      <a:accent6>
        <a:srgbClr val="CADCFC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7A1E7DF-B790-5A44-97EF-E1B55F1BD0B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3e37428-6c15-4479-85cc-44d936b5899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116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 [1781258565001]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Subramanian S R</dc:creator>
  <cp:lastModifiedBy>Subramanian S R</cp:lastModifiedBy>
  <cp:revision>2</cp:revision>
  <dcterms:created xsi:type="dcterms:W3CDTF">2026-06-12T09:56:47Z</dcterms:created>
  <dcterms:modified xsi:type="dcterms:W3CDTF">2026-06-12T10:35:55Z</dcterms:modified>
</cp:coreProperties>
</file>